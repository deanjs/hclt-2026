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00 · OVERVIEW</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Why code models break naming conventions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 probing study on four code-generation models. Unified re-run, seed 42, 504 function names, 7,212 analysed conditions.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00 · Overview</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01</a:t>
            </a:r>
          </a:p>
        </p:txBody>
      </p:sp>
      <p:sp>
        <p:nvSpPr>
          <p:cNvPr id="8" name="Rounded Rectangle 7"/>
          <p:cNvSpPr/>
          <p:nvPr/>
        </p:nvSpPr>
        <p:spPr>
          <a:xfrm>
            <a:off x="635000" y="1752600"/>
            <a:ext cx="7112000" cy="2095500"/>
          </a:xfrm>
          <a:prstGeom prst="roundRect">
            <a:avLst>
              <a:gd name="adj" fmla="val 363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CLAIM, IN ONE SENTENCE</a:t>
            </a:r>
          </a:p>
        </p:txBody>
      </p:sp>
      <p:sp>
        <p:nvSpPr>
          <p:cNvPr id="10" name="TextBox 9"/>
          <p:cNvSpPr txBox="1"/>
          <p:nvPr/>
        </p:nvSpPr>
        <p:spPr>
          <a:xfrm>
            <a:off x="812800" y="2184400"/>
            <a:ext cx="6756400" cy="1270000"/>
          </a:xfrm>
          <a:prstGeom prst="rect">
            <a:avLst/>
          </a:prstGeom>
          <a:noFill/>
        </p:spPr>
        <p:txBody>
          <a:bodyPr wrap="square" lIns="0" rIns="0" tIns="0" bIns="0" anchor="t">
            <a:spAutoFit/>
          </a:bodyPr>
          <a:lstStyle/>
          <a:p>
            <a:pPr algn="l">
              <a:lnSpc>
                <a:spcPct val="130000"/>
              </a:lnSpc>
            </a:pPr>
            <a:r>
              <a:rPr sz="2800" b="0" spc="-120">
                <a:solidFill>
                  <a:srgbClr val="FFFFFF"/>
                </a:solidFill>
                <a:latin typeface="Inter"/>
                <a:cs typeface="Inter"/>
                <a:ea typeface="Inter"/>
              </a:rPr>
              <a:t>Models do look at the instruction.</a:t>
            </a:r>
          </a:p>
          <a:p>
            <a:pPr algn="l">
              <a:lnSpc>
                <a:spcPct val="130000"/>
              </a:lnSpc>
            </a:pPr>
            <a:r>
              <a:rPr sz="2800" b="0" spc="-120">
                <a:solidFill>
                  <a:srgbClr val="FFFFFF"/>
                </a:solidFill>
                <a:latin typeface="Inter"/>
                <a:cs typeface="Inter"/>
                <a:ea typeface="Inter"/>
              </a:rPr>
              <a:t>What arrives when they look is wrong.</a:t>
            </a:r>
          </a:p>
        </p:txBody>
      </p:sp>
      <p:sp>
        <p:nvSpPr>
          <p:cNvPr id="11" name="TextBox 10"/>
          <p:cNvSpPr txBox="1"/>
          <p:nvPr/>
        </p:nvSpPr>
        <p:spPr>
          <a:xfrm>
            <a:off x="812800" y="3327400"/>
            <a:ext cx="6756400" cy="381000"/>
          </a:xfrm>
          <a:prstGeom prst="rect">
            <a:avLst/>
          </a:prstGeom>
          <a:noFill/>
        </p:spPr>
        <p:txBody>
          <a:bodyPr wrap="square" lIns="0" rIns="0" tIns="0" bIns="0" anchor="t">
            <a:spAutoFit/>
          </a:bodyPr>
          <a:lstStyle/>
          <a:p>
            <a:pPr algn="l"/>
            <a:r>
              <a:rPr sz="1150" b="0">
                <a:solidFill>
                  <a:srgbClr val="B9B9B9"/>
                </a:solidFill>
                <a:latin typeface="Inter"/>
                <a:cs typeface="Inter"/>
                <a:ea typeface="Inter"/>
              </a:rPr>
              <a:t>So the handle is not attention. It is content — the Value road — at one late layer.</a:t>
            </a:r>
          </a:p>
        </p:txBody>
      </p:sp>
      <p:sp>
        <p:nvSpPr>
          <p:cNvPr id="12" name="Rounded Rectangle 11"/>
          <p:cNvSpPr/>
          <p:nvPr/>
        </p:nvSpPr>
        <p:spPr>
          <a:xfrm>
            <a:off x="7899400" y="1752600"/>
            <a:ext cx="3657600" cy="2095500"/>
          </a:xfrm>
          <a:prstGeom prst="roundRect">
            <a:avLst>
              <a:gd name="adj" fmla="val 363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77200" y="19304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SCALE OF THE STUDY</a:t>
            </a:r>
          </a:p>
        </p:txBody>
      </p:sp>
      <p:sp>
        <p:nvSpPr>
          <p:cNvPr id="14" name="TextBox 13"/>
          <p:cNvSpPr txBox="1"/>
          <p:nvPr/>
        </p:nvSpPr>
        <p:spPr>
          <a:xfrm>
            <a:off x="8077200" y="2120900"/>
            <a:ext cx="3302000" cy="496570"/>
          </a:xfrm>
          <a:prstGeom prst="rect">
            <a:avLst/>
          </a:prstGeom>
          <a:noFill/>
        </p:spPr>
        <p:txBody>
          <a:bodyPr wrap="square" lIns="0" rIns="0" tIns="0" bIns="0" anchor="t">
            <a:spAutoFit/>
          </a:bodyPr>
          <a:lstStyle/>
          <a:p>
            <a:pPr algn="l"/>
            <a:r>
              <a:rPr sz="3400" b="0" spc="-100">
                <a:solidFill>
                  <a:srgbClr val="FFFFFF"/>
                </a:solidFill>
                <a:latin typeface="Inter"/>
                <a:cs typeface="Inter"/>
                <a:ea typeface="Inter"/>
              </a:rPr>
              <a:t>4</a:t>
            </a:r>
          </a:p>
        </p:txBody>
      </p:sp>
      <p:sp>
        <p:nvSpPr>
          <p:cNvPr id="15" name="TextBox 14"/>
          <p:cNvSpPr txBox="1"/>
          <p:nvPr/>
        </p:nvSpPr>
        <p:spPr>
          <a:xfrm>
            <a:off x="8077200" y="2642870"/>
            <a:ext cx="33020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MODELS</a:t>
            </a:r>
          </a:p>
        </p:txBody>
      </p:sp>
      <p:sp>
        <p:nvSpPr>
          <p:cNvPr id="16" name="TextBox 15"/>
          <p:cNvSpPr txBox="1"/>
          <p:nvPr/>
        </p:nvSpPr>
        <p:spPr>
          <a:xfrm>
            <a:off x="8077200" y="2679700"/>
            <a:ext cx="3302000" cy="496570"/>
          </a:xfrm>
          <a:prstGeom prst="rect">
            <a:avLst/>
          </a:prstGeom>
          <a:noFill/>
        </p:spPr>
        <p:txBody>
          <a:bodyPr wrap="square" lIns="0" rIns="0" tIns="0" bIns="0" anchor="t">
            <a:spAutoFit/>
          </a:bodyPr>
          <a:lstStyle/>
          <a:p>
            <a:pPr algn="l"/>
            <a:r>
              <a:rPr sz="3400" b="0" spc="-100">
                <a:solidFill>
                  <a:srgbClr val="FFFFFF"/>
                </a:solidFill>
                <a:latin typeface="Inter"/>
                <a:cs typeface="Inter"/>
                <a:ea typeface="Inter"/>
              </a:rPr>
              <a:t>504</a:t>
            </a:r>
          </a:p>
        </p:txBody>
      </p:sp>
      <p:sp>
        <p:nvSpPr>
          <p:cNvPr id="17" name="TextBox 16"/>
          <p:cNvSpPr txBox="1"/>
          <p:nvPr/>
        </p:nvSpPr>
        <p:spPr>
          <a:xfrm>
            <a:off x="8077200" y="3201670"/>
            <a:ext cx="33020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FUNCTION NAMES</a:t>
            </a:r>
          </a:p>
        </p:txBody>
      </p:sp>
      <p:sp>
        <p:nvSpPr>
          <p:cNvPr id="18" name="TextBox 17"/>
          <p:cNvSpPr txBox="1"/>
          <p:nvPr/>
        </p:nvSpPr>
        <p:spPr>
          <a:xfrm>
            <a:off x="8077200" y="3238500"/>
            <a:ext cx="3302000" cy="496570"/>
          </a:xfrm>
          <a:prstGeom prst="rect">
            <a:avLst/>
          </a:prstGeom>
          <a:noFill/>
        </p:spPr>
        <p:txBody>
          <a:bodyPr wrap="square" lIns="0" rIns="0" tIns="0" bIns="0" anchor="t">
            <a:spAutoFit/>
          </a:bodyPr>
          <a:lstStyle/>
          <a:p>
            <a:pPr algn="l"/>
            <a:r>
              <a:rPr sz="3400" b="0" spc="-100">
                <a:solidFill>
                  <a:srgbClr val="FFFFFF"/>
                </a:solidFill>
                <a:latin typeface="Inter"/>
                <a:cs typeface="Inter"/>
                <a:ea typeface="Inter"/>
              </a:rPr>
              <a:t>7,212</a:t>
            </a:r>
          </a:p>
        </p:txBody>
      </p:sp>
      <p:sp>
        <p:nvSpPr>
          <p:cNvPr id="19" name="TextBox 18"/>
          <p:cNvSpPr txBox="1"/>
          <p:nvPr/>
        </p:nvSpPr>
        <p:spPr>
          <a:xfrm>
            <a:off x="8077200" y="3760470"/>
            <a:ext cx="33020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ANALYSED CONDITIONS</a:t>
            </a:r>
          </a:p>
        </p:txBody>
      </p:sp>
      <p:sp>
        <p:nvSpPr>
          <p:cNvPr id="20" name="Rounded Rectangle 19"/>
          <p:cNvSpPr/>
          <p:nvPr/>
        </p:nvSpPr>
        <p:spPr>
          <a:xfrm>
            <a:off x="635000" y="4000500"/>
            <a:ext cx="10922000" cy="2254250"/>
          </a:xfrm>
          <a:prstGeom prst="roundRect">
            <a:avLst>
              <a:gd name="adj" fmla="val 338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12800" y="4178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THREE CONTRIBUTIONS</a:t>
            </a:r>
          </a:p>
        </p:txBody>
      </p:sp>
      <p:sp>
        <p:nvSpPr>
          <p:cNvPr id="22" name="TextBox 21"/>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Each is a measurement, not an argument — every number in this deck comes from a stored result file.</a:t>
            </a:r>
          </a:p>
        </p:txBody>
      </p:sp>
      <p:sp>
        <p:nvSpPr>
          <p:cNvPr id="23" name="TextBox 22"/>
          <p:cNvSpPr txBox="1"/>
          <p:nvPr/>
        </p:nvSpPr>
        <p:spPr>
          <a:xfrm>
            <a:off x="812800" y="4368800"/>
            <a:ext cx="3420533"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Separating the two roads</a:t>
            </a:r>
          </a:p>
        </p:txBody>
      </p:sp>
      <p:sp>
        <p:nvSpPr>
          <p:cNvPr id="24" name="TextBox 23"/>
          <p:cNvSpPr txBox="1"/>
          <p:nvPr/>
        </p:nvSpPr>
        <p:spPr>
          <a:xfrm>
            <a:off x="812800" y="4572000"/>
            <a:ext cx="3420533"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Attention share and attended content are intervened on independently, so “does not look” and “reads wrong” become distinguishable claims.</a:t>
            </a:r>
          </a:p>
        </p:txBody>
      </p:sp>
      <p:sp>
        <p:nvSpPr>
          <p:cNvPr id="25" name="TextBox 24"/>
          <p:cNvSpPr txBox="1"/>
          <p:nvPr/>
        </p:nvSpPr>
        <p:spPr>
          <a:xfrm>
            <a:off x="4385733" y="4368800"/>
            <a:ext cx="3420533"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Pricing the disturbance</a:t>
            </a:r>
          </a:p>
        </p:txBody>
      </p:sp>
      <p:sp>
        <p:nvSpPr>
          <p:cNvPr id="26" name="TextBox 25"/>
          <p:cNvSpPr txBox="1"/>
          <p:nvPr/>
        </p:nvSpPr>
        <p:spPr>
          <a:xfrm>
            <a:off x="4385733" y="4572000"/>
            <a:ext cx="3420533"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Overwriting anything at all moves the score. We measure that bubble and report treatment minus control, never the raw number.</a:t>
            </a:r>
          </a:p>
        </p:txBody>
      </p:sp>
      <p:sp>
        <p:nvSpPr>
          <p:cNvPr id="27" name="TextBox 26"/>
          <p:cNvSpPr txBox="1"/>
          <p:nvPr/>
        </p:nvSpPr>
        <p:spPr>
          <a:xfrm>
            <a:off x="7958667" y="4368800"/>
            <a:ext cx="3420533"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Testing the prescription</a:t>
            </a:r>
          </a:p>
        </p:txBody>
      </p:sp>
      <p:sp>
        <p:nvSpPr>
          <p:cNvPr id="28" name="TextBox 27"/>
          <p:cNvSpPr txBox="1"/>
          <p:nvPr/>
        </p:nvSpPr>
        <p:spPr>
          <a:xfrm>
            <a:off x="7958667" y="4572000"/>
            <a:ext cx="3420533"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remedy implied by the diagnosis is measured on the same instrument as the rival remedy, on the same conditions.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00 · OVERVIEW</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How this deck is arranged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Six sections. The experiments are told in the order of the argument, not the order they were run.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00 · Overview</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02</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SECTION MAP</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Step 5 (instruction causality) is held back — its full-layer control sweep has not been run yet.</a:t>
            </a:r>
          </a:p>
        </p:txBody>
      </p:sp>
      <p:pic>
        <p:nvPicPr>
          <p:cNvPr id="11" name="Picture 10" descr="p_map.png"/>
          <p:cNvPicPr>
            <a:picLocks noChangeAspect="1"/>
          </p:cNvPicPr>
          <p:nvPr/>
        </p:nvPicPr>
        <p:blipFill>
          <a:blip r:embed="rId2"/>
          <a:stretch>
            <a:fillRect/>
          </a:stretch>
        </p:blipFill>
        <p:spPr>
          <a:xfrm>
            <a:off x="812800" y="2120900"/>
            <a:ext cx="9573285" cy="1709515"/>
          </a:xfrm>
          <a:prstGeom prst="rect">
            <a:avLst/>
          </a:prstGeom>
        </p:spPr>
      </p:pic>
      <p:sp>
        <p:nvSpPr>
          <p:cNvPr id="12" name="Rounded Rectangle 11"/>
          <p:cNvSpPr/>
          <p:nvPr/>
        </p:nvSpPr>
        <p:spPr>
          <a:xfrm>
            <a:off x="635000" y="4445000"/>
            <a:ext cx="5334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4978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TO READ A STEP</a:t>
            </a:r>
          </a:p>
        </p:txBody>
      </p:sp>
      <p:sp>
        <p:nvSpPr>
          <p:cNvPr id="14" name="TextBox 13"/>
          <p:cNvSpPr txBox="1"/>
          <p:nvPr/>
        </p:nvSpPr>
        <p:spPr>
          <a:xfrm>
            <a:off x="812800" y="4813300"/>
            <a:ext cx="622995"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Plan</a:t>
            </a:r>
          </a:p>
        </p:txBody>
      </p:sp>
      <p:sp>
        <p:nvSpPr>
          <p:cNvPr id="15" name="TextBox 14"/>
          <p:cNvSpPr txBox="1"/>
          <p:nvPr/>
        </p:nvSpPr>
        <p:spPr>
          <a:xfrm>
            <a:off x="1435795" y="4813300"/>
            <a:ext cx="4355405"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question, the conditions, what each outcome would mean</a:t>
            </a:r>
          </a:p>
        </p:txBody>
      </p:sp>
      <p:sp>
        <p:nvSpPr>
          <p:cNvPr id="16" name="TextBox 15"/>
          <p:cNvSpPr txBox="1"/>
          <p:nvPr/>
        </p:nvSpPr>
        <p:spPr>
          <a:xfrm>
            <a:off x="812800" y="5041900"/>
            <a:ext cx="622995"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Code</a:t>
            </a:r>
          </a:p>
        </p:txBody>
      </p:sp>
      <p:sp>
        <p:nvSpPr>
          <p:cNvPr id="17" name="TextBox 16"/>
          <p:cNvSpPr txBox="1"/>
          <p:nvPr/>
        </p:nvSpPr>
        <p:spPr>
          <a:xfrm>
            <a:off x="1435795" y="5041900"/>
            <a:ext cx="4355405"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pipeline, the lines that matter, the stored fields</a:t>
            </a:r>
          </a:p>
        </p:txBody>
      </p:sp>
      <p:sp>
        <p:nvSpPr>
          <p:cNvPr id="18" name="TextBox 17"/>
          <p:cNvSpPr txBox="1"/>
          <p:nvPr/>
        </p:nvSpPr>
        <p:spPr>
          <a:xfrm>
            <a:off x="812800" y="5270500"/>
            <a:ext cx="622995"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Results</a:t>
            </a:r>
          </a:p>
        </p:txBody>
      </p:sp>
      <p:sp>
        <p:nvSpPr>
          <p:cNvPr id="19" name="TextBox 18"/>
          <p:cNvSpPr txBox="1"/>
          <p:nvPr/>
        </p:nvSpPr>
        <p:spPr>
          <a:xfrm>
            <a:off x="1435795" y="5270500"/>
            <a:ext cx="4355405"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figures, the numbers, and what the step does not settle</a:t>
            </a:r>
          </a:p>
        </p:txBody>
      </p:sp>
      <p:sp>
        <p:nvSpPr>
          <p:cNvPr id="20" name="Rounded Rectangle 19"/>
          <p:cNvSpPr/>
          <p:nvPr/>
        </p:nvSpPr>
        <p:spPr>
          <a:xfrm>
            <a:off x="6121400" y="4445000"/>
            <a:ext cx="54356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99200" y="4622800"/>
            <a:ext cx="5080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CONVENTIONS USED THROUGHOUT</a:t>
            </a:r>
          </a:p>
        </p:txBody>
      </p:sp>
      <p:sp>
        <p:nvSpPr>
          <p:cNvPr id="22" name="TextBox 21"/>
          <p:cNvSpPr txBox="1"/>
          <p:nvPr/>
        </p:nvSpPr>
        <p:spPr>
          <a:xfrm>
            <a:off x="6299200" y="4813300"/>
            <a:ext cx="764183"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Clay</a:t>
            </a:r>
          </a:p>
        </p:txBody>
      </p:sp>
      <p:sp>
        <p:nvSpPr>
          <p:cNvPr id="23" name="TextBox 22"/>
          <p:cNvSpPr txBox="1"/>
          <p:nvPr/>
        </p:nvSpPr>
        <p:spPr>
          <a:xfrm>
            <a:off x="7063383" y="4813300"/>
            <a:ext cx="4315817"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marks the one series being argued about</a:t>
            </a:r>
          </a:p>
        </p:txBody>
      </p:sp>
      <p:sp>
        <p:nvSpPr>
          <p:cNvPr id="24" name="TextBox 23"/>
          <p:cNvSpPr txBox="1"/>
          <p:nvPr/>
        </p:nvSpPr>
        <p:spPr>
          <a:xfrm>
            <a:off x="6299200" y="5041900"/>
            <a:ext cx="764183"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Per token</a:t>
            </a:r>
          </a:p>
        </p:txBody>
      </p:sp>
      <p:sp>
        <p:nvSpPr>
          <p:cNvPr id="25" name="TextBox 24"/>
          <p:cNvSpPr txBox="1"/>
          <p:nvPr/>
        </p:nvSpPr>
        <p:spPr>
          <a:xfrm>
            <a:off x="7063383" y="5041900"/>
            <a:ext cx="4315817"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attention is always divided by the span's token count</a:t>
            </a:r>
          </a:p>
        </p:txBody>
      </p:sp>
      <p:sp>
        <p:nvSpPr>
          <p:cNvPr id="26" name="TextBox 25"/>
          <p:cNvSpPr txBox="1"/>
          <p:nvPr/>
        </p:nvSpPr>
        <p:spPr>
          <a:xfrm>
            <a:off x="6299200" y="5270500"/>
            <a:ext cx="764183"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Net</a:t>
            </a:r>
          </a:p>
        </p:txBody>
      </p:sp>
      <p:sp>
        <p:nvSpPr>
          <p:cNvPr id="27" name="TextBox 26"/>
          <p:cNvSpPr txBox="1"/>
          <p:nvPr/>
        </p:nvSpPr>
        <p:spPr>
          <a:xfrm>
            <a:off x="7063383" y="5270500"/>
            <a:ext cx="4315817"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reported effects are treatment minus control, paired by block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00 · OVERVIEW</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through-line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Five findings, each one a prediction that the next experiment tested.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00 · Overview</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03</a:t>
            </a:r>
          </a:p>
        </p:txBody>
      </p:sp>
      <p:sp>
        <p:nvSpPr>
          <p:cNvPr id="8" name="Rounded Rectangle 7"/>
          <p:cNvSpPr/>
          <p:nvPr/>
        </p:nvSpPr>
        <p:spPr>
          <a:xfrm>
            <a:off x="635000" y="1752600"/>
            <a:ext cx="109220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FROM SYMPTOM TO HANDLE</a:t>
            </a:r>
          </a:p>
        </p:txBody>
      </p:sp>
      <p:sp>
        <p:nvSpPr>
          <p:cNvPr id="10" name="TextBox 9"/>
          <p:cNvSpPr txBox="1"/>
          <p:nvPr/>
        </p:nvSpPr>
        <p:spPr>
          <a:xfrm>
            <a:off x="812800" y="3779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No arrow was drawn after the fact — each step was specified before the previous one's results were read.</a:t>
            </a:r>
          </a:p>
        </p:txBody>
      </p:sp>
      <p:pic>
        <p:nvPicPr>
          <p:cNvPr id="11" name="Picture 10" descr="z_line.png"/>
          <p:cNvPicPr>
            <a:picLocks noChangeAspect="1"/>
          </p:cNvPicPr>
          <p:nvPr/>
        </p:nvPicPr>
        <p:blipFill>
          <a:blip r:embed="rId2"/>
          <a:stretch>
            <a:fillRect/>
          </a:stretch>
        </p:blipFill>
        <p:spPr>
          <a:xfrm>
            <a:off x="812800" y="2120900"/>
            <a:ext cx="8316522" cy="1582515"/>
          </a:xfrm>
          <a:prstGeom prst="rect">
            <a:avLst/>
          </a:prstGeom>
        </p:spPr>
      </p:pic>
      <p:sp>
        <p:nvSpPr>
          <p:cNvPr id="12" name="Rounded Rectangle 11"/>
          <p:cNvSpPr/>
          <p:nvPr/>
        </p:nvSpPr>
        <p:spPr>
          <a:xfrm>
            <a:off x="635000" y="4318000"/>
            <a:ext cx="3539067"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4958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FAILS</a:t>
            </a:r>
          </a:p>
        </p:txBody>
      </p:sp>
      <p:sp>
        <p:nvSpPr>
          <p:cNvPr id="14" name="TextBox 13"/>
          <p:cNvSpPr txBox="1"/>
          <p:nvPr/>
        </p:nvSpPr>
        <p:spPr>
          <a:xfrm>
            <a:off x="812800" y="4686300"/>
            <a:ext cx="3183467"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Compliance collapses with context</a:t>
            </a:r>
          </a:p>
        </p:txBody>
      </p:sp>
      <p:sp>
        <p:nvSpPr>
          <p:cNvPr id="15" name="TextBox 14"/>
          <p:cNvSpPr txBox="1"/>
          <p:nvPr/>
        </p:nvSpPr>
        <p:spPr>
          <a:xfrm>
            <a:off x="812800" y="4902200"/>
            <a:ext cx="3183467"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 dozen violating names in the preceding file is enough to drive compliance to the floor, in both notation directions.</a:t>
            </a:r>
          </a:p>
        </p:txBody>
      </p:sp>
      <p:sp>
        <p:nvSpPr>
          <p:cNvPr id="16" name="Rounded Rectangle 15"/>
          <p:cNvSpPr/>
          <p:nvPr/>
        </p:nvSpPr>
        <p:spPr>
          <a:xfrm>
            <a:off x="4326467" y="4318000"/>
            <a:ext cx="3539067"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04267" y="44958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WHERE IT LIVES</a:t>
            </a:r>
          </a:p>
        </p:txBody>
      </p:sp>
      <p:sp>
        <p:nvSpPr>
          <p:cNvPr id="18" name="TextBox 17"/>
          <p:cNvSpPr txBox="1"/>
          <p:nvPr/>
        </p:nvSpPr>
        <p:spPr>
          <a:xfrm>
            <a:off x="4504267" y="4686300"/>
            <a:ext cx="3183467"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The road is Value, not Key</a:t>
            </a:r>
          </a:p>
        </p:txBody>
      </p:sp>
      <p:sp>
        <p:nvSpPr>
          <p:cNvPr id="19" name="TextBox 18"/>
          <p:cNvSpPr txBox="1"/>
          <p:nvPr/>
        </p:nvSpPr>
        <p:spPr>
          <a:xfrm>
            <a:off x="4504267" y="4902200"/>
            <a:ext cx="3183467"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Overwriting attended content moves behaviour; overwriting attention share does not, once the disturbance is subtracted.</a:t>
            </a:r>
          </a:p>
        </p:txBody>
      </p:sp>
      <p:sp>
        <p:nvSpPr>
          <p:cNvPr id="20" name="Rounded Rectangle 19"/>
          <p:cNvSpPr/>
          <p:nvPr/>
        </p:nvSpPr>
        <p:spPr>
          <a:xfrm>
            <a:off x="8017933" y="4318000"/>
            <a:ext cx="3539067"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195733" y="44958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TO DO</a:t>
            </a:r>
          </a:p>
        </p:txBody>
      </p:sp>
      <p:sp>
        <p:nvSpPr>
          <p:cNvPr id="22" name="TextBox 21"/>
          <p:cNvSpPr txBox="1"/>
          <p:nvPr/>
        </p:nvSpPr>
        <p:spPr>
          <a:xfrm>
            <a:off x="8195733" y="4686300"/>
            <a:ext cx="3183467"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Push content, not attention</a:t>
            </a:r>
          </a:p>
        </p:txBody>
      </p:sp>
      <p:sp>
        <p:nvSpPr>
          <p:cNvPr id="23" name="TextBox 22"/>
          <p:cNvSpPr txBox="1"/>
          <p:nvPr/>
        </p:nvSpPr>
        <p:spPr>
          <a:xfrm>
            <a:off x="8195733" y="4902200"/>
            <a:ext cx="3183467"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Adding a contrast direction at one late layer restores preference; raising attention mass on the instruction does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symptom: the file overrides the instruction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instruction is explicit and unchanged. Only the surrounding file changes.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04</a:t>
            </a:r>
          </a:p>
        </p:txBody>
      </p:sp>
      <p:sp>
        <p:nvSpPr>
          <p:cNvPr id="8" name="Rounded Rectangle 7"/>
          <p:cNvSpPr/>
          <p:nvPr/>
        </p:nvSpPr>
        <p:spPr>
          <a:xfrm>
            <a:off x="635000" y="1752600"/>
            <a:ext cx="7493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STEP 1 · COMPLIANCE AGAINST CONTEXT VIOLATIONS</a:t>
            </a:r>
          </a:p>
        </p:txBody>
      </p:sp>
      <p:sp>
        <p:nvSpPr>
          <p:cNvPr id="10" name="TextBox 9"/>
          <p:cNvSpPr txBox="1"/>
          <p:nvPr/>
        </p:nvSpPr>
        <p:spPr>
          <a:xfrm>
            <a:off x="812800" y="4351115"/>
            <a:ext cx="7137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Both instruction directions are plotted. The collapse is not an artefact of one notation.</a:t>
            </a:r>
          </a:p>
        </p:txBody>
      </p:sp>
      <p:sp>
        <p:nvSpPr>
          <p:cNvPr id="11" name="Rounded Rectangle 10"/>
          <p:cNvSpPr/>
          <p:nvPr/>
        </p:nvSpPr>
        <p:spPr>
          <a:xfrm>
            <a:off x="2968086" y="2120900"/>
            <a:ext cx="2826827" cy="2154015"/>
          </a:xfrm>
          <a:prstGeom prst="roundRect">
            <a:avLst>
              <a:gd name="adj" fmla="val 353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1__cliff.png"/>
          <p:cNvPicPr>
            <a:picLocks noChangeAspect="1"/>
          </p:cNvPicPr>
          <p:nvPr/>
        </p:nvPicPr>
        <p:blipFill>
          <a:blip r:embed="rId2"/>
          <a:stretch>
            <a:fillRect/>
          </a:stretch>
        </p:blipFill>
        <p:spPr>
          <a:xfrm>
            <a:off x="3044286" y="2197100"/>
            <a:ext cx="2674427" cy="2001615"/>
          </a:xfrm>
          <a:prstGeom prst="rect">
            <a:avLst/>
          </a:prstGeom>
        </p:spPr>
      </p:pic>
      <p:sp>
        <p:nvSpPr>
          <p:cNvPr id="13" name="Rounded Rectangle 12"/>
          <p:cNvSpPr/>
          <p:nvPr/>
        </p:nvSpPr>
        <p:spPr>
          <a:xfrm>
            <a:off x="8280400" y="1752600"/>
            <a:ext cx="3276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PLOT SAYS</a:t>
            </a:r>
          </a:p>
        </p:txBody>
      </p:sp>
      <p:sp>
        <p:nvSpPr>
          <p:cNvPr id="15" name="TextBox 14"/>
          <p:cNvSpPr txBox="1"/>
          <p:nvPr/>
        </p:nvSpPr>
        <p:spPr>
          <a:xfrm>
            <a:off x="8458200" y="2120900"/>
            <a:ext cx="2921000" cy="1231900"/>
          </a:xfrm>
          <a:prstGeom prst="rect">
            <a:avLst/>
          </a:prstGeom>
          <a:noFill/>
        </p:spPr>
        <p:txBody>
          <a:bodyPr wrap="square" lIns="0" rIns="0" tIns="0" bIns="0">
            <a:spAutoFit/>
          </a:bodyPr>
          <a:lstStyle/>
          <a:p>
            <a:pPr marL="312039" indent="-31203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Axis:</a:t>
            </a:r>
            <a:r>
              <a:rPr sz="1050" b="0">
                <a:solidFill>
                  <a:srgbClr val="B9B9B9"/>
                </a:solidFill>
                <a:latin typeface="Inter"/>
                <a:cs typeface="Inter"/>
                <a:ea typeface="Inter"/>
              </a:rPr>
              <a:t> how many of the twelve preceding function names violate the instruction</a:t>
            </a:r>
          </a:p>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Value:</a:t>
            </a:r>
            <a:r>
              <a:rPr sz="1050" b="0">
                <a:solidFill>
                  <a:srgbClr val="B9B9B9"/>
                </a:solidFill>
                <a:latin typeface="Inter"/>
                <a:cs typeface="Inter"/>
                <a:ea typeface="Inter"/>
              </a:rPr>
              <a:t> share of generations that follow the instruction</a:t>
            </a:r>
          </a:p>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Shape:</a:t>
            </a:r>
            <a:r>
              <a:rPr sz="1050" b="0">
                <a:solidFill>
                  <a:srgbClr val="B9B9B9"/>
                </a:solidFill>
                <a:latin typeface="Inter"/>
                <a:cs typeface="Inter"/>
                <a:ea typeface="Inter"/>
              </a:rPr>
              <a:t> not a gentle slope — compliance falls away over a narrow band</a:t>
            </a:r>
          </a:p>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Both lines:</a:t>
            </a:r>
            <a:r>
              <a:rPr sz="1050" b="0">
                <a:solidFill>
                  <a:srgbClr val="B9B9B9"/>
                </a:solidFill>
                <a:latin typeface="Inter"/>
                <a:cs typeface="Inter"/>
                <a:ea typeface="Inter"/>
              </a:rPr>
              <a:t> camelCase-required and snake_case-required behave the same way</a:t>
            </a:r>
          </a:p>
        </p:txBody>
      </p:sp>
      <p:sp>
        <p:nvSpPr>
          <p:cNvPr id="16" name="Rounded Rectangle 15"/>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IS THE RIGHT STARTING POINT</a:t>
            </a:r>
          </a:p>
        </p:txBody>
      </p:sp>
      <p:sp>
        <p:nvSpPr>
          <p:cNvPr id="18" name="TextBox 1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If context did not matter, there would be nothing to localise and no prescription to test.</a:t>
            </a:r>
          </a:p>
        </p:txBody>
      </p:sp>
      <p:sp>
        <p:nvSpPr>
          <p:cNvPr id="19" name="TextBox 18"/>
          <p:cNvSpPr txBox="1"/>
          <p:nvPr/>
        </p:nvSpPr>
        <p:spPr>
          <a:xfrm>
            <a:off x="812800" y="5257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instruction text is identical in every condition on this plot. The only thing that moves is how many names in the file already break it. That isolates context as the cause and makes the rest of the study a question about mechanism rather than about prompt wording.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Two accounts of the same failure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They disagree about the locus, so they disagree about the remedy — and a single instrument can separate them.</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05</a:t>
            </a:r>
          </a:p>
        </p:txBody>
      </p:sp>
      <p:sp>
        <p:nvSpPr>
          <p:cNvPr id="8" name="Rounded Rectangle 7"/>
          <p:cNvSpPr/>
          <p:nvPr/>
        </p:nvSpPr>
        <p:spPr>
          <a:xfrm>
            <a:off x="635000" y="1752600"/>
            <a:ext cx="10922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DISAGREEMENT</a:t>
            </a:r>
          </a:p>
        </p:txBody>
      </p:sp>
      <p:sp>
        <p:nvSpPr>
          <p:cNvPr id="10" name="TextBox 9"/>
          <p:cNvSpPr txBox="1"/>
          <p:nvPr/>
        </p:nvSpPr>
        <p:spPr>
          <a:xfrm>
            <a:off x="812800" y="4033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Prior work that raises attention mass on the instruction is committing to the left-hand account.</a:t>
            </a:r>
          </a:p>
        </p:txBody>
      </p:sp>
      <p:pic>
        <p:nvPicPr>
          <p:cNvPr id="11" name="Picture 10" descr="p_claim.png"/>
          <p:cNvPicPr>
            <a:picLocks noChangeAspect="1"/>
          </p:cNvPicPr>
          <p:nvPr/>
        </p:nvPicPr>
        <p:blipFill>
          <a:blip r:embed="rId2"/>
          <a:stretch>
            <a:fillRect/>
          </a:stretch>
        </p:blipFill>
        <p:spPr>
          <a:xfrm>
            <a:off x="812800" y="2120900"/>
            <a:ext cx="4592390" cy="1836515"/>
          </a:xfrm>
          <a:prstGeom prst="rect">
            <a:avLst/>
          </a:prstGeom>
        </p:spPr>
      </p:pic>
      <p:sp>
        <p:nvSpPr>
          <p:cNvPr id="12" name="Rounded Rectangle 11"/>
          <p:cNvSpPr/>
          <p:nvPr/>
        </p:nvSpPr>
        <p:spPr>
          <a:xfrm>
            <a:off x="635000" y="4572000"/>
            <a:ext cx="5715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7498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WOULD SETTLE IT</a:t>
            </a:r>
          </a:p>
        </p:txBody>
      </p:sp>
      <p:sp>
        <p:nvSpPr>
          <p:cNvPr id="14" name="TextBox 13"/>
          <p:cNvSpPr txBox="1"/>
          <p:nvPr/>
        </p:nvSpPr>
        <p:spPr>
          <a:xfrm>
            <a:off x="812800" y="4940300"/>
            <a:ext cx="5359400" cy="647700"/>
          </a:xfrm>
          <a:prstGeom prst="rect">
            <a:avLst/>
          </a:prstGeom>
          <a:noFill/>
        </p:spPr>
        <p:txBody>
          <a:bodyPr wrap="square" lIns="0" rIns="0" tIns="0" bIns="0">
            <a:spAutoFit/>
          </a:bodyPr>
          <a:lstStyle/>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If attention:</a:t>
            </a:r>
            <a:r>
              <a:rPr sz="1050" b="0">
                <a:solidFill>
                  <a:srgbClr val="B9B9B9"/>
                </a:solidFill>
                <a:latin typeface="Inter"/>
                <a:cs typeface="Inter"/>
                <a:ea typeface="Inter"/>
              </a:rPr>
              <a:t> raising the instruction's attention share should restore compliance</a:t>
            </a:r>
          </a:p>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If content:</a:t>
            </a:r>
            <a:r>
              <a:rPr sz="1050" b="0">
                <a:solidFill>
                  <a:srgbClr val="B9B9B9"/>
                </a:solidFill>
                <a:latin typeface="Inter"/>
                <a:cs typeface="Inter"/>
                <a:ea typeface="Inter"/>
              </a:rPr>
              <a:t> it should not — and pushing the attended content should</a:t>
            </a:r>
          </a:p>
        </p:txBody>
      </p:sp>
      <p:sp>
        <p:nvSpPr>
          <p:cNvPr id="15" name="Rounded Rectangle 14"/>
          <p:cNvSpPr/>
          <p:nvPr/>
        </p:nvSpPr>
        <p:spPr>
          <a:xfrm>
            <a:off x="6502400" y="4572000"/>
            <a:ext cx="50546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80200" y="47498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WE AVOID STACKING THE DECK</a:t>
            </a:r>
          </a:p>
        </p:txBody>
      </p:sp>
      <p:sp>
        <p:nvSpPr>
          <p:cNvPr id="17" name="TextBox 16"/>
          <p:cNvSpPr txBox="1"/>
          <p:nvPr/>
        </p:nvSpPr>
        <p:spPr>
          <a:xfrm>
            <a:off x="6680200" y="4940300"/>
            <a:ext cx="4699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Both remedies are swept over a fixed grid chosen before any result was read, on the same conditions, the same seed and the same four models. Neither is tuned after seeing the other's outcome.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Research questions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Three questions and one prescription. Step 6 is not a fourth question — it is the test of whether the first three were read correctly.</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06</a:t>
            </a:r>
          </a:p>
        </p:txBody>
      </p:sp>
      <p:sp>
        <p:nvSpPr>
          <p:cNvPr id="8" name="Rounded Rectangle 7"/>
          <p:cNvSpPr/>
          <p:nvPr/>
        </p:nvSpPr>
        <p:spPr>
          <a:xfrm>
            <a:off x="635000" y="1752600"/>
            <a:ext cx="10922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STRUCTURE</a:t>
            </a:r>
          </a:p>
        </p:txBody>
      </p:sp>
      <p:sp>
        <p:nvSpPr>
          <p:cNvPr id="10" name="TextBox 9"/>
          <p:cNvSpPr txBox="1"/>
          <p:nvPr/>
        </p:nvSpPr>
        <p:spPr>
          <a:xfrm>
            <a:off x="812800" y="3525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Observation and causation are kept apart: every “where” claim has a matching intervention.</a:t>
            </a:r>
          </a:p>
        </p:txBody>
      </p:sp>
      <p:pic>
        <p:nvPicPr>
          <p:cNvPr id="11" name="Picture 10" descr="p_rq.png"/>
          <p:cNvPicPr>
            <a:picLocks noChangeAspect="1"/>
          </p:cNvPicPr>
          <p:nvPr/>
        </p:nvPicPr>
        <p:blipFill>
          <a:blip r:embed="rId2"/>
          <a:stretch>
            <a:fillRect/>
          </a:stretch>
        </p:blipFill>
        <p:spPr>
          <a:xfrm>
            <a:off x="812800" y="2120900"/>
            <a:ext cx="6768273" cy="1328515"/>
          </a:xfrm>
          <a:prstGeom prst="rect">
            <a:avLst/>
          </a:prstGeom>
        </p:spPr>
      </p:pic>
      <p:sp>
        <p:nvSpPr>
          <p:cNvPr id="12" name="Rounded Rectangle 11"/>
          <p:cNvSpPr/>
          <p:nvPr/>
        </p:nvSpPr>
        <p:spPr>
          <a:xfrm>
            <a:off x="635000" y="4064000"/>
            <a:ext cx="10922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241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ANSWER WOULD LICENSE</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Stated before the runs, so that an unexpected result cannot be reinterpreted into a success.</a:t>
            </a:r>
          </a:p>
        </p:txBody>
      </p:sp>
      <p:sp>
        <p:nvSpPr>
          <p:cNvPr id="15" name="TextBox 14"/>
          <p:cNvSpPr txBox="1"/>
          <p:nvPr/>
        </p:nvSpPr>
        <p:spPr>
          <a:xfrm>
            <a:off x="812800" y="4495800"/>
            <a:ext cx="4054549"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QUESTION</a:t>
            </a:r>
          </a:p>
        </p:txBody>
      </p:sp>
      <p:sp>
        <p:nvSpPr>
          <p:cNvPr id="16" name="TextBox 15"/>
          <p:cNvSpPr txBox="1"/>
          <p:nvPr/>
        </p:nvSpPr>
        <p:spPr>
          <a:xfrm>
            <a:off x="4867349" y="4495800"/>
            <a:ext cx="3194493"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IF YES</a:t>
            </a:r>
          </a:p>
        </p:txBody>
      </p:sp>
      <p:sp>
        <p:nvSpPr>
          <p:cNvPr id="17" name="TextBox 16"/>
          <p:cNvSpPr txBox="1"/>
          <p:nvPr/>
        </p:nvSpPr>
        <p:spPr>
          <a:xfrm>
            <a:off x="8061842" y="4495800"/>
            <a:ext cx="3317358"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IF NO</a:t>
            </a:r>
          </a:p>
        </p:txBody>
      </p:sp>
      <p:sp>
        <p:nvSpPr>
          <p:cNvPr id="18" name="Rectangle 17"/>
          <p:cNvSpPr/>
          <p:nvPr/>
        </p:nvSpPr>
        <p:spPr>
          <a:xfrm>
            <a:off x="812800" y="46482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4749800"/>
            <a:ext cx="3889449" cy="35605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RQ1  context lowers compliance</a:t>
            </a:r>
          </a:p>
        </p:txBody>
      </p:sp>
      <p:sp>
        <p:nvSpPr>
          <p:cNvPr id="20" name="TextBox 19"/>
          <p:cNvSpPr txBox="1"/>
          <p:nvPr/>
        </p:nvSpPr>
        <p:spPr>
          <a:xfrm>
            <a:off x="4867349" y="4749800"/>
            <a:ext cx="3029393" cy="35605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there is a mechanism to localise</a:t>
            </a:r>
          </a:p>
        </p:txBody>
      </p:sp>
      <p:sp>
        <p:nvSpPr>
          <p:cNvPr id="21" name="TextBox 20"/>
          <p:cNvSpPr txBox="1"/>
          <p:nvPr/>
        </p:nvSpPr>
        <p:spPr>
          <a:xfrm>
            <a:off x="8061842" y="4749800"/>
            <a:ext cx="3152258" cy="35605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study has no subject; stop here</a:t>
            </a:r>
          </a:p>
        </p:txBody>
      </p:sp>
      <p:sp>
        <p:nvSpPr>
          <p:cNvPr id="22" name="Rectangle 21"/>
          <p:cNvSpPr/>
          <p:nvPr/>
        </p:nvSpPr>
        <p:spPr>
          <a:xfrm>
            <a:off x="812800" y="5042355"/>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800" y="5105855"/>
            <a:ext cx="3889449" cy="35605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RQ2  the code signal is content</a:t>
            </a:r>
          </a:p>
        </p:txBody>
      </p:sp>
      <p:sp>
        <p:nvSpPr>
          <p:cNvPr id="24" name="TextBox 23"/>
          <p:cNvSpPr txBox="1"/>
          <p:nvPr/>
        </p:nvSpPr>
        <p:spPr>
          <a:xfrm>
            <a:off x="4867349" y="5105855"/>
            <a:ext cx="3029393" cy="35605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handle is the Value road at a specific layer</a:t>
            </a:r>
          </a:p>
        </p:txBody>
      </p:sp>
      <p:sp>
        <p:nvSpPr>
          <p:cNvPr id="25" name="TextBox 24"/>
          <p:cNvSpPr txBox="1"/>
          <p:nvPr/>
        </p:nvSpPr>
        <p:spPr>
          <a:xfrm>
            <a:off x="8061842" y="5105855"/>
            <a:ext cx="3152258" cy="35605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attention-based remedies remain live</a:t>
            </a:r>
          </a:p>
        </p:txBody>
      </p:sp>
      <p:sp>
        <p:nvSpPr>
          <p:cNvPr id="26" name="Rectangle 25"/>
          <p:cNvSpPr/>
          <p:nvPr/>
        </p:nvSpPr>
        <p:spPr>
          <a:xfrm>
            <a:off x="812800" y="5398410"/>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800" y="5461910"/>
            <a:ext cx="3889449" cy="35605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RQ3  the instruction travels the same road</a:t>
            </a:r>
          </a:p>
        </p:txBody>
      </p:sp>
      <p:sp>
        <p:nvSpPr>
          <p:cNvPr id="28" name="TextBox 27"/>
          <p:cNvSpPr txBox="1"/>
          <p:nvPr/>
        </p:nvSpPr>
        <p:spPr>
          <a:xfrm>
            <a:off x="4867349" y="5461910"/>
            <a:ext cx="3029393" cy="35605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one prescription covers both signals</a:t>
            </a:r>
          </a:p>
        </p:txBody>
      </p:sp>
      <p:sp>
        <p:nvSpPr>
          <p:cNvPr id="29" name="TextBox 28"/>
          <p:cNvSpPr txBox="1"/>
          <p:nvPr/>
        </p:nvSpPr>
        <p:spPr>
          <a:xfrm>
            <a:off x="8061842" y="5461910"/>
            <a:ext cx="3152258" cy="35605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code and instruction need separate treatment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Fixed setup</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pool of names, four models, one seed. Every step draws its conditions from the same material.</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07</a:t>
            </a:r>
          </a:p>
        </p:txBody>
      </p:sp>
      <p:sp>
        <p:nvSpPr>
          <p:cNvPr id="8" name="Rounded Rectangle 7"/>
          <p:cNvSpPr/>
          <p:nvPr/>
        </p:nvSpPr>
        <p:spPr>
          <a:xfrm>
            <a:off x="635000" y="1752600"/>
            <a:ext cx="68580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NAME POOL</a:t>
            </a:r>
          </a:p>
        </p:txBody>
      </p:sp>
      <p:sp>
        <p:nvSpPr>
          <p:cNvPr id="10" name="TextBox 9"/>
          <p:cNvSpPr txBox="1"/>
          <p:nvPr/>
        </p:nvSpPr>
        <p:spPr>
          <a:xfrm>
            <a:off x="812800" y="3779615"/>
            <a:ext cx="650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Blocks are disjoint, so a paired difference within a block is a difference on the same names.</a:t>
            </a:r>
          </a:p>
        </p:txBody>
      </p:sp>
      <p:pic>
        <p:nvPicPr>
          <p:cNvPr id="11" name="Picture 10" descr="p_data.png"/>
          <p:cNvPicPr>
            <a:picLocks noChangeAspect="1"/>
          </p:cNvPicPr>
          <p:nvPr/>
        </p:nvPicPr>
        <p:blipFill>
          <a:blip r:embed="rId2"/>
          <a:stretch>
            <a:fillRect/>
          </a:stretch>
        </p:blipFill>
        <p:spPr>
          <a:xfrm>
            <a:off x="812800" y="2120900"/>
            <a:ext cx="3957238" cy="1582515"/>
          </a:xfrm>
          <a:prstGeom prst="rect">
            <a:avLst/>
          </a:prstGeom>
        </p:spPr>
      </p:pic>
      <p:sp>
        <p:nvSpPr>
          <p:cNvPr id="12" name="Rounded Rectangle 11"/>
          <p:cNvSpPr/>
          <p:nvPr/>
        </p:nvSpPr>
        <p:spPr>
          <a:xfrm>
            <a:off x="7645400" y="1752600"/>
            <a:ext cx="39116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23200" y="19304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FOUR MODELS</a:t>
            </a:r>
          </a:p>
        </p:txBody>
      </p:sp>
      <p:sp>
        <p:nvSpPr>
          <p:cNvPr id="14" name="TextBox 13"/>
          <p:cNvSpPr txBox="1"/>
          <p:nvPr/>
        </p:nvSpPr>
        <p:spPr>
          <a:xfrm>
            <a:off x="7823200" y="2120900"/>
            <a:ext cx="1588691" cy="2921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Qwen2.5-Coder-3B</a:t>
            </a:r>
          </a:p>
        </p:txBody>
      </p:sp>
      <p:sp>
        <p:nvSpPr>
          <p:cNvPr id="15" name="TextBox 14"/>
          <p:cNvSpPr txBox="1"/>
          <p:nvPr/>
        </p:nvSpPr>
        <p:spPr>
          <a:xfrm>
            <a:off x="9411891" y="2120900"/>
            <a:ext cx="1967309" cy="2921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code-specialised, 36 layers</a:t>
            </a:r>
          </a:p>
        </p:txBody>
      </p:sp>
      <p:sp>
        <p:nvSpPr>
          <p:cNvPr id="16" name="TextBox 15"/>
          <p:cNvSpPr txBox="1"/>
          <p:nvPr/>
        </p:nvSpPr>
        <p:spPr>
          <a:xfrm>
            <a:off x="7823200" y="2413000"/>
            <a:ext cx="1588691" cy="2921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DeepSeek-Coder-6.7B</a:t>
            </a:r>
          </a:p>
        </p:txBody>
      </p:sp>
      <p:sp>
        <p:nvSpPr>
          <p:cNvPr id="17" name="TextBox 16"/>
          <p:cNvSpPr txBox="1"/>
          <p:nvPr/>
        </p:nvSpPr>
        <p:spPr>
          <a:xfrm>
            <a:off x="9411891" y="2413000"/>
            <a:ext cx="1967309" cy="2921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code-specialised, 32 layers</a:t>
            </a:r>
          </a:p>
        </p:txBody>
      </p:sp>
      <p:sp>
        <p:nvSpPr>
          <p:cNvPr id="18" name="TextBox 17"/>
          <p:cNvSpPr txBox="1"/>
          <p:nvPr/>
        </p:nvSpPr>
        <p:spPr>
          <a:xfrm>
            <a:off x="7823200" y="2705100"/>
            <a:ext cx="1588691" cy="2921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Llama-3.2-3B</a:t>
            </a:r>
          </a:p>
        </p:txBody>
      </p:sp>
      <p:sp>
        <p:nvSpPr>
          <p:cNvPr id="19" name="TextBox 18"/>
          <p:cNvSpPr txBox="1"/>
          <p:nvPr/>
        </p:nvSpPr>
        <p:spPr>
          <a:xfrm>
            <a:off x="9411891" y="2705100"/>
            <a:ext cx="1967309" cy="2921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general purpose, 28 layers</a:t>
            </a:r>
          </a:p>
        </p:txBody>
      </p:sp>
      <p:sp>
        <p:nvSpPr>
          <p:cNvPr id="20" name="TextBox 19"/>
          <p:cNvSpPr txBox="1"/>
          <p:nvPr/>
        </p:nvSpPr>
        <p:spPr>
          <a:xfrm>
            <a:off x="7823200" y="2997200"/>
            <a:ext cx="1588691" cy="2921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StableCode-3B</a:t>
            </a:r>
          </a:p>
        </p:txBody>
      </p:sp>
      <p:sp>
        <p:nvSpPr>
          <p:cNvPr id="21" name="TextBox 20"/>
          <p:cNvSpPr txBox="1"/>
          <p:nvPr/>
        </p:nvSpPr>
        <p:spPr>
          <a:xfrm>
            <a:off x="9411891" y="2997200"/>
            <a:ext cx="1967309" cy="2921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code-specialised, 32 layers</a:t>
            </a:r>
          </a:p>
        </p:txBody>
      </p:sp>
      <p:sp>
        <p:nvSpPr>
          <p:cNvPr id="22" name="TextBox 21"/>
          <p:cNvSpPr txBox="1"/>
          <p:nvPr/>
        </p:nvSpPr>
        <p:spPr>
          <a:xfrm>
            <a:off x="7823200" y="3390900"/>
            <a:ext cx="3556000" cy="381000"/>
          </a:xfrm>
          <a:prstGeom prst="rect">
            <a:avLst/>
          </a:prstGeom>
          <a:noFill/>
        </p:spPr>
        <p:txBody>
          <a:bodyPr wrap="square" lIns="0" rIns="0" tIns="0" bIns="0" anchor="t">
            <a:spAutoFit/>
          </a:bodyPr>
          <a:lstStyle/>
          <a:p>
            <a:pPr algn="l"/>
            <a:r>
              <a:rPr sz="1000" b="0">
                <a:solidFill>
                  <a:srgbClr val="797979"/>
                </a:solidFill>
                <a:latin typeface="Inter"/>
                <a:cs typeface="Inter"/>
                <a:ea typeface="Inter"/>
              </a:rPr>
              <a:t>The general-purpose model is kept in deliberately: it is the one that most often lands in the undecidable band, and that is itself a result.</a:t>
            </a:r>
          </a:p>
        </p:txBody>
      </p:sp>
      <p:sp>
        <p:nvSpPr>
          <p:cNvPr id="23" name="Rounded Rectangle 22"/>
          <p:cNvSpPr/>
          <p:nvPr/>
        </p:nvSpPr>
        <p:spPr>
          <a:xfrm>
            <a:off x="635000" y="4318000"/>
            <a:ext cx="10922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2800" y="4495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HELD CONSTANT ACROSS EVERY STEP</a:t>
            </a:r>
          </a:p>
        </p:txBody>
      </p:sp>
      <p:sp>
        <p:nvSpPr>
          <p:cNvPr id="25" name="TextBox 24"/>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Python only. The harness supports JavaScript but no JavaScript condition was ever run, so no claim covers it.</a:t>
            </a:r>
          </a:p>
        </p:txBody>
      </p:sp>
      <p:sp>
        <p:nvSpPr>
          <p:cNvPr id="26" name="TextBox 25"/>
          <p:cNvSpPr txBox="1"/>
          <p:nvPr/>
        </p:nvSpPr>
        <p:spPr>
          <a:xfrm>
            <a:off x="812800" y="4686300"/>
            <a:ext cx="1165721" cy="2159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Seed</a:t>
            </a:r>
          </a:p>
        </p:txBody>
      </p:sp>
      <p:sp>
        <p:nvSpPr>
          <p:cNvPr id="27" name="TextBox 26"/>
          <p:cNvSpPr txBox="1"/>
          <p:nvPr/>
        </p:nvSpPr>
        <p:spPr>
          <a:xfrm>
            <a:off x="1978521" y="4686300"/>
            <a:ext cx="3990479" cy="2159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42, everywhere</a:t>
            </a:r>
          </a:p>
        </p:txBody>
      </p:sp>
      <p:sp>
        <p:nvSpPr>
          <p:cNvPr id="28" name="TextBox 27"/>
          <p:cNvSpPr txBox="1"/>
          <p:nvPr/>
        </p:nvSpPr>
        <p:spPr>
          <a:xfrm>
            <a:off x="812800" y="4902200"/>
            <a:ext cx="1165721" cy="2159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Instruction form</a:t>
            </a:r>
          </a:p>
        </p:txBody>
      </p:sp>
      <p:sp>
        <p:nvSpPr>
          <p:cNvPr id="29" name="TextBox 28"/>
          <p:cNvSpPr txBox="1"/>
          <p:nvPr/>
        </p:nvSpPr>
        <p:spPr>
          <a:xfrm>
            <a:off x="1978521" y="4902200"/>
            <a:ext cx="3990479" cy="2159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positive phrasing, weak strength</a:t>
            </a:r>
          </a:p>
        </p:txBody>
      </p:sp>
      <p:sp>
        <p:nvSpPr>
          <p:cNvPr id="30" name="TextBox 29"/>
          <p:cNvSpPr txBox="1"/>
          <p:nvPr/>
        </p:nvSpPr>
        <p:spPr>
          <a:xfrm>
            <a:off x="812800" y="5118100"/>
            <a:ext cx="1165721" cy="2159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Substitution</a:t>
            </a:r>
          </a:p>
        </p:txBody>
      </p:sp>
      <p:sp>
        <p:nvSpPr>
          <p:cNvPr id="31" name="TextBox 30"/>
          <p:cNvSpPr txBox="1"/>
          <p:nvPr/>
        </p:nvSpPr>
        <p:spPr>
          <a:xfrm>
            <a:off x="1978521" y="5118100"/>
            <a:ext cx="3990479" cy="2159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mean-pool, per KV group</a:t>
            </a:r>
          </a:p>
        </p:txBody>
      </p:sp>
      <p:sp>
        <p:nvSpPr>
          <p:cNvPr id="32" name="TextBox 31"/>
          <p:cNvSpPr txBox="1"/>
          <p:nvPr/>
        </p:nvSpPr>
        <p:spPr>
          <a:xfrm>
            <a:off x="6096000" y="4686300"/>
            <a:ext cx="959445" cy="2159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Language</a:t>
            </a:r>
          </a:p>
        </p:txBody>
      </p:sp>
      <p:sp>
        <p:nvSpPr>
          <p:cNvPr id="33" name="TextBox 32"/>
          <p:cNvSpPr txBox="1"/>
          <p:nvPr/>
        </p:nvSpPr>
        <p:spPr>
          <a:xfrm>
            <a:off x="7055445" y="4686300"/>
            <a:ext cx="4323755" cy="2159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Python only — 0 JavaScript results</a:t>
            </a:r>
          </a:p>
        </p:txBody>
      </p:sp>
      <p:sp>
        <p:nvSpPr>
          <p:cNvPr id="34" name="TextBox 33"/>
          <p:cNvSpPr txBox="1"/>
          <p:nvPr/>
        </p:nvSpPr>
        <p:spPr>
          <a:xfrm>
            <a:off x="6096000" y="4902200"/>
            <a:ext cx="959445" cy="2159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Context</a:t>
            </a:r>
          </a:p>
        </p:txBody>
      </p:sp>
      <p:sp>
        <p:nvSpPr>
          <p:cNvPr id="35" name="TextBox 34"/>
          <p:cNvSpPr txBox="1"/>
          <p:nvPr/>
        </p:nvSpPr>
        <p:spPr>
          <a:xfrm>
            <a:off x="7055445" y="4902200"/>
            <a:ext cx="4323755" cy="2159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12 preceding functions</a:t>
            </a:r>
          </a:p>
        </p:txBody>
      </p:sp>
      <p:sp>
        <p:nvSpPr>
          <p:cNvPr id="36" name="TextBox 35"/>
          <p:cNvSpPr txBox="1"/>
          <p:nvPr/>
        </p:nvSpPr>
        <p:spPr>
          <a:xfrm>
            <a:off x="6096000" y="5118100"/>
            <a:ext cx="959445" cy="2159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Undecidable</a:t>
            </a:r>
          </a:p>
        </p:txBody>
      </p:sp>
      <p:sp>
        <p:nvSpPr>
          <p:cNvPr id="37" name="TextBox 36"/>
          <p:cNvSpPr txBox="1"/>
          <p:nvPr/>
        </p:nvSpPr>
        <p:spPr>
          <a:xfrm>
            <a:off x="7055445" y="5118100"/>
            <a:ext cx="4323755" cy="2159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gap below 1.0 nat is excluded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What we measure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score for preference, one rate for how far an intervention moved it, one difference for what survives the control.</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08</a:t>
            </a:r>
          </a:p>
        </p:txBody>
      </p:sp>
      <p:sp>
        <p:nvSpPr>
          <p:cNvPr id="8" name="Rounded Rectangle 7"/>
          <p:cNvSpPr/>
          <p:nvPr/>
        </p:nvSpPr>
        <p:spPr>
          <a:xfrm>
            <a:off x="635000" y="1752600"/>
            <a:ext cx="10922000" cy="2286000"/>
          </a:xfrm>
          <a:prstGeom prst="roundRect">
            <a:avLst>
              <a:gd name="adj" fmla="val 3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THREE QUANTITIES</a:t>
            </a:r>
          </a:p>
        </p:txBody>
      </p:sp>
      <p:sp>
        <p:nvSpPr>
          <p:cNvPr id="10" name="TextBox 9"/>
          <p:cNvSpPr txBox="1"/>
          <p:nvPr/>
        </p:nvSpPr>
        <p:spPr>
          <a:xfrm>
            <a:off x="812800" y="3652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transfer rate is not capped above 1 — values above 1 mean the intervention overshot the clean condition.</a:t>
            </a:r>
          </a:p>
        </p:txBody>
      </p:sp>
      <p:pic>
        <p:nvPicPr>
          <p:cNvPr id="11" name="Picture 10" descr="p_metrics.png"/>
          <p:cNvPicPr>
            <a:picLocks noChangeAspect="1"/>
          </p:cNvPicPr>
          <p:nvPr/>
        </p:nvPicPr>
        <p:blipFill>
          <a:blip r:embed="rId2"/>
          <a:stretch>
            <a:fillRect/>
          </a:stretch>
        </p:blipFill>
        <p:spPr>
          <a:xfrm>
            <a:off x="812800" y="2120900"/>
            <a:ext cx="3832918" cy="1455515"/>
          </a:xfrm>
          <a:prstGeom prst="rect">
            <a:avLst/>
          </a:prstGeom>
        </p:spPr>
      </p:pic>
      <p:sp>
        <p:nvSpPr>
          <p:cNvPr id="12" name="Rounded Rectangle 11"/>
          <p:cNvSpPr/>
          <p:nvPr/>
        </p:nvSpPr>
        <p:spPr>
          <a:xfrm>
            <a:off x="635000" y="4191000"/>
            <a:ext cx="53340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368800"/>
            <a:ext cx="4978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2 — PREFERENCE SCORE</a:t>
            </a:r>
          </a:p>
        </p:txBody>
      </p:sp>
      <p:sp>
        <p:nvSpPr>
          <p:cNvPr id="14" name="TextBox 13"/>
          <p:cNvSpPr txBox="1"/>
          <p:nvPr/>
        </p:nvSpPr>
        <p:spPr>
          <a:xfrm>
            <a:off x="812800" y="5868765"/>
            <a:ext cx="4978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Teacher-forced with the prefix “def ”, no length normalisation.</a:t>
            </a:r>
          </a:p>
        </p:txBody>
      </p:sp>
      <p:pic>
        <p:nvPicPr>
          <p:cNvPr id="15" name="Picture 14" descr="eq_score.png"/>
          <p:cNvPicPr>
            <a:picLocks noChangeAspect="1"/>
          </p:cNvPicPr>
          <p:nvPr/>
        </p:nvPicPr>
        <p:blipFill>
          <a:blip r:embed="rId3"/>
          <a:stretch>
            <a:fillRect/>
          </a:stretch>
        </p:blipFill>
        <p:spPr>
          <a:xfrm>
            <a:off x="812800" y="4584700"/>
            <a:ext cx="4659065" cy="330200"/>
          </a:xfrm>
          <a:prstGeom prst="rect">
            <a:avLst/>
          </a:prstGeom>
        </p:spPr>
      </p:pic>
      <p:sp>
        <p:nvSpPr>
          <p:cNvPr id="16" name="TextBox 15"/>
          <p:cNvSpPr txBox="1"/>
          <p:nvPr/>
        </p:nvSpPr>
        <p:spPr>
          <a:xfrm>
            <a:off x="812800" y="5041900"/>
            <a:ext cx="4978400" cy="1270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P  next-token probability under the model</a:t>
            </a:r>
          </a:p>
        </p:txBody>
      </p:sp>
      <p:sp>
        <p:nvSpPr>
          <p:cNvPr id="17" name="Rounded Rectangle 16"/>
          <p:cNvSpPr/>
          <p:nvPr/>
        </p:nvSpPr>
        <p:spPr>
          <a:xfrm>
            <a:off x="6121400" y="4191000"/>
            <a:ext cx="54356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99200" y="4368800"/>
            <a:ext cx="5080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3 — TRANSFER RATE</a:t>
            </a:r>
          </a:p>
        </p:txBody>
      </p:sp>
      <p:sp>
        <p:nvSpPr>
          <p:cNvPr id="19" name="TextBox 18"/>
          <p:cNvSpPr txBox="1"/>
          <p:nvPr/>
        </p:nvSpPr>
        <p:spPr>
          <a:xfrm>
            <a:off x="6299200" y="5868765"/>
            <a:ext cx="5080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Clean is the ceiling, base the floor, int the intervened run.</a:t>
            </a:r>
          </a:p>
        </p:txBody>
      </p:sp>
      <p:pic>
        <p:nvPicPr>
          <p:cNvPr id="20" name="Picture 19" descr="eq_recovery.png"/>
          <p:cNvPicPr>
            <a:picLocks noChangeAspect="1"/>
          </p:cNvPicPr>
          <p:nvPr/>
        </p:nvPicPr>
        <p:blipFill>
          <a:blip r:embed="rId4"/>
          <a:stretch>
            <a:fillRect/>
          </a:stretch>
        </p:blipFill>
        <p:spPr>
          <a:xfrm>
            <a:off x="6299200" y="4584700"/>
            <a:ext cx="1974495" cy="482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Controls are not optional here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Overwriting a cached vector removes the original as well as inserting the new one. The raw number contains both.</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09</a:t>
            </a:r>
          </a:p>
        </p:txBody>
      </p:sp>
      <p:sp>
        <p:nvSpPr>
          <p:cNvPr id="8" name="Rounded Rectangle 7"/>
          <p:cNvSpPr/>
          <p:nvPr/>
        </p:nvSpPr>
        <p:spPr>
          <a:xfrm>
            <a:off x="635000" y="1752600"/>
            <a:ext cx="711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DECOMPOSITION</a:t>
            </a:r>
          </a:p>
        </p:txBody>
      </p:sp>
      <p:sp>
        <p:nvSpPr>
          <p:cNvPr id="10" name="TextBox 9"/>
          <p:cNvSpPr txBox="1"/>
          <p:nvPr/>
        </p:nvSpPr>
        <p:spPr>
          <a:xfrm>
            <a:off x="812800" y="3906615"/>
            <a:ext cx="675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Bubble measured at the peak layer of each model: 34% (StableCode) to 49% (Qwen) of the raw value.</a:t>
            </a:r>
          </a:p>
        </p:txBody>
      </p:sp>
      <p:pic>
        <p:nvPicPr>
          <p:cNvPr id="11" name="Picture 10" descr="p_control.png"/>
          <p:cNvPicPr>
            <a:picLocks noChangeAspect="1"/>
          </p:cNvPicPr>
          <p:nvPr/>
        </p:nvPicPr>
        <p:blipFill>
          <a:blip r:embed="rId2"/>
          <a:stretch>
            <a:fillRect/>
          </a:stretch>
        </p:blipFill>
        <p:spPr>
          <a:xfrm>
            <a:off x="812800" y="2120900"/>
            <a:ext cx="4274814" cy="1709515"/>
          </a:xfrm>
          <a:prstGeom prst="rect">
            <a:avLst/>
          </a:prstGeom>
        </p:spPr>
      </p:pic>
      <p:sp>
        <p:nvSpPr>
          <p:cNvPr id="12" name="Rounded Rectangle 11"/>
          <p:cNvSpPr/>
          <p:nvPr/>
        </p:nvSpPr>
        <p:spPr>
          <a:xfrm>
            <a:off x="7899400" y="1752600"/>
            <a:ext cx="36576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77200" y="19304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BUBBLE SHARE BY MODEL</a:t>
            </a:r>
          </a:p>
        </p:txBody>
      </p:sp>
      <p:sp>
        <p:nvSpPr>
          <p:cNvPr id="14" name="TextBox 13"/>
          <p:cNvSpPr txBox="1"/>
          <p:nvPr/>
        </p:nvSpPr>
        <p:spPr>
          <a:xfrm>
            <a:off x="8077200" y="3906615"/>
            <a:ext cx="3302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Raw transfer rates are never reported alone.</a:t>
            </a:r>
          </a:p>
        </p:txBody>
      </p:sp>
      <p:sp>
        <p:nvSpPr>
          <p:cNvPr id="15" name="TextBox 14"/>
          <p:cNvSpPr txBox="1"/>
          <p:nvPr/>
        </p:nvSpPr>
        <p:spPr>
          <a:xfrm>
            <a:off x="8077200" y="2184400"/>
            <a:ext cx="21590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16" name="TextBox 15"/>
          <p:cNvSpPr txBox="1"/>
          <p:nvPr/>
        </p:nvSpPr>
        <p:spPr>
          <a:xfrm>
            <a:off x="10236200" y="2184400"/>
            <a:ext cx="11430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BUBBLE ÷ RAW</a:t>
            </a:r>
          </a:p>
        </p:txBody>
      </p:sp>
      <p:sp>
        <p:nvSpPr>
          <p:cNvPr id="17" name="Rectangle 16"/>
          <p:cNvSpPr/>
          <p:nvPr/>
        </p:nvSpPr>
        <p:spPr>
          <a:xfrm>
            <a:off x="8077200" y="2336800"/>
            <a:ext cx="330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7200" y="2438400"/>
            <a:ext cx="1993900" cy="354354"/>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Qwen2.5-Coder-3B</a:t>
            </a:r>
          </a:p>
        </p:txBody>
      </p:sp>
      <p:sp>
        <p:nvSpPr>
          <p:cNvPr id="19" name="TextBox 18"/>
          <p:cNvSpPr txBox="1"/>
          <p:nvPr/>
        </p:nvSpPr>
        <p:spPr>
          <a:xfrm>
            <a:off x="10236200" y="2438400"/>
            <a:ext cx="977900" cy="354354"/>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49%</a:t>
            </a:r>
          </a:p>
        </p:txBody>
      </p:sp>
      <p:sp>
        <p:nvSpPr>
          <p:cNvPr id="20" name="Rectangle 19"/>
          <p:cNvSpPr/>
          <p:nvPr/>
        </p:nvSpPr>
        <p:spPr>
          <a:xfrm>
            <a:off x="8077200" y="2729254"/>
            <a:ext cx="3302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7200" y="2792754"/>
            <a:ext cx="1993900" cy="354354"/>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DeepSeek-Coder-6.7B</a:t>
            </a:r>
          </a:p>
        </p:txBody>
      </p:sp>
      <p:sp>
        <p:nvSpPr>
          <p:cNvPr id="22" name="TextBox 21"/>
          <p:cNvSpPr txBox="1"/>
          <p:nvPr/>
        </p:nvSpPr>
        <p:spPr>
          <a:xfrm>
            <a:off x="10236200" y="2792754"/>
            <a:ext cx="977900" cy="354354"/>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42%</a:t>
            </a:r>
          </a:p>
        </p:txBody>
      </p:sp>
      <p:sp>
        <p:nvSpPr>
          <p:cNvPr id="23" name="Rectangle 22"/>
          <p:cNvSpPr/>
          <p:nvPr/>
        </p:nvSpPr>
        <p:spPr>
          <a:xfrm>
            <a:off x="8077200" y="3083608"/>
            <a:ext cx="3302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7200" y="3147108"/>
            <a:ext cx="1993900" cy="354354"/>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Llama-3.2-3B</a:t>
            </a:r>
          </a:p>
        </p:txBody>
      </p:sp>
      <p:sp>
        <p:nvSpPr>
          <p:cNvPr id="25" name="TextBox 24"/>
          <p:cNvSpPr txBox="1"/>
          <p:nvPr/>
        </p:nvSpPr>
        <p:spPr>
          <a:xfrm>
            <a:off x="10236200" y="3147108"/>
            <a:ext cx="977900" cy="354354"/>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40%</a:t>
            </a:r>
          </a:p>
        </p:txBody>
      </p:sp>
      <p:sp>
        <p:nvSpPr>
          <p:cNvPr id="26" name="Rectangle 25"/>
          <p:cNvSpPr/>
          <p:nvPr/>
        </p:nvSpPr>
        <p:spPr>
          <a:xfrm>
            <a:off x="8077200" y="3437961"/>
            <a:ext cx="3302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77200" y="3501461"/>
            <a:ext cx="1993900" cy="354354"/>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StableCode-3B</a:t>
            </a:r>
          </a:p>
        </p:txBody>
      </p:sp>
      <p:sp>
        <p:nvSpPr>
          <p:cNvPr id="28" name="TextBox 27"/>
          <p:cNvSpPr txBox="1"/>
          <p:nvPr/>
        </p:nvSpPr>
        <p:spPr>
          <a:xfrm>
            <a:off x="10236200" y="3501461"/>
            <a:ext cx="977900" cy="354354"/>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34%</a:t>
            </a:r>
          </a:p>
        </p:txBody>
      </p:sp>
      <p:sp>
        <p:nvSpPr>
          <p:cNvPr id="29" name="Rounded Rectangle 28"/>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4 — WHEN A CONDITION CANNOT BE JUDGED</a:t>
            </a:r>
          </a:p>
        </p:txBody>
      </p:sp>
      <p:sp>
        <p:nvSpPr>
          <p:cNvPr id="31" name="TextBox 30"/>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flag and the gap are both stored, so the threshold's sensitivity can be re-checked without re-running anything.</a:t>
            </a:r>
          </a:p>
        </p:txBody>
      </p:sp>
      <p:pic>
        <p:nvPicPr>
          <p:cNvPr id="32" name="Picture 31" descr="eq_undec.png"/>
          <p:cNvPicPr>
            <a:picLocks noChangeAspect="1"/>
          </p:cNvPicPr>
          <p:nvPr/>
        </p:nvPicPr>
        <p:blipFill>
          <a:blip r:embed="rId3"/>
          <a:stretch>
            <a:fillRect/>
          </a:stretch>
        </p:blipFill>
        <p:spPr>
          <a:xfrm>
            <a:off x="812800" y="4826000"/>
            <a:ext cx="3650470" cy="304800"/>
          </a:xfrm>
          <a:prstGeom prst="rect">
            <a:avLst/>
          </a:prstGeom>
        </p:spPr>
      </p:pic>
      <p:sp>
        <p:nvSpPr>
          <p:cNvPr id="33" name="TextBox 32"/>
          <p:cNvSpPr txBox="1"/>
          <p:nvPr/>
        </p:nvSpPr>
        <p:spPr>
          <a:xfrm>
            <a:off x="812800" y="5232400"/>
            <a:ext cx="10566400" cy="1270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S_clean  compliant context   S_base  violating context   1.0  threshold in nats, stored with every result</a:t>
            </a:r>
          </a:p>
        </p:txBody>
      </p:sp>
      <p:sp>
        <p:nvSpPr>
          <p:cNvPr id="34" name="TextBox 33"/>
          <p:cNvSpPr txBox="1"/>
          <p:nvPr/>
        </p:nvSpPr>
        <p:spPr>
          <a:xfrm>
            <a:off x="812800" y="5422900"/>
            <a:ext cx="10566400" cy="256287"/>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Below the threshold the model had no strong preference to restore, so the transfer rate becomes unstable. Those conditions are counted, reported and set aside.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01 · PLAN</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order of work</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Running order was chosen by memory cost. Telling order follows the argument. Neither was changed after results appeared.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01 · Plan</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10</a:t>
            </a:r>
          </a:p>
        </p:txBody>
      </p:sp>
      <p:sp>
        <p:nvSpPr>
          <p:cNvPr id="8" name="Rounded Rectangle 7"/>
          <p:cNvSpPr/>
          <p:nvPr/>
        </p:nvSpPr>
        <p:spPr>
          <a:xfrm>
            <a:off x="635000" y="1752600"/>
            <a:ext cx="10922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TWO ORDERS</a:t>
            </a:r>
          </a:p>
        </p:txBody>
      </p:sp>
      <p:sp>
        <p:nvSpPr>
          <p:cNvPr id="10" name="TextBox 9"/>
          <p:cNvSpPr txBox="1"/>
          <p:nvPr/>
        </p:nvSpPr>
        <p:spPr>
          <a:xfrm>
            <a:off x="812800" y="3525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Step 5 sits in the running order but not yet in this deck — its control sweep is still outstanding.</a:t>
            </a:r>
          </a:p>
        </p:txBody>
      </p:sp>
      <p:pic>
        <p:nvPicPr>
          <p:cNvPr id="11" name="Picture 10" descr="p_order.png"/>
          <p:cNvPicPr>
            <a:picLocks noChangeAspect="1"/>
          </p:cNvPicPr>
          <p:nvPr/>
        </p:nvPicPr>
        <p:blipFill>
          <a:blip r:embed="rId2"/>
          <a:stretch>
            <a:fillRect/>
          </a:stretch>
        </p:blipFill>
        <p:spPr>
          <a:xfrm>
            <a:off x="812800" y="2120900"/>
            <a:ext cx="3908612" cy="1328515"/>
          </a:xfrm>
          <a:prstGeom prst="rect">
            <a:avLst/>
          </a:prstGeom>
        </p:spPr>
      </p:pic>
      <p:sp>
        <p:nvSpPr>
          <p:cNvPr id="12" name="Rounded Rectangle 11"/>
          <p:cNvSpPr/>
          <p:nvPr/>
        </p:nvSpPr>
        <p:spPr>
          <a:xfrm>
            <a:off x="635000" y="4064000"/>
            <a:ext cx="10922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241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CONDITION CENSUS — WHAT EXISTS ON DISK</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7,212 conditions enter the analysis; 1,344 step-5 control runs are excluded and footnoted.</a:t>
            </a:r>
          </a:p>
        </p:txBody>
      </p:sp>
      <p:sp>
        <p:nvSpPr>
          <p:cNvPr id="15" name="TextBox 14"/>
          <p:cNvSpPr txBox="1"/>
          <p:nvPr/>
        </p:nvSpPr>
        <p:spPr>
          <a:xfrm>
            <a:off x="812800" y="4432300"/>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2,184</a:t>
            </a:r>
          </a:p>
        </p:txBody>
      </p:sp>
      <p:sp>
        <p:nvSpPr>
          <p:cNvPr id="16" name="TextBox 15"/>
          <p:cNvSpPr txBox="1"/>
          <p:nvPr/>
        </p:nvSpPr>
        <p:spPr>
          <a:xfrm>
            <a:off x="812800" y="480822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1 · CLIFF</a:t>
            </a:r>
          </a:p>
        </p:txBody>
      </p:sp>
      <p:sp>
        <p:nvSpPr>
          <p:cNvPr id="17" name="TextBox 16"/>
          <p:cNvSpPr txBox="1"/>
          <p:nvPr/>
        </p:nvSpPr>
        <p:spPr>
          <a:xfrm>
            <a:off x="3492500" y="4432300"/>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168</a:t>
            </a:r>
          </a:p>
        </p:txBody>
      </p:sp>
      <p:sp>
        <p:nvSpPr>
          <p:cNvPr id="18" name="TextBox 17"/>
          <p:cNvSpPr txBox="1"/>
          <p:nvPr/>
        </p:nvSpPr>
        <p:spPr>
          <a:xfrm>
            <a:off x="3492500" y="480822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2 · CODE OBSERVE</a:t>
            </a:r>
          </a:p>
        </p:txBody>
      </p:sp>
      <p:sp>
        <p:nvSpPr>
          <p:cNvPr id="19" name="TextBox 18"/>
          <p:cNvSpPr txBox="1"/>
          <p:nvPr/>
        </p:nvSpPr>
        <p:spPr>
          <a:xfrm>
            <a:off x="6172200" y="4432300"/>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504</a:t>
            </a:r>
          </a:p>
        </p:txBody>
      </p:sp>
      <p:sp>
        <p:nvSpPr>
          <p:cNvPr id="20" name="TextBox 19"/>
          <p:cNvSpPr txBox="1"/>
          <p:nvPr/>
        </p:nvSpPr>
        <p:spPr>
          <a:xfrm>
            <a:off x="6172200" y="480822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3 · CODE CAUSE</a:t>
            </a:r>
          </a:p>
        </p:txBody>
      </p:sp>
      <p:sp>
        <p:nvSpPr>
          <p:cNvPr id="21" name="TextBox 20"/>
          <p:cNvSpPr txBox="1"/>
          <p:nvPr/>
        </p:nvSpPr>
        <p:spPr>
          <a:xfrm>
            <a:off x="8851900" y="4432300"/>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336</a:t>
            </a:r>
          </a:p>
        </p:txBody>
      </p:sp>
      <p:sp>
        <p:nvSpPr>
          <p:cNvPr id="22" name="TextBox 21"/>
          <p:cNvSpPr txBox="1"/>
          <p:nvPr/>
        </p:nvSpPr>
        <p:spPr>
          <a:xfrm>
            <a:off x="8851900" y="480822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4 · INSTRUCTION OBSERVE</a:t>
            </a:r>
          </a:p>
        </p:txBody>
      </p:sp>
      <p:sp>
        <p:nvSpPr>
          <p:cNvPr id="23" name="TextBox 22"/>
          <p:cNvSpPr txBox="1"/>
          <p:nvPr/>
        </p:nvSpPr>
        <p:spPr>
          <a:xfrm>
            <a:off x="812800" y="5188633"/>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72</a:t>
            </a:r>
          </a:p>
        </p:txBody>
      </p:sp>
      <p:sp>
        <p:nvSpPr>
          <p:cNvPr id="24" name="TextBox 23"/>
          <p:cNvSpPr txBox="1"/>
          <p:nvPr/>
        </p:nvSpPr>
        <p:spPr>
          <a:xfrm>
            <a:off x="812800" y="5564553"/>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DIAG · INSTRUMENT</a:t>
            </a:r>
          </a:p>
        </p:txBody>
      </p:sp>
      <p:sp>
        <p:nvSpPr>
          <p:cNvPr id="25" name="TextBox 24"/>
          <p:cNvSpPr txBox="1"/>
          <p:nvPr/>
        </p:nvSpPr>
        <p:spPr>
          <a:xfrm>
            <a:off x="3492500" y="5188633"/>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2,184</a:t>
            </a:r>
          </a:p>
        </p:txBody>
      </p:sp>
      <p:sp>
        <p:nvSpPr>
          <p:cNvPr id="26" name="TextBox 25"/>
          <p:cNvSpPr txBox="1"/>
          <p:nvPr/>
        </p:nvSpPr>
        <p:spPr>
          <a:xfrm>
            <a:off x="3492500" y="5564553"/>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6 · STEER</a:t>
            </a:r>
          </a:p>
        </p:txBody>
      </p:sp>
      <p:sp>
        <p:nvSpPr>
          <p:cNvPr id="27" name="TextBox 26"/>
          <p:cNvSpPr txBox="1"/>
          <p:nvPr/>
        </p:nvSpPr>
        <p:spPr>
          <a:xfrm>
            <a:off x="6172200" y="5188633"/>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420</a:t>
            </a:r>
          </a:p>
        </p:txBody>
      </p:sp>
      <p:sp>
        <p:nvSpPr>
          <p:cNvPr id="28" name="TextBox 27"/>
          <p:cNvSpPr txBox="1"/>
          <p:nvPr/>
        </p:nvSpPr>
        <p:spPr>
          <a:xfrm>
            <a:off x="6172200" y="5564553"/>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6 · GENERATE</a:t>
            </a:r>
          </a:p>
        </p:txBody>
      </p:sp>
      <p:sp>
        <p:nvSpPr>
          <p:cNvPr id="29" name="TextBox 28"/>
          <p:cNvSpPr txBox="1"/>
          <p:nvPr/>
        </p:nvSpPr>
        <p:spPr>
          <a:xfrm>
            <a:off x="8851900" y="5188633"/>
            <a:ext cx="2527300" cy="350520"/>
          </a:xfrm>
          <a:prstGeom prst="rect">
            <a:avLst/>
          </a:prstGeom>
          <a:noFill/>
        </p:spPr>
        <p:txBody>
          <a:bodyPr wrap="square" lIns="0" rIns="0" tIns="0" bIns="0" anchor="t">
            <a:spAutoFit/>
          </a:bodyPr>
          <a:lstStyle/>
          <a:p>
            <a:pPr algn="l"/>
            <a:r>
              <a:rPr sz="2400" b="0" spc="-100">
                <a:solidFill>
                  <a:srgbClr val="FFFFFF"/>
                </a:solidFill>
                <a:latin typeface="Inter"/>
                <a:cs typeface="Inter"/>
                <a:ea typeface="Inter"/>
              </a:rPr>
              <a:t>336</a:t>
            </a:r>
          </a:p>
        </p:txBody>
      </p:sp>
      <p:sp>
        <p:nvSpPr>
          <p:cNvPr id="30" name="TextBox 29"/>
          <p:cNvSpPr txBox="1"/>
          <p:nvPr/>
        </p:nvSpPr>
        <p:spPr>
          <a:xfrm>
            <a:off x="8851900" y="5564553"/>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STEP 6 · CROSS-LAYER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Inside one layer: two separable roads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Attention splits into how much to look (Key) and what arrives when it looks (Value). Every intervention in this study cuts along that seam.</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11</a:t>
            </a:r>
          </a:p>
        </p:txBody>
      </p:sp>
      <p:sp>
        <p:nvSpPr>
          <p:cNvPr id="8" name="Rounded Rectangle 7"/>
          <p:cNvSpPr/>
          <p:nvPr/>
        </p:nvSpPr>
        <p:spPr>
          <a:xfrm>
            <a:off x="635000" y="1752600"/>
            <a:ext cx="67310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375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TRANSFORMER BLOCK · ONE LAYER</a:t>
            </a:r>
          </a:p>
        </p:txBody>
      </p:sp>
      <p:sp>
        <p:nvSpPr>
          <p:cNvPr id="10" name="TextBox 9"/>
          <p:cNvSpPr txBox="1"/>
          <p:nvPr/>
        </p:nvSpPr>
        <p:spPr>
          <a:xfrm>
            <a:off x="812800" y="4160615"/>
            <a:ext cx="6375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Value box is where this study pushes; the Key box is where prior work pushes.</a:t>
            </a:r>
          </a:p>
        </p:txBody>
      </p:sp>
      <p:pic>
        <p:nvPicPr>
          <p:cNvPr id="11" name="Picture 10" descr="c_block.png"/>
          <p:cNvPicPr>
            <a:picLocks noChangeAspect="1"/>
          </p:cNvPicPr>
          <p:nvPr/>
        </p:nvPicPr>
        <p:blipFill>
          <a:blip r:embed="rId2"/>
          <a:stretch>
            <a:fillRect/>
          </a:stretch>
        </p:blipFill>
        <p:spPr>
          <a:xfrm>
            <a:off x="812800" y="2120900"/>
            <a:ext cx="4177735" cy="1963515"/>
          </a:xfrm>
          <a:prstGeom prst="rect">
            <a:avLst/>
          </a:prstGeom>
        </p:spPr>
      </p:pic>
      <p:sp>
        <p:nvSpPr>
          <p:cNvPr id="12" name="Rounded Rectangle 11"/>
          <p:cNvSpPr/>
          <p:nvPr/>
        </p:nvSpPr>
        <p:spPr>
          <a:xfrm>
            <a:off x="7518400" y="1752600"/>
            <a:ext cx="40386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96200" y="1930400"/>
            <a:ext cx="3683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ROAD CARRIES</a:t>
            </a:r>
          </a:p>
        </p:txBody>
      </p:sp>
      <p:sp>
        <p:nvSpPr>
          <p:cNvPr id="14" name="TextBox 13"/>
          <p:cNvSpPr txBox="1"/>
          <p:nvPr/>
        </p:nvSpPr>
        <p:spPr>
          <a:xfrm>
            <a:off x="7696200" y="3977831"/>
            <a:ext cx="3683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We read one query row; it sums to 1, so each span's value is its share.</a:t>
            </a:r>
          </a:p>
        </p:txBody>
      </p:sp>
      <p:sp>
        <p:nvSpPr>
          <p:cNvPr id="15" name="TextBox 14"/>
          <p:cNvSpPr txBox="1"/>
          <p:nvPr/>
        </p:nvSpPr>
        <p:spPr>
          <a:xfrm>
            <a:off x="7696200" y="2120900"/>
            <a:ext cx="3683000" cy="1282700"/>
          </a:xfrm>
          <a:prstGeom prst="rect">
            <a:avLst/>
          </a:prstGeom>
          <a:noFill/>
        </p:spPr>
        <p:txBody>
          <a:bodyPr wrap="square" lIns="0" rIns="0" tIns="0" bIns="0">
            <a:spAutoFit/>
          </a:bodyPr>
          <a:lstStyle/>
          <a:p>
            <a:pPr marL="346710" indent="-346710">
              <a:lnSpc>
                <a:spcPct val="134000"/>
              </a:lnSpc>
              <a:spcAft>
                <a:spcPts val="694"/>
              </a:spcAft>
            </a:pPr>
            <a:r>
              <a:rPr sz="1050" b="0">
                <a:solidFill>
                  <a:srgbClr val="797979"/>
                </a:solidFill>
                <a:latin typeface="Inter"/>
                <a:cs typeface="Inter"/>
                <a:ea typeface="Inter"/>
              </a:rPr>
              <a:t>—  </a:t>
            </a:r>
            <a:r>
              <a:rPr sz="1050" b="1">
                <a:solidFill>
                  <a:srgbClr val="FFFFFF"/>
                </a:solidFill>
                <a:latin typeface="Inter"/>
                <a:cs typeface="Inter"/>
                <a:ea typeface="Inter"/>
              </a:rPr>
              <a:t>Query:</a:t>
            </a:r>
            <a:r>
              <a:rPr sz="1050" b="0">
                <a:solidFill>
                  <a:srgbClr val="B9B9B9"/>
                </a:solidFill>
                <a:latin typeface="Inter"/>
                <a:cs typeface="Inter"/>
                <a:ea typeface="Inter"/>
              </a:rPr>
              <a:t> the row of the position about to emit the function name</a:t>
            </a:r>
          </a:p>
          <a:p>
            <a:pPr marL="277368" indent="-277368">
              <a:lnSpc>
                <a:spcPct val="134000"/>
              </a:lnSpc>
              <a:spcAft>
                <a:spcPts val="694"/>
              </a:spcAft>
            </a:pPr>
            <a:r>
              <a:rPr sz="1050" b="0">
                <a:solidFill>
                  <a:srgbClr val="797979"/>
                </a:solidFill>
                <a:latin typeface="Inter"/>
                <a:cs typeface="Inter"/>
                <a:ea typeface="Inter"/>
              </a:rPr>
              <a:t>—  </a:t>
            </a:r>
            <a:r>
              <a:rPr sz="1050" b="1">
                <a:solidFill>
                  <a:srgbClr val="FFFFFF"/>
                </a:solidFill>
                <a:latin typeface="Inter"/>
                <a:cs typeface="Inter"/>
                <a:ea typeface="Inter"/>
              </a:rPr>
              <a:t>Key:</a:t>
            </a:r>
            <a:r>
              <a:rPr sz="1050" b="0">
                <a:solidFill>
                  <a:srgbClr val="B9B9B9"/>
                </a:solidFill>
                <a:latin typeface="Inter"/>
                <a:cs typeface="Inter"/>
                <a:ea typeface="Inter"/>
              </a:rPr>
              <a:t> decides the share of attention each earlier token receives</a:t>
            </a:r>
          </a:p>
          <a:p>
            <a:pPr marL="346710" indent="-346710">
              <a:lnSpc>
                <a:spcPct val="134000"/>
              </a:lnSpc>
              <a:spcAft>
                <a:spcPts val="694"/>
              </a:spcAft>
            </a:pPr>
            <a:r>
              <a:rPr sz="1050" b="0">
                <a:solidFill>
                  <a:srgbClr val="797979"/>
                </a:solidFill>
                <a:latin typeface="Inter"/>
                <a:cs typeface="Inter"/>
                <a:ea typeface="Inter"/>
              </a:rPr>
              <a:t>—  </a:t>
            </a:r>
            <a:r>
              <a:rPr sz="1050" b="1">
                <a:solidFill>
                  <a:srgbClr val="FFFFFF"/>
                </a:solidFill>
                <a:latin typeface="Inter"/>
                <a:cs typeface="Inter"/>
                <a:ea typeface="Inter"/>
              </a:rPr>
              <a:t>Value:</a:t>
            </a:r>
            <a:r>
              <a:rPr sz="1050" b="0">
                <a:solidFill>
                  <a:srgbClr val="B9B9B9"/>
                </a:solidFill>
                <a:latin typeface="Inter"/>
                <a:cs typeface="Inter"/>
                <a:ea typeface="Inter"/>
              </a:rPr>
              <a:t> the content actually mixed into the output</a:t>
            </a:r>
          </a:p>
          <a:p>
            <a:pPr marL="450723" indent="-450723">
              <a:lnSpc>
                <a:spcPct val="134000"/>
              </a:lnSpc>
              <a:spcAft>
                <a:spcPts val="694"/>
              </a:spcAft>
            </a:pPr>
            <a:r>
              <a:rPr sz="1050" b="0">
                <a:solidFill>
                  <a:srgbClr val="797979"/>
                </a:solidFill>
                <a:latin typeface="Inter"/>
                <a:cs typeface="Inter"/>
                <a:ea typeface="Inter"/>
              </a:rPr>
              <a:t>—  </a:t>
            </a:r>
            <a:r>
              <a:rPr sz="1050" b="1">
                <a:solidFill>
                  <a:srgbClr val="FFFFFF"/>
                </a:solidFill>
                <a:latin typeface="Inter"/>
                <a:cs typeface="Inter"/>
                <a:ea typeface="Inter"/>
              </a:rPr>
              <a:t>Residual:</a:t>
            </a:r>
            <a:r>
              <a:rPr sz="1050" b="0">
                <a:solidFill>
                  <a:srgbClr val="B9B9B9"/>
                </a:solidFill>
                <a:latin typeface="Inter"/>
                <a:cs typeface="Inter"/>
                <a:ea typeface="Inter"/>
              </a:rPr>
              <a:t> the running vector each layer adds to, never replaces</a:t>
            </a:r>
          </a:p>
        </p:txBody>
      </p:sp>
      <p:sp>
        <p:nvSpPr>
          <p:cNvPr id="16" name="Rounded Rectangle 15"/>
          <p:cNvSpPr/>
          <p:nvPr/>
        </p:nvSpPr>
        <p:spPr>
          <a:xfrm>
            <a:off x="635000" y="4699000"/>
            <a:ext cx="6731000" cy="1555750"/>
          </a:xfrm>
          <a:prstGeom prst="roundRect">
            <a:avLst>
              <a:gd name="adj" fmla="val 48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4876800"/>
            <a:ext cx="6375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5 — THE ATTENTION OUTPUT AT ONE POSITION</a:t>
            </a:r>
          </a:p>
        </p:txBody>
      </p:sp>
      <p:sp>
        <p:nvSpPr>
          <p:cNvPr id="18" name="TextBox 17"/>
          <p:cNvSpPr txBox="1"/>
          <p:nvPr/>
        </p:nvSpPr>
        <p:spPr>
          <a:xfrm>
            <a:off x="812800" y="5868765"/>
            <a:ext cx="6375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is the Key road, v is the Value road. Overwriting v alone leaves a untouched.</a:t>
            </a:r>
          </a:p>
        </p:txBody>
      </p:sp>
      <p:pic>
        <p:nvPicPr>
          <p:cNvPr id="19" name="Picture 18" descr="eq_output.png"/>
          <p:cNvPicPr>
            <a:picLocks noChangeAspect="1"/>
          </p:cNvPicPr>
          <p:nvPr/>
        </p:nvPicPr>
        <p:blipFill>
          <a:blip r:embed="rId3"/>
          <a:stretch>
            <a:fillRect/>
          </a:stretch>
        </p:blipFill>
        <p:spPr>
          <a:xfrm>
            <a:off x="812800" y="5105400"/>
            <a:ext cx="2654777" cy="406400"/>
          </a:xfrm>
          <a:prstGeom prst="rect">
            <a:avLst/>
          </a:prstGeom>
        </p:spPr>
      </p:pic>
      <p:sp>
        <p:nvSpPr>
          <p:cNvPr id="20" name="TextBox 19"/>
          <p:cNvSpPr txBox="1"/>
          <p:nvPr/>
        </p:nvSpPr>
        <p:spPr>
          <a:xfrm>
            <a:off x="812800" y="5613400"/>
            <a:ext cx="6375400" cy="1270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i  query position   j  earlier token   a  attention weight   v  value vector</a:t>
            </a:r>
          </a:p>
        </p:txBody>
      </p:sp>
      <p:sp>
        <p:nvSpPr>
          <p:cNvPr id="21" name="Rounded Rectangle 20"/>
          <p:cNvSpPr/>
          <p:nvPr/>
        </p:nvSpPr>
        <p:spPr>
          <a:xfrm>
            <a:off x="7518400" y="4699000"/>
            <a:ext cx="4038600" cy="1555750"/>
          </a:xfrm>
          <a:prstGeom prst="roundRect">
            <a:avLst>
              <a:gd name="adj" fmla="val 48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96200" y="4876800"/>
            <a:ext cx="3683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THE SEAM IS TESTABLE</a:t>
            </a:r>
          </a:p>
        </p:txBody>
      </p:sp>
      <p:sp>
        <p:nvSpPr>
          <p:cNvPr id="23" name="TextBox 22"/>
          <p:cNvSpPr txBox="1"/>
          <p:nvPr/>
        </p:nvSpPr>
        <p:spPr>
          <a:xfrm>
            <a:off x="7696200" y="5868765"/>
            <a:ext cx="3683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This is what separates “looks enough” from “reads wrong”.</a:t>
            </a:r>
          </a:p>
        </p:txBody>
      </p:sp>
      <p:sp>
        <p:nvSpPr>
          <p:cNvPr id="24" name="TextBox 23"/>
          <p:cNvSpPr txBox="1"/>
          <p:nvPr/>
        </p:nvSpPr>
        <p:spPr>
          <a:xfrm>
            <a:off x="7696200" y="5067300"/>
            <a:ext cx="3683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cached K and V are separate tensors, so one can be replaced while the other is left exactly as the model computed it — same prompt, same length.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Where Q, K and V come from</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Three linear maps of the same hidden state. Nothing about them is intrinsically about position or content — the roles come from how they are used.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12</a:t>
            </a:r>
          </a:p>
        </p:txBody>
      </p:sp>
      <p:sp>
        <p:nvSpPr>
          <p:cNvPr id="8" name="Rounded Rectangle 7"/>
          <p:cNvSpPr/>
          <p:nvPr/>
        </p:nvSpPr>
        <p:spPr>
          <a:xfrm>
            <a:off x="635000" y="1752600"/>
            <a:ext cx="10922000" cy="1905000"/>
          </a:xfrm>
          <a:prstGeom prst="roundRect">
            <a:avLst>
              <a:gd name="adj" fmla="val 4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6 — THE THREE PROJECTIONS</a:t>
            </a:r>
          </a:p>
        </p:txBody>
      </p:sp>
      <p:sp>
        <p:nvSpPr>
          <p:cNvPr id="10" name="TextBox 9"/>
          <p:cNvSpPr txBox="1"/>
          <p:nvPr/>
        </p:nvSpPr>
        <p:spPr>
          <a:xfrm>
            <a:off x="812800" y="3271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Same input, three learned matrices. The split into “how much” and “what” happens downstream.</a:t>
            </a:r>
          </a:p>
        </p:txBody>
      </p:sp>
      <p:pic>
        <p:nvPicPr>
          <p:cNvPr id="11" name="Picture 10" descr="eq_qkv.png"/>
          <p:cNvPicPr>
            <a:picLocks noChangeAspect="1"/>
          </p:cNvPicPr>
          <p:nvPr/>
        </p:nvPicPr>
        <p:blipFill>
          <a:blip r:embed="rId2"/>
          <a:stretch>
            <a:fillRect/>
          </a:stretch>
        </p:blipFill>
        <p:spPr>
          <a:xfrm>
            <a:off x="812800" y="2247900"/>
            <a:ext cx="4649270" cy="368300"/>
          </a:xfrm>
          <a:prstGeom prst="rect">
            <a:avLst/>
          </a:prstGeom>
        </p:spPr>
      </p:pic>
      <p:sp>
        <p:nvSpPr>
          <p:cNvPr id="12" name="TextBox 11"/>
          <p:cNvSpPr txBox="1"/>
          <p:nvPr/>
        </p:nvSpPr>
        <p:spPr>
          <a:xfrm>
            <a:off x="812800" y="2794000"/>
            <a:ext cx="10566400" cy="1270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x  hidden state at a position   W  learned projection, one per role   d_k  head dimension</a:t>
            </a:r>
          </a:p>
        </p:txBody>
      </p:sp>
      <p:sp>
        <p:nvSpPr>
          <p:cNvPr id="13" name="Rounded Rectangle 12"/>
          <p:cNvSpPr/>
          <p:nvPr/>
        </p:nvSpPr>
        <p:spPr>
          <a:xfrm>
            <a:off x="635000" y="3810000"/>
            <a:ext cx="10922000" cy="2444750"/>
          </a:xfrm>
          <a:prstGeom prst="roundRect">
            <a:avLst>
              <a:gd name="adj" fmla="val 311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2800" y="3987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TWO ROADS, DRAWN OUT</a:t>
            </a:r>
          </a:p>
        </p:txBody>
      </p:sp>
      <p:sp>
        <p:nvSpPr>
          <p:cNvPr id="15" name="TextBox 14"/>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dashed line is the only place the two roads meet — weights computed on one side scale the other.</a:t>
            </a:r>
          </a:p>
        </p:txBody>
      </p:sp>
      <p:pic>
        <p:nvPicPr>
          <p:cNvPr id="16" name="Picture 15" descr="c_paths.png"/>
          <p:cNvPicPr>
            <a:picLocks noChangeAspect="1"/>
          </p:cNvPicPr>
          <p:nvPr/>
        </p:nvPicPr>
        <p:blipFill>
          <a:blip r:embed="rId3"/>
          <a:stretch>
            <a:fillRect/>
          </a:stretch>
        </p:blipFill>
        <p:spPr>
          <a:xfrm>
            <a:off x="812800" y="4178300"/>
            <a:ext cx="4250967" cy="161426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Softmax, and why a row sums to one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normalisation is what turns raw scores into shares — and it is what makes span-level attention interpretable at all.</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13</a:t>
            </a:r>
          </a:p>
        </p:txBody>
      </p:sp>
      <p:sp>
        <p:nvSpPr>
          <p:cNvPr id="8" name="Rounded Rectangle 7"/>
          <p:cNvSpPr/>
          <p:nvPr/>
        </p:nvSpPr>
        <p:spPr>
          <a:xfrm>
            <a:off x="635000" y="1752600"/>
            <a:ext cx="5207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4851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7 — ATTENTION WEIGHTS</a:t>
            </a:r>
          </a:p>
        </p:txBody>
      </p:sp>
      <p:sp>
        <p:nvSpPr>
          <p:cNvPr id="10" name="TextBox 9"/>
          <p:cNvSpPr txBox="1"/>
          <p:nvPr/>
        </p:nvSpPr>
        <p:spPr>
          <a:xfrm>
            <a:off x="812800" y="3906615"/>
            <a:ext cx="4851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Exponentiate the scores, then divide by their sum.</a:t>
            </a:r>
          </a:p>
        </p:txBody>
      </p:sp>
      <p:pic>
        <p:nvPicPr>
          <p:cNvPr id="11" name="Picture 10" descr="eq_softmax.png"/>
          <p:cNvPicPr>
            <a:picLocks noChangeAspect="1"/>
          </p:cNvPicPr>
          <p:nvPr/>
        </p:nvPicPr>
        <p:blipFill>
          <a:blip r:embed="rId2"/>
          <a:stretch>
            <a:fillRect/>
          </a:stretch>
        </p:blipFill>
        <p:spPr>
          <a:xfrm>
            <a:off x="812800" y="2311400"/>
            <a:ext cx="1621752" cy="546100"/>
          </a:xfrm>
          <a:prstGeom prst="rect">
            <a:avLst/>
          </a:prstGeom>
        </p:spPr>
      </p:pic>
      <p:sp>
        <p:nvSpPr>
          <p:cNvPr id="12" name="TextBox 11"/>
          <p:cNvSpPr txBox="1"/>
          <p:nvPr/>
        </p:nvSpPr>
        <p:spPr>
          <a:xfrm>
            <a:off x="812800" y="3073400"/>
            <a:ext cx="4851400" cy="1270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q·k  score, before scaling   √d  temperature</a:t>
            </a:r>
          </a:p>
        </p:txBody>
      </p:sp>
      <p:sp>
        <p:nvSpPr>
          <p:cNvPr id="13" name="Rounded Rectangle 12"/>
          <p:cNvSpPr/>
          <p:nvPr/>
        </p:nvSpPr>
        <p:spPr>
          <a:xfrm>
            <a:off x="5994400" y="1752600"/>
            <a:ext cx="55626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72200" y="1930400"/>
            <a:ext cx="5207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CONSEQUENCES WE RELY ON</a:t>
            </a:r>
          </a:p>
        </p:txBody>
      </p:sp>
      <p:sp>
        <p:nvSpPr>
          <p:cNvPr id="15" name="TextBox 14"/>
          <p:cNvSpPr txBox="1"/>
          <p:nvPr/>
        </p:nvSpPr>
        <p:spPr>
          <a:xfrm>
            <a:off x="6172200" y="2120900"/>
            <a:ext cx="5207000" cy="1231900"/>
          </a:xfrm>
          <a:prstGeom prst="rect">
            <a:avLst/>
          </a:prstGeom>
          <a:noFill/>
        </p:spPr>
        <p:txBody>
          <a:bodyPr wrap="square" lIns="0" rIns="0" tIns="0" bIns="0">
            <a:spAutoFit/>
          </a:bodyPr>
          <a:lstStyle/>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Shares:</a:t>
            </a:r>
            <a:r>
              <a:rPr sz="1050" b="0">
                <a:solidFill>
                  <a:srgbClr val="B9B9B9"/>
                </a:solidFill>
                <a:latin typeface="Inter"/>
                <a:cs typeface="Inter"/>
                <a:ea typeface="Inter"/>
              </a:rPr>
              <a:t> a span's total is the fraction of attention it received</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Competition:</a:t>
            </a:r>
            <a:r>
              <a:rPr sz="1050" b="0">
                <a:solidFill>
                  <a:srgbClr val="B9B9B9"/>
                </a:solidFill>
                <a:latin typeface="Inter"/>
                <a:cs typeface="Inter"/>
                <a:ea typeface="Inter"/>
              </a:rPr>
              <a:t> one span can only rise if another falls</a:t>
            </a:r>
          </a:p>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Comparability:</a:t>
            </a:r>
            <a:r>
              <a:rPr sz="1050" b="0">
                <a:solidFill>
                  <a:srgbClr val="B9B9B9"/>
                </a:solidFill>
                <a:latin typeface="Inter"/>
                <a:cs typeface="Inter"/>
                <a:ea typeface="Inter"/>
              </a:rPr>
              <a:t> the same quantity is meaningful across models and layers</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Length:</a:t>
            </a:r>
            <a:r>
              <a:rPr sz="1050" b="0">
                <a:solidFill>
                  <a:srgbClr val="B9B9B9"/>
                </a:solidFill>
                <a:latin typeface="Inter"/>
                <a:cs typeface="Inter"/>
                <a:ea typeface="Inter"/>
              </a:rPr>
              <a:t> a longer span accumulates more, so we divide by token count</a:t>
            </a:r>
          </a:p>
        </p:txBody>
      </p:sp>
      <p:sp>
        <p:nvSpPr>
          <p:cNvPr id="16" name="Rounded Rectangle 15"/>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8 — ATTENTION PER TOKEN</a:t>
            </a:r>
          </a:p>
        </p:txBody>
      </p:sp>
      <p:sp>
        <p:nvSpPr>
          <p:cNvPr id="18" name="TextBox 1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Reported everywhere in this deck. The span-sum estimand is reported alongside wherever the two disagree.</a:t>
            </a:r>
          </a:p>
        </p:txBody>
      </p:sp>
      <p:pic>
        <p:nvPicPr>
          <p:cNvPr id="19" name="Picture 18" descr="eq_pertoken.png"/>
          <p:cNvPicPr>
            <a:picLocks noChangeAspect="1"/>
          </p:cNvPicPr>
          <p:nvPr/>
        </p:nvPicPr>
        <p:blipFill>
          <a:blip r:embed="rId3"/>
          <a:stretch>
            <a:fillRect/>
          </a:stretch>
        </p:blipFill>
        <p:spPr>
          <a:xfrm>
            <a:off x="812800" y="4838700"/>
            <a:ext cx="994791" cy="406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What a head is, and why we average over them</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Each head runs the whole attention computation on its own slice of the hidden state.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14</a:t>
            </a:r>
          </a:p>
        </p:txBody>
      </p:sp>
      <p:sp>
        <p:nvSpPr>
          <p:cNvPr id="8" name="Rounded Rectangle 7"/>
          <p:cNvSpPr/>
          <p:nvPr/>
        </p:nvSpPr>
        <p:spPr>
          <a:xfrm>
            <a:off x="635000" y="1752600"/>
            <a:ext cx="10922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HEADS WITHIN ONE LAYER</a:t>
            </a:r>
          </a:p>
        </p:txBody>
      </p:sp>
      <p:sp>
        <p:nvSpPr>
          <p:cNvPr id="10" name="TextBox 9"/>
          <p:cNvSpPr txBox="1"/>
          <p:nvPr/>
        </p:nvSpPr>
        <p:spPr>
          <a:xfrm>
            <a:off x="812800" y="4033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Averaging is a choice with a cost: a single specialised head would be invisible in our numbers.</a:t>
            </a:r>
          </a:p>
        </p:txBody>
      </p:sp>
      <p:pic>
        <p:nvPicPr>
          <p:cNvPr id="11" name="Picture 10" descr="c_heads.png"/>
          <p:cNvPicPr>
            <a:picLocks noChangeAspect="1"/>
          </p:cNvPicPr>
          <p:nvPr/>
        </p:nvPicPr>
        <p:blipFill>
          <a:blip r:embed="rId2"/>
          <a:stretch>
            <a:fillRect/>
          </a:stretch>
        </p:blipFill>
        <p:spPr>
          <a:xfrm>
            <a:off x="812800" y="2120900"/>
            <a:ext cx="4997770" cy="1836515"/>
          </a:xfrm>
          <a:prstGeom prst="rect">
            <a:avLst/>
          </a:prstGeom>
        </p:spPr>
      </p:pic>
      <p:sp>
        <p:nvSpPr>
          <p:cNvPr id="12" name="Rounded Rectangle 11"/>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HONEST VERSION OF THE CLAIM</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Head-level structure is left for future work; nothing here depends on its absence.</a:t>
            </a:r>
          </a:p>
        </p:txBody>
      </p:sp>
      <p:sp>
        <p:nvSpPr>
          <p:cNvPr id="15" name="TextBox 14"/>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Our statements are about layers, not heads. When we say a layer carries the notation signal, we mean the head-averaged quantity at that layer moved — not that every head did, and not that one particular head is responsible.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query row: the one row we read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Attention is a matrix. We read a single row of it — the position that is about to write the function name.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15</a:t>
            </a:r>
          </a:p>
        </p:txBody>
      </p:sp>
      <p:sp>
        <p:nvSpPr>
          <p:cNvPr id="8" name="Rounded Rectangle 7"/>
          <p:cNvSpPr/>
          <p:nvPr/>
        </p:nvSpPr>
        <p:spPr>
          <a:xfrm>
            <a:off x="635000" y="1752600"/>
            <a:ext cx="7493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MATRIX, AND THE ROW</a:t>
            </a:r>
          </a:p>
        </p:txBody>
      </p:sp>
      <p:sp>
        <p:nvSpPr>
          <p:cNvPr id="10" name="TextBox 9"/>
          <p:cNvSpPr txBox="1"/>
          <p:nvPr/>
        </p:nvSpPr>
        <p:spPr>
          <a:xfrm>
            <a:off x="812800" y="4351115"/>
            <a:ext cx="7137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Masked upper triangle: a token cannot attend to tokens that come after it.</a:t>
            </a:r>
          </a:p>
        </p:txBody>
      </p:sp>
      <p:pic>
        <p:nvPicPr>
          <p:cNvPr id="11" name="Picture 10" descr="c_queryrow.png"/>
          <p:cNvPicPr>
            <a:picLocks noChangeAspect="1"/>
          </p:cNvPicPr>
          <p:nvPr/>
        </p:nvPicPr>
        <p:blipFill>
          <a:blip r:embed="rId2"/>
          <a:stretch>
            <a:fillRect/>
          </a:stretch>
        </p:blipFill>
        <p:spPr>
          <a:xfrm>
            <a:off x="812800" y="2120900"/>
            <a:ext cx="5277725" cy="2154015"/>
          </a:xfrm>
          <a:prstGeom prst="rect">
            <a:avLst/>
          </a:prstGeom>
        </p:spPr>
      </p:pic>
      <p:sp>
        <p:nvSpPr>
          <p:cNvPr id="12" name="Rounded Rectangle 11"/>
          <p:cNvSpPr/>
          <p:nvPr/>
        </p:nvSpPr>
        <p:spPr>
          <a:xfrm>
            <a:off x="8280400" y="1752600"/>
            <a:ext cx="3276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ROW AND NOT AN AVERAGE</a:t>
            </a:r>
          </a:p>
        </p:txBody>
      </p:sp>
      <p:sp>
        <p:nvSpPr>
          <p:cNvPr id="14" name="TextBox 13"/>
          <p:cNvSpPr txBox="1"/>
          <p:nvPr/>
        </p:nvSpPr>
        <p:spPr>
          <a:xfrm>
            <a:off x="8458200" y="2120900"/>
            <a:ext cx="2921000" cy="977900"/>
          </a:xfrm>
          <a:prstGeom prst="rect">
            <a:avLst/>
          </a:prstGeom>
          <a:noFill/>
        </p:spPr>
        <p:txBody>
          <a:bodyPr wrap="square" lIns="0" rIns="0" tIns="0" bIns="0">
            <a:spAutoFit/>
          </a:bodyPr>
          <a:lstStyle/>
          <a:p>
            <a:pPr marL="658749" indent="-658749">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Decision point:</a:t>
            </a:r>
            <a:r>
              <a:rPr sz="1050" b="0">
                <a:solidFill>
                  <a:srgbClr val="B9B9B9"/>
                </a:solidFill>
                <a:latin typeface="Inter"/>
                <a:cs typeface="Inter"/>
                <a:ea typeface="Inter"/>
              </a:rPr>
              <a:t> this is the position whose output becomes the first name token</a:t>
            </a:r>
          </a:p>
          <a:p>
            <a:pPr marL="554736" indent="-554736">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Sums to one:</a:t>
            </a:r>
            <a:r>
              <a:rPr sz="1050" b="0">
                <a:solidFill>
                  <a:srgbClr val="B9B9B9"/>
                </a:solidFill>
                <a:latin typeface="Inter"/>
                <a:cs typeface="Inter"/>
                <a:ea typeface="Inter"/>
              </a:rPr>
              <a:t> so span values are shares, not arbitrary magnitudes</a:t>
            </a:r>
          </a:p>
          <a:p>
            <a:pPr marL="381381" indent="-381381">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Stable:</a:t>
            </a:r>
            <a:r>
              <a:rPr sz="1050" b="0">
                <a:solidFill>
                  <a:srgbClr val="B9B9B9"/>
                </a:solidFill>
                <a:latin typeface="Inter"/>
                <a:cs typeface="Inter"/>
                <a:ea typeface="Inter"/>
              </a:rPr>
              <a:t> the same row is read in every condition, so conditions are comparable</a:t>
            </a:r>
          </a:p>
          <a:p>
            <a:pPr marL="520065" indent="-520065">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Limitation:</a:t>
            </a:r>
            <a:r>
              <a:rPr sz="1050" b="0">
                <a:solidFill>
                  <a:srgbClr val="B9B9B9"/>
                </a:solidFill>
                <a:latin typeface="Inter"/>
                <a:cs typeface="Inter"/>
                <a:ea typeface="Inter"/>
              </a:rPr>
              <a:t> later name tokens are not read — the study is about the first choice</a:t>
            </a:r>
          </a:p>
        </p:txBody>
      </p:sp>
      <p:sp>
        <p:nvSpPr>
          <p:cNvPr id="15" name="Rounded Rectangle 14"/>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A SPAN VALUE MEANS</a:t>
            </a:r>
          </a:p>
        </p:txBody>
      </p:sp>
      <p:sp>
        <p:nvSpPr>
          <p:cNvPr id="17" name="TextBox 1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span's value is “how much of this decision's attention went to this stretch of text”, per token of that stretch.</a:t>
            </a:r>
          </a:p>
        </p:txBody>
      </p:sp>
      <p:sp>
        <p:nvSpPr>
          <p:cNvPr id="18" name="TextBox 17"/>
          <p:cNvSpPr txBox="1"/>
          <p:nvPr/>
        </p:nvSpPr>
        <p:spPr>
          <a:xfrm>
            <a:off x="812800" y="5257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Because the row is a probability distribution, comparing two spans is comparing two shares of one fixed budget. That is what makes the instruction and the code names directly comparable without any further normalisation across 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KV cache: the surface we intervene 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Everything the model has already read is stored as two tensors per layer. That storage is where this study operates.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16</a:t>
            </a:r>
          </a:p>
        </p:txBody>
      </p:sp>
      <p:sp>
        <p:nvSpPr>
          <p:cNvPr id="8" name="Rounded Rectangle 7"/>
          <p:cNvSpPr/>
          <p:nvPr/>
        </p:nvSpPr>
        <p:spPr>
          <a:xfrm>
            <a:off x="635000" y="1752600"/>
            <a:ext cx="10922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CACHE STRUCTURE AND THE POSITIONS WE TOUCH</a:t>
            </a:r>
          </a:p>
        </p:txBody>
      </p:sp>
      <p:sp>
        <p:nvSpPr>
          <p:cNvPr id="10" name="TextBox 9"/>
          <p:cNvSpPr txBox="1"/>
          <p:nvPr/>
        </p:nvSpPr>
        <p:spPr>
          <a:xfrm>
            <a:off x="812800" y="4033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Sequence length, prompt text and token identities are unchanged by every intervention in this study.</a:t>
            </a:r>
          </a:p>
        </p:txBody>
      </p:sp>
      <p:pic>
        <p:nvPicPr>
          <p:cNvPr id="11" name="Picture 10" descr="c_kvcache.png"/>
          <p:cNvPicPr>
            <a:picLocks noChangeAspect="1"/>
          </p:cNvPicPr>
          <p:nvPr/>
        </p:nvPicPr>
        <p:blipFill>
          <a:blip r:embed="rId2"/>
          <a:stretch>
            <a:fillRect/>
          </a:stretch>
        </p:blipFill>
        <p:spPr>
          <a:xfrm>
            <a:off x="812800" y="2120900"/>
            <a:ext cx="4499793" cy="1836515"/>
          </a:xfrm>
          <a:prstGeom prst="rect">
            <a:avLst/>
          </a:prstGeom>
        </p:spPr>
      </p:pic>
      <p:sp>
        <p:nvSpPr>
          <p:cNvPr id="12" name="Rounded Rectangle 11"/>
          <p:cNvSpPr/>
          <p:nvPr/>
        </p:nvSpPr>
        <p:spPr>
          <a:xfrm>
            <a:off x="635000" y="4572000"/>
            <a:ext cx="5715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7498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AN INTERVENTION IS, EXACTLY</a:t>
            </a:r>
          </a:p>
        </p:txBody>
      </p:sp>
      <p:sp>
        <p:nvSpPr>
          <p:cNvPr id="14" name="TextBox 13"/>
          <p:cNvSpPr txBox="1"/>
          <p:nvPr/>
        </p:nvSpPr>
        <p:spPr>
          <a:xfrm>
            <a:off x="812800" y="4940300"/>
            <a:ext cx="5359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Run the prompt once, take the cache, replace selected slices of K and/or V, then continue the forward pass from that edited cache. Nothing about the text changes.</a:t>
            </a:r>
          </a:p>
        </p:txBody>
      </p:sp>
      <p:sp>
        <p:nvSpPr>
          <p:cNvPr id="15" name="Rounded Rectangle 14"/>
          <p:cNvSpPr/>
          <p:nvPr/>
        </p:nvSpPr>
        <p:spPr>
          <a:xfrm>
            <a:off x="6502400" y="4572000"/>
            <a:ext cx="50546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80200" y="47498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THAT BUYS</a:t>
            </a:r>
          </a:p>
        </p:txBody>
      </p:sp>
      <p:sp>
        <p:nvSpPr>
          <p:cNvPr id="17" name="TextBox 16"/>
          <p:cNvSpPr txBox="1"/>
          <p:nvPr/>
        </p:nvSpPr>
        <p:spPr>
          <a:xfrm>
            <a:off x="6680200" y="4940300"/>
            <a:ext cx="46990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Any behaviour change is attributable to the replaced content alone — not to a different prompt, a different length, or a different tokenisation.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Position lives in the Key, not the Value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Rotary embeddings are applied to keys before caching. This is a real asymmetry between the two roads, and we do not hide it.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17</a:t>
            </a:r>
          </a:p>
        </p:txBody>
      </p:sp>
      <p:sp>
        <p:nvSpPr>
          <p:cNvPr id="8" name="Rounded Rectangle 7"/>
          <p:cNvSpPr/>
          <p:nvPr/>
        </p:nvSpPr>
        <p:spPr>
          <a:xfrm>
            <a:off x="635000" y="1752600"/>
            <a:ext cx="10922000" cy="2286000"/>
          </a:xfrm>
          <a:prstGeom prst="roundRect">
            <a:avLst>
              <a:gd name="adj" fmla="val 3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WHERE THE ROTATION IS APPLIED</a:t>
            </a:r>
          </a:p>
        </p:txBody>
      </p:sp>
      <p:sp>
        <p:nvSpPr>
          <p:cNvPr id="10" name="TextBox 9"/>
          <p:cNvSpPr txBox="1"/>
          <p:nvPr/>
        </p:nvSpPr>
        <p:spPr>
          <a:xfrm>
            <a:off x="812800" y="3652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transplanted key carries a rotation that belongs to a different position; a transplanted value does not.</a:t>
            </a:r>
          </a:p>
        </p:txBody>
      </p:sp>
      <p:pic>
        <p:nvPicPr>
          <p:cNvPr id="11" name="Picture 10" descr="c_rope.png"/>
          <p:cNvPicPr>
            <a:picLocks noChangeAspect="1"/>
          </p:cNvPicPr>
          <p:nvPr/>
        </p:nvPicPr>
        <p:blipFill>
          <a:blip r:embed="rId2"/>
          <a:stretch>
            <a:fillRect/>
          </a:stretch>
        </p:blipFill>
        <p:spPr>
          <a:xfrm>
            <a:off x="812800" y="2120900"/>
            <a:ext cx="3960942" cy="1455515"/>
          </a:xfrm>
          <a:prstGeom prst="rect">
            <a:avLst/>
          </a:prstGeom>
        </p:spPr>
      </p:pic>
      <p:sp>
        <p:nvSpPr>
          <p:cNvPr id="12" name="Rounded Rectangle 11"/>
          <p:cNvSpPr/>
          <p:nvPr/>
        </p:nvSpPr>
        <p:spPr>
          <a:xfrm>
            <a:off x="635000" y="4191000"/>
            <a:ext cx="55880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368800"/>
            <a:ext cx="523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9 — THE ASYMMETRY</a:t>
            </a:r>
          </a:p>
        </p:txBody>
      </p:sp>
      <p:sp>
        <p:nvSpPr>
          <p:cNvPr id="14" name="TextBox 13"/>
          <p:cNvSpPr txBox="1"/>
          <p:nvPr/>
        </p:nvSpPr>
        <p:spPr>
          <a:xfrm>
            <a:off x="812800" y="5868765"/>
            <a:ext cx="523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 is the position-dependent rotation.</a:t>
            </a:r>
          </a:p>
        </p:txBody>
      </p:sp>
      <p:pic>
        <p:nvPicPr>
          <p:cNvPr id="15" name="Picture 14" descr="eq_rope.png"/>
          <p:cNvPicPr>
            <a:picLocks noChangeAspect="1"/>
          </p:cNvPicPr>
          <p:nvPr/>
        </p:nvPicPr>
        <p:blipFill>
          <a:blip r:embed="rId3"/>
          <a:stretch>
            <a:fillRect/>
          </a:stretch>
        </p:blipFill>
        <p:spPr>
          <a:xfrm>
            <a:off x="812800" y="4597400"/>
            <a:ext cx="3160219" cy="330200"/>
          </a:xfrm>
          <a:prstGeom prst="rect">
            <a:avLst/>
          </a:prstGeom>
        </p:spPr>
      </p:pic>
      <p:sp>
        <p:nvSpPr>
          <p:cNvPr id="16" name="Rounded Rectangle 15"/>
          <p:cNvSpPr/>
          <p:nvPr/>
        </p:nvSpPr>
        <p:spPr>
          <a:xfrm>
            <a:off x="6375400" y="4191000"/>
            <a:ext cx="51816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53200" y="4368800"/>
            <a:ext cx="482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WE HANDLE IT</a:t>
            </a:r>
          </a:p>
        </p:txBody>
      </p:sp>
      <p:sp>
        <p:nvSpPr>
          <p:cNvPr id="18" name="TextBox 17"/>
          <p:cNvSpPr txBox="1"/>
          <p:nvPr/>
        </p:nvSpPr>
        <p:spPr>
          <a:xfrm>
            <a:off x="6553200" y="5868765"/>
            <a:ext cx="4826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diagnostic step exists precisely because of this asymmetry.</a:t>
            </a:r>
          </a:p>
        </p:txBody>
      </p:sp>
      <p:sp>
        <p:nvSpPr>
          <p:cNvPr id="19" name="TextBox 18"/>
          <p:cNvSpPr txBox="1"/>
          <p:nvPr/>
        </p:nvSpPr>
        <p:spPr>
          <a:xfrm>
            <a:off x="6553200" y="4559300"/>
            <a:ext cx="48260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We never claim Values are position-free — deep-layer values are built from context and carry positional information indirectly. We claim only that the substitution does not damage Keys more than Values by norm, and we measure that.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Grouped-query attention: what one overwrite touches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Query heads outnumber key/value heads on two of the four models, so a substitution is inherently a group-level edit.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18</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GROUP LAYOUT PER MODEL</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Read from each model's configuration at load time, never assumed.</a:t>
            </a:r>
          </a:p>
        </p:txBody>
      </p:sp>
      <p:pic>
        <p:nvPicPr>
          <p:cNvPr id="11" name="Picture 10" descr="c_gqa.png"/>
          <p:cNvPicPr>
            <a:picLocks noChangeAspect="1"/>
          </p:cNvPicPr>
          <p:nvPr/>
        </p:nvPicPr>
        <p:blipFill>
          <a:blip r:embed="rId2"/>
          <a:stretch>
            <a:fillRect/>
          </a:stretch>
        </p:blipFill>
        <p:spPr>
          <a:xfrm>
            <a:off x="812800" y="2120900"/>
            <a:ext cx="4411025" cy="1709515"/>
          </a:xfrm>
          <a:prstGeom prst="rect">
            <a:avLst/>
          </a:prstGeom>
        </p:spPr>
      </p:pic>
      <p:sp>
        <p:nvSpPr>
          <p:cNvPr id="12" name="Rounded Rectangle 11"/>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IS A CORRECTNESS ISSUE, NOT A DETAIL</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Getting it wrong would edit eight heads on Qwen while the record claimed one.</a:t>
            </a:r>
          </a:p>
        </p:txBody>
      </p:sp>
      <p:sp>
        <p:nvSpPr>
          <p:cNvPr id="15" name="TextBox 14"/>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Because the cache stores one K and one V per group, replacing a slice necessarily affects every query head in that group. The intervention is therefore defined at group granularity, and the group size is part of what is stored with each result.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residual stream, and why it is not “Value steering”</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Each block adds to a running vector. Anything added at one layer is still present, transformed, at every later layer.</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19</a:t>
            </a:r>
          </a:p>
        </p:txBody>
      </p:sp>
      <p:sp>
        <p:nvSpPr>
          <p:cNvPr id="8" name="Rounded Rectangle 7"/>
          <p:cNvSpPr/>
          <p:nvPr/>
        </p:nvSpPr>
        <p:spPr>
          <a:xfrm>
            <a:off x="635000" y="1752600"/>
            <a:ext cx="10922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RUNNING VECTOR</a:t>
            </a:r>
          </a:p>
        </p:txBody>
      </p:sp>
      <p:sp>
        <p:nvSpPr>
          <p:cNvPr id="10" name="TextBox 9"/>
          <p:cNvSpPr txBox="1"/>
          <p:nvPr/>
        </p:nvSpPr>
        <p:spPr>
          <a:xfrm>
            <a:off x="812800" y="3525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This is why an edit at layer 20 is not confined to layer 20 — and not confined to one road.</a:t>
            </a:r>
          </a:p>
        </p:txBody>
      </p:sp>
      <p:pic>
        <p:nvPicPr>
          <p:cNvPr id="11" name="Picture 10" descr="c_residual.png"/>
          <p:cNvPicPr>
            <a:picLocks noChangeAspect="1"/>
          </p:cNvPicPr>
          <p:nvPr/>
        </p:nvPicPr>
        <p:blipFill>
          <a:blip r:embed="rId2"/>
          <a:stretch>
            <a:fillRect/>
          </a:stretch>
        </p:blipFill>
        <p:spPr>
          <a:xfrm>
            <a:off x="812800" y="2120900"/>
            <a:ext cx="3829802" cy="1328515"/>
          </a:xfrm>
          <a:prstGeom prst="rect">
            <a:avLst/>
          </a:prstGeom>
        </p:spPr>
      </p:pic>
      <p:sp>
        <p:nvSpPr>
          <p:cNvPr id="12" name="Rounded Rectangle 11"/>
          <p:cNvSpPr/>
          <p:nvPr/>
        </p:nvSpPr>
        <p:spPr>
          <a:xfrm>
            <a:off x="635000" y="4064000"/>
            <a:ext cx="5461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241800"/>
            <a:ext cx="5105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10 — A BLOCK'S CONTRIBUTION</a:t>
            </a:r>
          </a:p>
        </p:txBody>
      </p:sp>
      <p:pic>
        <p:nvPicPr>
          <p:cNvPr id="14" name="Picture 13" descr="eq_residual.png"/>
          <p:cNvPicPr>
            <a:picLocks noChangeAspect="1"/>
          </p:cNvPicPr>
          <p:nvPr/>
        </p:nvPicPr>
        <p:blipFill>
          <a:blip r:embed="rId3"/>
          <a:stretch>
            <a:fillRect/>
          </a:stretch>
        </p:blipFill>
        <p:spPr>
          <a:xfrm>
            <a:off x="812800" y="4495800"/>
            <a:ext cx="3529205" cy="317500"/>
          </a:xfrm>
          <a:prstGeom prst="rect">
            <a:avLst/>
          </a:prstGeom>
        </p:spPr>
      </p:pic>
      <p:sp>
        <p:nvSpPr>
          <p:cNvPr id="15" name="TextBox 14"/>
          <p:cNvSpPr txBox="1"/>
          <p:nvPr/>
        </p:nvSpPr>
        <p:spPr>
          <a:xfrm>
            <a:off x="812800" y="4940300"/>
            <a:ext cx="5105400" cy="1270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h  the residual stream at layer ℓ</a:t>
            </a:r>
          </a:p>
        </p:txBody>
      </p:sp>
      <p:sp>
        <p:nvSpPr>
          <p:cNvPr id="16" name="Rounded Rectangle 15"/>
          <p:cNvSpPr/>
          <p:nvPr/>
        </p:nvSpPr>
        <p:spPr>
          <a:xfrm>
            <a:off x="6248400" y="4064000"/>
            <a:ext cx="53086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26200" y="4241800"/>
            <a:ext cx="4953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NAMING DISCIPLINE</a:t>
            </a:r>
          </a:p>
        </p:txBody>
      </p:sp>
      <p:sp>
        <p:nvSpPr>
          <p:cNvPr id="18" name="TextBox 17"/>
          <p:cNvSpPr txBox="1"/>
          <p:nvPr/>
        </p:nvSpPr>
        <p:spPr>
          <a:xfrm>
            <a:off x="6426200" y="5868765"/>
            <a:ext cx="4953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cache intervention is Value-specific. The steering prescription is not.</a:t>
            </a:r>
          </a:p>
        </p:txBody>
      </p:sp>
      <p:sp>
        <p:nvSpPr>
          <p:cNvPr id="19" name="TextBox 18"/>
          <p:cNvSpPr txBox="1"/>
          <p:nvPr/>
        </p:nvSpPr>
        <p:spPr>
          <a:xfrm>
            <a:off x="6426200" y="4432300"/>
            <a:ext cx="4953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Step 6 adds a direction to the block output, so downstream layers recompute their own Q, K, V and FFN from it. Calling that “Value steering” would overstate what is being manipulated.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Log-probability and the preference score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score is a difference of two log-probabilities under teacher forcing. Its unit is the nat, and only differences are interpreted.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20</a:t>
            </a:r>
          </a:p>
        </p:txBody>
      </p:sp>
      <p:sp>
        <p:nvSpPr>
          <p:cNvPr id="8" name="Rounded Rectangle 7"/>
          <p:cNvSpPr/>
          <p:nvPr/>
        </p:nvSpPr>
        <p:spPr>
          <a:xfrm>
            <a:off x="635000" y="1752600"/>
            <a:ext cx="6350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11 — SEQUENCE LOG-PROBABILITY</a:t>
            </a:r>
          </a:p>
        </p:txBody>
      </p:sp>
      <p:sp>
        <p:nvSpPr>
          <p:cNvPr id="10" name="TextBox 9"/>
          <p:cNvSpPr txBox="1"/>
          <p:nvPr/>
        </p:nvSpPr>
        <p:spPr>
          <a:xfrm>
            <a:off x="812800" y="3525615"/>
            <a:ext cx="5994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sum over positions, each conditioned on everything before it.</a:t>
            </a:r>
          </a:p>
        </p:txBody>
      </p:sp>
      <p:pic>
        <p:nvPicPr>
          <p:cNvPr id="11" name="Picture 10" descr="eq_logp.png"/>
          <p:cNvPicPr>
            <a:picLocks noChangeAspect="1"/>
          </p:cNvPicPr>
          <p:nvPr/>
        </p:nvPicPr>
        <p:blipFill>
          <a:blip r:embed="rId2"/>
          <a:stretch>
            <a:fillRect/>
          </a:stretch>
        </p:blipFill>
        <p:spPr>
          <a:xfrm>
            <a:off x="812800" y="2273300"/>
            <a:ext cx="2135178" cy="419100"/>
          </a:xfrm>
          <a:prstGeom prst="rect">
            <a:avLst/>
          </a:prstGeom>
        </p:spPr>
      </p:pic>
      <p:sp>
        <p:nvSpPr>
          <p:cNvPr id="12" name="Rounded Rectangle 11"/>
          <p:cNvSpPr/>
          <p:nvPr/>
        </p:nvSpPr>
        <p:spPr>
          <a:xfrm>
            <a:off x="7137400" y="1752600"/>
            <a:ext cx="44196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0" y="19304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READING A LOG-PROBABILITY</a:t>
            </a:r>
          </a:p>
        </p:txBody>
      </p:sp>
      <p:sp>
        <p:nvSpPr>
          <p:cNvPr id="14" name="TextBox 13"/>
          <p:cNvSpPr txBox="1"/>
          <p:nvPr/>
        </p:nvSpPr>
        <p:spPr>
          <a:xfrm>
            <a:off x="7315200" y="2120900"/>
            <a:ext cx="4064000" cy="939800"/>
          </a:xfrm>
          <a:prstGeom prst="rect">
            <a:avLst/>
          </a:prstGeom>
          <a:noFill/>
        </p:spPr>
        <p:txBody>
          <a:bodyPr wrap="square" lIns="0" rIns="0" tIns="0" bIns="0">
            <a:spAutoFit/>
          </a:bodyPr>
          <a:lstStyle/>
          <a:p>
            <a:pPr marL="693420" indent="-69342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Always negative:</a:t>
            </a:r>
            <a:r>
              <a:rPr sz="1050" b="0">
                <a:solidFill>
                  <a:srgbClr val="B9B9B9"/>
                </a:solidFill>
                <a:latin typeface="Inter"/>
                <a:cs typeface="Inter"/>
                <a:ea typeface="Inter"/>
              </a:rPr>
              <a:t> probabilities are below 1, so their logs are below 0</a:t>
            </a:r>
          </a:p>
          <a:p>
            <a:pPr marL="658749" indent="-65874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Closer to zero:</a:t>
            </a:r>
            <a:r>
              <a:rPr sz="1050" b="0">
                <a:solidFill>
                  <a:srgbClr val="B9B9B9"/>
                </a:solidFill>
                <a:latin typeface="Inter"/>
                <a:cs typeface="Inter"/>
                <a:ea typeface="Inter"/>
              </a:rPr>
              <a:t> means the model finds the string more likely</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Additive:</a:t>
            </a:r>
            <a:r>
              <a:rPr sz="1050" b="0">
                <a:solidFill>
                  <a:srgbClr val="B9B9B9"/>
                </a:solidFill>
                <a:latin typeface="Inter"/>
                <a:cs typeface="Inter"/>
                <a:ea typeface="Inter"/>
              </a:rPr>
              <a:t> so a sequence's score is the sum of its tokens' scores</a:t>
            </a:r>
          </a:p>
        </p:txBody>
      </p:sp>
      <p:sp>
        <p:nvSpPr>
          <p:cNvPr id="15" name="Rounded Rectangle 14"/>
          <p:cNvSpPr/>
          <p:nvPr/>
        </p:nvSpPr>
        <p:spPr>
          <a:xfrm>
            <a:off x="635000" y="4064000"/>
            <a:ext cx="10922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2800" y="4241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12 — THE PREFERENCE SCORE USED THROUGHOUT</a:t>
            </a:r>
          </a:p>
        </p:txBody>
      </p:sp>
      <p:sp>
        <p:nvSpPr>
          <p:cNvPr id="17" name="TextBox 1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Positive means the model prefers camelCase; negative means it prefers snake_case. Zero is genuine indifference.</a:t>
            </a:r>
          </a:p>
        </p:txBody>
      </p:sp>
      <p:pic>
        <p:nvPicPr>
          <p:cNvPr id="18" name="Picture 17" descr="eq_score.png"/>
          <p:cNvPicPr>
            <a:picLocks noChangeAspect="1"/>
          </p:cNvPicPr>
          <p:nvPr/>
        </p:nvPicPr>
        <p:blipFill>
          <a:blip r:embed="rId3"/>
          <a:stretch>
            <a:fillRect/>
          </a:stretch>
        </p:blipFill>
        <p:spPr>
          <a:xfrm>
            <a:off x="812800" y="4470400"/>
            <a:ext cx="4659065" cy="330200"/>
          </a:xfrm>
          <a:prstGeom prst="rect">
            <a:avLst/>
          </a:prstGeom>
        </p:spPr>
      </p:pic>
      <p:sp>
        <p:nvSpPr>
          <p:cNvPr id="19" name="TextBox 18"/>
          <p:cNvSpPr txBox="1"/>
          <p:nvPr/>
        </p:nvSpPr>
        <p:spPr>
          <a:xfrm>
            <a:off x="812800" y="49657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No length normalisation is applied. The two candidate strings are the notation forms of the same name, so their token counts are close but not identical — dividing by length would introduce a different distortion rather than remove 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Teacher forcing and the forced prefix</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score is read at one position, with the same prefix in every condition, so conditions differ only where we intend them to.</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21</a:t>
            </a:r>
          </a:p>
        </p:txBody>
      </p:sp>
      <p:sp>
        <p:nvSpPr>
          <p:cNvPr id="8" name="Rounded Rectangle 7"/>
          <p:cNvSpPr/>
          <p:nvPr/>
        </p:nvSpPr>
        <p:spPr>
          <a:xfrm>
            <a:off x="635000" y="1752600"/>
            <a:ext cx="5969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613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PROCEDURE</a:t>
            </a:r>
          </a:p>
        </p:txBody>
      </p:sp>
      <p:sp>
        <p:nvSpPr>
          <p:cNvPr id="10" name="Rounded Rectangle 9"/>
          <p:cNvSpPr/>
          <p:nvPr/>
        </p:nvSpPr>
        <p:spPr>
          <a:xfrm>
            <a:off x="812800" y="2120900"/>
            <a:ext cx="5613400" cy="2120900"/>
          </a:xfrm>
          <a:prstGeom prst="roundRect">
            <a:avLst>
              <a:gd name="adj" fmla="val 1796"/>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5384800" cy="174942"/>
          </a:xfrm>
          <a:prstGeom prst="rect">
            <a:avLst/>
          </a:prstGeom>
          <a:noFill/>
        </p:spPr>
        <p:txBody>
          <a:bodyPr wrap="square" lIns="0" rIns="0" tIns="0" bIns="0" anchor="t">
            <a:spAutoFit/>
          </a:bodyPr>
          <a:lstStyle/>
          <a:p>
            <a:pPr algn="l"/>
            <a:r>
              <a:rPr sz="950" b="0">
                <a:solidFill>
                  <a:srgbClr val="797979"/>
                </a:solidFill>
                <a:latin typeface="IBM Plex Mono"/>
                <a:cs typeface="IBM Plex Mono"/>
                <a:ea typeface="IBM Plex Mono"/>
              </a:rPr>
              <a:t># the model is not asked to generate here</a:t>
            </a:r>
          </a:p>
        </p:txBody>
      </p:sp>
      <p:sp>
        <p:nvSpPr>
          <p:cNvPr id="12" name="TextBox 11"/>
          <p:cNvSpPr txBox="1"/>
          <p:nvPr/>
        </p:nvSpPr>
        <p:spPr>
          <a:xfrm>
            <a:off x="927100" y="2384742"/>
            <a:ext cx="5384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prompt = system + preceding_code + request</a:t>
            </a:r>
          </a:p>
        </p:txBody>
      </p:sp>
      <p:sp>
        <p:nvSpPr>
          <p:cNvPr id="13" name="TextBox 12"/>
          <p:cNvSpPr txBox="1"/>
          <p:nvPr/>
        </p:nvSpPr>
        <p:spPr>
          <a:xfrm>
            <a:off x="927100" y="2559685"/>
            <a:ext cx="5384800" cy="174942"/>
          </a:xfrm>
          <a:prstGeom prst="rect">
            <a:avLst/>
          </a:prstGeom>
          <a:noFill/>
        </p:spPr>
        <p:txBody>
          <a:bodyPr wrap="square" lIns="0" rIns="0" tIns="0" bIns="0" anchor="t">
            <a:spAutoFit/>
          </a:bodyPr>
          <a:lstStyle/>
          <a:p>
            <a:pPr algn="l"/>
            <a:r>
              <a:rPr sz="950" b="0">
                <a:solidFill>
                  <a:srgbClr val="D97757"/>
                </a:solidFill>
                <a:latin typeface="IBM Plex Mono"/>
                <a:cs typeface="IBM Plex Mono"/>
                <a:ea typeface="IBM Plex Mono"/>
              </a:rPr>
              <a:t>prefix = "def "                    # forced, identical everywhere</a:t>
            </a:r>
          </a:p>
        </p:txBody>
      </p:sp>
      <p:sp>
        <p:nvSpPr>
          <p:cNvPr id="14" name="TextBox 13"/>
          <p:cNvSpPr txBox="1"/>
          <p:nvPr/>
        </p:nvSpPr>
        <p:spPr>
          <a:xfrm>
            <a:off x="927100" y="2734628"/>
            <a:ext cx="5384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a:r>
          </a:p>
        </p:txBody>
      </p:sp>
      <p:sp>
        <p:nvSpPr>
          <p:cNvPr id="15" name="TextBox 14"/>
          <p:cNvSpPr txBox="1"/>
          <p:nvPr/>
        </p:nvSpPr>
        <p:spPr>
          <a:xfrm>
            <a:off x="927100" y="2909570"/>
            <a:ext cx="5384800" cy="174942"/>
          </a:xfrm>
          <a:prstGeom prst="rect">
            <a:avLst/>
          </a:prstGeom>
          <a:noFill/>
        </p:spPr>
        <p:txBody>
          <a:bodyPr wrap="square" lIns="0" rIns="0" tIns="0" bIns="0" anchor="t">
            <a:spAutoFit/>
          </a:bodyPr>
          <a:lstStyle/>
          <a:p>
            <a:pPr algn="l"/>
            <a:r>
              <a:rPr sz="950" b="0">
                <a:solidFill>
                  <a:srgbClr val="797979"/>
                </a:solidFill>
                <a:latin typeface="IBM Plex Mono"/>
                <a:cs typeface="IBM Plex Mono"/>
                <a:ea typeface="IBM Plex Mono"/>
              </a:rPr>
              <a:t># one forward pass; read the distribution at the next position</a:t>
            </a:r>
          </a:p>
        </p:txBody>
      </p:sp>
      <p:sp>
        <p:nvSpPr>
          <p:cNvPr id="16" name="TextBox 15"/>
          <p:cNvSpPr txBox="1"/>
          <p:nvPr/>
        </p:nvSpPr>
        <p:spPr>
          <a:xfrm>
            <a:off x="927100" y="3084512"/>
            <a:ext cx="5384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logits = model(prompt + prefix).logits[:, -1]</a:t>
            </a:r>
          </a:p>
        </p:txBody>
      </p:sp>
      <p:sp>
        <p:nvSpPr>
          <p:cNvPr id="17" name="TextBox 16"/>
          <p:cNvSpPr txBox="1"/>
          <p:nvPr/>
        </p:nvSpPr>
        <p:spPr>
          <a:xfrm>
            <a:off x="927100" y="3259455"/>
            <a:ext cx="5384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a:r>
          </a:p>
        </p:txBody>
      </p:sp>
      <p:sp>
        <p:nvSpPr>
          <p:cNvPr id="18" name="TextBox 17"/>
          <p:cNvSpPr txBox="1"/>
          <p:nvPr/>
        </p:nvSpPr>
        <p:spPr>
          <a:xfrm>
            <a:off x="927100" y="3434398"/>
            <a:ext cx="5384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S = logprob(camel_form) - logprob(snake_form)</a:t>
            </a:r>
          </a:p>
        </p:txBody>
      </p:sp>
      <p:sp>
        <p:nvSpPr>
          <p:cNvPr id="19" name="TextBox 18"/>
          <p:cNvSpPr txBox="1"/>
          <p:nvPr/>
        </p:nvSpPr>
        <p:spPr>
          <a:xfrm>
            <a:off x="927100" y="3609340"/>
            <a:ext cx="5384800" cy="174942"/>
          </a:xfrm>
          <a:prstGeom prst="rect">
            <a:avLst/>
          </a:prstGeom>
          <a:noFill/>
        </p:spPr>
        <p:txBody>
          <a:bodyPr wrap="square" lIns="0" rIns="0" tIns="0" bIns="0" anchor="t">
            <a:spAutoFit/>
          </a:bodyPr>
          <a:lstStyle/>
          <a:p>
            <a:pPr algn="l"/>
            <a:r>
              <a:rPr sz="950" b="0">
                <a:solidFill>
                  <a:srgbClr val="797979"/>
                </a:solidFill>
                <a:latin typeface="IBM Plex Mono"/>
                <a:cs typeface="IBM Plex Mono"/>
                <a:ea typeface="IBM Plex Mono"/>
              </a:rPr>
              <a:t>#   &gt; 0  prefers camelCase      &lt; 0  prefers snake_case</a:t>
            </a:r>
          </a:p>
        </p:txBody>
      </p:sp>
      <p:sp>
        <p:nvSpPr>
          <p:cNvPr id="20" name="Rounded Rectangle 19"/>
          <p:cNvSpPr/>
          <p:nvPr/>
        </p:nvSpPr>
        <p:spPr>
          <a:xfrm>
            <a:off x="6756400" y="1752600"/>
            <a:ext cx="48006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34200" y="1930400"/>
            <a:ext cx="4445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FORCE A PREFIX AT ALL</a:t>
            </a:r>
          </a:p>
        </p:txBody>
      </p:sp>
      <p:sp>
        <p:nvSpPr>
          <p:cNvPr id="22" name="TextBox 21"/>
          <p:cNvSpPr txBox="1"/>
          <p:nvPr/>
        </p:nvSpPr>
        <p:spPr>
          <a:xfrm>
            <a:off x="6934200" y="3850831"/>
            <a:ext cx="4445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Without it, the model could answer in prose and the comparison would never happen.</a:t>
            </a:r>
          </a:p>
        </p:txBody>
      </p:sp>
      <p:sp>
        <p:nvSpPr>
          <p:cNvPr id="23" name="TextBox 22"/>
          <p:cNvSpPr txBox="1"/>
          <p:nvPr/>
        </p:nvSpPr>
        <p:spPr>
          <a:xfrm>
            <a:off x="6934200" y="2120900"/>
            <a:ext cx="4445000" cy="939800"/>
          </a:xfrm>
          <a:prstGeom prst="rect">
            <a:avLst/>
          </a:prstGeom>
          <a:noFill/>
        </p:spPr>
        <p:txBody>
          <a:bodyPr wrap="square" lIns="0" rIns="0" tIns="0" bIns="0">
            <a:spAutoFit/>
          </a:bodyPr>
          <a:lstStyle/>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Same position:</a:t>
            </a:r>
            <a:r>
              <a:rPr sz="1050" b="0">
                <a:solidFill>
                  <a:srgbClr val="B9B9B9"/>
                </a:solidFill>
                <a:latin typeface="Inter"/>
                <a:cs typeface="Inter"/>
                <a:ea typeface="Inter"/>
              </a:rPr>
              <a:t> the score is always read at the same point in the sequence</a:t>
            </a:r>
          </a:p>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Same context:</a:t>
            </a:r>
            <a:r>
              <a:rPr sz="1050" b="0">
                <a:solidFill>
                  <a:srgbClr val="B9B9B9"/>
                </a:solidFill>
                <a:latin typeface="Inter"/>
                <a:cs typeface="Inter"/>
                <a:ea typeface="Inter"/>
              </a:rPr>
              <a:t> differences come from the manipulation, not from what the model chose to write</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No sampling:</a:t>
            </a:r>
            <a:r>
              <a:rPr sz="1050" b="0">
                <a:solidFill>
                  <a:srgbClr val="B9B9B9"/>
                </a:solidFill>
                <a:latin typeface="Inter"/>
                <a:cs typeface="Inter"/>
                <a:ea typeface="Inter"/>
              </a:rPr>
              <a:t> no seed-dependent generation noise enters the measurement</a:t>
            </a:r>
          </a:p>
        </p:txBody>
      </p:sp>
      <p:sp>
        <p:nvSpPr>
          <p:cNvPr id="24" name="Rounded Rectangle 23"/>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TRADE THIS MAKES</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Step 1 and step 6's generation check exist to cover exactly this gap.</a:t>
            </a:r>
          </a:p>
        </p:txBody>
      </p:sp>
      <p:sp>
        <p:nvSpPr>
          <p:cNvPr id="27" name="TextBox 26"/>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Teacher forcing measures preference, not behaviour. A model can prefer the right notation and still emit the wrong one. That is why the preference-based steps are always paired with a step that actually generates a name and inspects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Mean-pool substitution: what actually gets written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Donor pieces are averaged into one vector, which is then written into every target slot.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22</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OPERATION</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Tokenizer-independent by construction: no name is ever skipped for having the wrong number of pieces.</a:t>
            </a:r>
          </a:p>
        </p:txBody>
      </p:sp>
      <p:pic>
        <p:nvPicPr>
          <p:cNvPr id="11" name="Picture 10" descr="h_meanpool.png"/>
          <p:cNvPicPr>
            <a:picLocks noChangeAspect="1"/>
          </p:cNvPicPr>
          <p:nvPr/>
        </p:nvPicPr>
        <p:blipFill>
          <a:blip r:embed="rId2"/>
          <a:stretch>
            <a:fillRect/>
          </a:stretch>
        </p:blipFill>
        <p:spPr>
          <a:xfrm>
            <a:off x="812800" y="2120900"/>
            <a:ext cx="4274814" cy="1709515"/>
          </a:xfrm>
          <a:prstGeom prst="rect">
            <a:avLst/>
          </a:prstGeom>
        </p:spPr>
      </p:pic>
      <p:sp>
        <p:nvSpPr>
          <p:cNvPr id="12" name="Rounded Rectangle 11"/>
          <p:cNvSpPr/>
          <p:nvPr/>
        </p:nvSpPr>
        <p:spPr>
          <a:xfrm>
            <a:off x="635000" y="4445000"/>
            <a:ext cx="5715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13 — THE SUBSTITUTION</a:t>
            </a:r>
          </a:p>
        </p:txBody>
      </p:sp>
      <p:pic>
        <p:nvPicPr>
          <p:cNvPr id="14" name="Picture 13" descr="eq_meanpool.png"/>
          <p:cNvPicPr>
            <a:picLocks noChangeAspect="1"/>
          </p:cNvPicPr>
          <p:nvPr/>
        </p:nvPicPr>
        <p:blipFill>
          <a:blip r:embed="rId3"/>
          <a:stretch>
            <a:fillRect/>
          </a:stretch>
        </p:blipFill>
        <p:spPr>
          <a:xfrm>
            <a:off x="812800" y="4851400"/>
            <a:ext cx="2277051" cy="342900"/>
          </a:xfrm>
          <a:prstGeom prst="rect">
            <a:avLst/>
          </a:prstGeom>
        </p:spPr>
      </p:pic>
      <p:sp>
        <p:nvSpPr>
          <p:cNvPr id="15" name="Rounded Rectangle 14"/>
          <p:cNvSpPr/>
          <p:nvPr/>
        </p:nvSpPr>
        <p:spPr>
          <a:xfrm>
            <a:off x="6502400" y="4445000"/>
            <a:ext cx="50546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80200" y="46228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COST, STATED UP FRONT</a:t>
            </a:r>
          </a:p>
        </p:txBody>
      </p:sp>
      <p:sp>
        <p:nvSpPr>
          <p:cNvPr id="17" name="TextBox 16"/>
          <p:cNvSpPr txBox="1"/>
          <p:nvPr/>
        </p:nvSpPr>
        <p:spPr>
          <a:xfrm>
            <a:off x="6680200" y="5868765"/>
            <a:ext cx="4699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This is the single reason controls are mandatory in this study.</a:t>
            </a:r>
          </a:p>
        </p:txBody>
      </p:sp>
      <p:sp>
        <p:nvSpPr>
          <p:cNvPr id="18" name="TextBox 17"/>
          <p:cNvSpPr txBox="1"/>
          <p:nvPr/>
        </p:nvSpPr>
        <p:spPr>
          <a:xfrm>
            <a:off x="6680200" y="4813300"/>
            <a:ext cx="4699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Mean-pooling inserts new content and destroys the original in the same stroke. The raw effect therefore contains both. Only the difference against a control isolates the part attributable to notation.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Donors: the vocabulary of every intervention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 donor is the source of the values written in. Choosing donors well is what turns an intervention into a controlled comparison.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23</a:t>
            </a:r>
          </a:p>
        </p:txBody>
      </p:sp>
      <p:sp>
        <p:nvSpPr>
          <p:cNvPr id="8" name="Rounded Rectangle 7"/>
          <p:cNvSpPr/>
          <p:nvPr/>
        </p:nvSpPr>
        <p:spPr>
          <a:xfrm>
            <a:off x="635000" y="1752600"/>
            <a:ext cx="10922000" cy="2095500"/>
          </a:xfrm>
          <a:prstGeom prst="roundRect">
            <a:avLst>
              <a:gd name="adj" fmla="val 363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CODE DONORS</a:t>
            </a:r>
          </a:p>
        </p:txBody>
      </p:sp>
      <p:sp>
        <p:nvSpPr>
          <p:cNvPr id="10" name="TextBox 9"/>
          <p:cNvSpPr txBox="1"/>
          <p:nvPr/>
        </p:nvSpPr>
        <p:spPr>
          <a:xfrm>
            <a:off x="812800" y="34621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paired estimand compares two donors that differ in notation and in nothing else.</a:t>
            </a:r>
          </a:p>
        </p:txBody>
      </p:sp>
      <p:pic>
        <p:nvPicPr>
          <p:cNvPr id="11" name="Picture 10" descr="s3_donors.png"/>
          <p:cNvPicPr>
            <a:picLocks noChangeAspect="1"/>
          </p:cNvPicPr>
          <p:nvPr/>
        </p:nvPicPr>
        <p:blipFill>
          <a:blip r:embed="rId2"/>
          <a:stretch>
            <a:fillRect/>
          </a:stretch>
        </p:blipFill>
        <p:spPr>
          <a:xfrm>
            <a:off x="812800" y="2120900"/>
            <a:ext cx="3163297" cy="1265015"/>
          </a:xfrm>
          <a:prstGeom prst="rect">
            <a:avLst/>
          </a:prstGeom>
        </p:spPr>
      </p:pic>
      <p:sp>
        <p:nvSpPr>
          <p:cNvPr id="12" name="Rounded Rectangle 11"/>
          <p:cNvSpPr/>
          <p:nvPr/>
        </p:nvSpPr>
        <p:spPr>
          <a:xfrm>
            <a:off x="635000" y="4000500"/>
            <a:ext cx="10922000" cy="2254250"/>
          </a:xfrm>
          <a:prstGeom prst="roundRect">
            <a:avLst>
              <a:gd name="adj" fmla="val 338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178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INSTRUCTION DONORS</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Two controls, not one: an identity-ish donor and a semantically unrelated one bracket the disturbance from both sides.</a:t>
            </a:r>
          </a:p>
        </p:txBody>
      </p:sp>
      <p:sp>
        <p:nvSpPr>
          <p:cNvPr id="15" name="TextBox 14"/>
          <p:cNvSpPr txBox="1"/>
          <p:nvPr/>
        </p:nvSpPr>
        <p:spPr>
          <a:xfrm>
            <a:off x="812800" y="4432300"/>
            <a:ext cx="245730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DONOR</a:t>
            </a:r>
          </a:p>
        </p:txBody>
      </p:sp>
      <p:sp>
        <p:nvSpPr>
          <p:cNvPr id="16" name="TextBox 15"/>
          <p:cNvSpPr txBox="1"/>
          <p:nvPr/>
        </p:nvSpPr>
        <p:spPr>
          <a:xfrm>
            <a:off x="3270102" y="4432300"/>
            <a:ext cx="4668874"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IT WRITES</a:t>
            </a:r>
          </a:p>
        </p:txBody>
      </p:sp>
      <p:sp>
        <p:nvSpPr>
          <p:cNvPr id="17" name="TextBox 16"/>
          <p:cNvSpPr txBox="1"/>
          <p:nvPr/>
        </p:nvSpPr>
        <p:spPr>
          <a:xfrm>
            <a:off x="7938977" y="4432300"/>
            <a:ext cx="3440223"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ROLE</a:t>
            </a:r>
          </a:p>
        </p:txBody>
      </p:sp>
      <p:sp>
        <p:nvSpPr>
          <p:cNvPr id="18" name="Rectangle 17"/>
          <p:cNvSpPr/>
          <p:nvPr/>
        </p:nvSpPr>
        <p:spPr>
          <a:xfrm>
            <a:off x="812800" y="45847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4686300"/>
            <a:ext cx="2292202" cy="37722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opposite</a:t>
            </a:r>
          </a:p>
        </p:txBody>
      </p:sp>
      <p:sp>
        <p:nvSpPr>
          <p:cNvPr id="20" name="TextBox 19"/>
          <p:cNvSpPr txBox="1"/>
          <p:nvPr/>
        </p:nvSpPr>
        <p:spPr>
          <a:xfrm>
            <a:off x="3270102" y="4686300"/>
            <a:ext cx="4503774" cy="37722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directive word from the opposite instruction</a:t>
            </a:r>
          </a:p>
        </p:txBody>
      </p:sp>
      <p:sp>
        <p:nvSpPr>
          <p:cNvPr id="21" name="TextBox 20"/>
          <p:cNvSpPr txBox="1"/>
          <p:nvPr/>
        </p:nvSpPr>
        <p:spPr>
          <a:xfrm>
            <a:off x="7938977" y="4686300"/>
            <a:ext cx="3275123" cy="37722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treatment</a:t>
            </a:r>
          </a:p>
        </p:txBody>
      </p:sp>
      <p:sp>
        <p:nvSpPr>
          <p:cNvPr id="22" name="Rectangle 21"/>
          <p:cNvSpPr/>
          <p:nvPr/>
        </p:nvSpPr>
        <p:spPr>
          <a:xfrm>
            <a:off x="812800" y="5000022"/>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800" y="5063522"/>
            <a:ext cx="2292202" cy="37722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self</a:t>
            </a:r>
          </a:p>
        </p:txBody>
      </p:sp>
      <p:sp>
        <p:nvSpPr>
          <p:cNvPr id="24" name="TextBox 23"/>
          <p:cNvSpPr txBox="1"/>
          <p:nvPr/>
        </p:nvSpPr>
        <p:spPr>
          <a:xfrm>
            <a:off x="3270102" y="5063522"/>
            <a:ext cx="4503774" cy="37722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same directive word from the same instruction</a:t>
            </a:r>
          </a:p>
        </p:txBody>
      </p:sp>
      <p:sp>
        <p:nvSpPr>
          <p:cNvPr id="25" name="TextBox 24"/>
          <p:cNvSpPr txBox="1"/>
          <p:nvPr/>
        </p:nvSpPr>
        <p:spPr>
          <a:xfrm>
            <a:off x="7938977" y="5063522"/>
            <a:ext cx="3275123" cy="37722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control — zero new information</a:t>
            </a:r>
          </a:p>
        </p:txBody>
      </p:sp>
      <p:sp>
        <p:nvSpPr>
          <p:cNvPr id="26" name="Rectangle 25"/>
          <p:cNvSpPr/>
          <p:nvPr/>
        </p:nvSpPr>
        <p:spPr>
          <a:xfrm>
            <a:off x="812800" y="5377244"/>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800" y="5440744"/>
            <a:ext cx="2292202" cy="37722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unrelated_word</a:t>
            </a:r>
          </a:p>
        </p:txBody>
      </p:sp>
      <p:sp>
        <p:nvSpPr>
          <p:cNvPr id="28" name="TextBox 27"/>
          <p:cNvSpPr txBox="1"/>
          <p:nvPr/>
        </p:nvSpPr>
        <p:spPr>
          <a:xfrm>
            <a:off x="3270102" y="5440744"/>
            <a:ext cx="4503774" cy="37722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an unrelated word from the same instruction</a:t>
            </a:r>
          </a:p>
        </p:txBody>
      </p:sp>
      <p:sp>
        <p:nvSpPr>
          <p:cNvPr id="29" name="TextBox 28"/>
          <p:cNvSpPr txBox="1"/>
          <p:nvPr/>
        </p:nvSpPr>
        <p:spPr>
          <a:xfrm>
            <a:off x="7938977" y="5440744"/>
            <a:ext cx="3275123" cy="37722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control — unrelated content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02 · CONCEPTS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bubble, and the number we actually report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control's value is not noise. It is the measurable disturbance of the act of overwriting.</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02 · Concepts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24</a:t>
            </a:r>
          </a:p>
        </p:txBody>
      </p:sp>
      <p:sp>
        <p:nvSpPr>
          <p:cNvPr id="8" name="Rounded Rectangle 7"/>
          <p:cNvSpPr/>
          <p:nvPr/>
        </p:nvSpPr>
        <p:spPr>
          <a:xfrm>
            <a:off x="635000" y="1752600"/>
            <a:ext cx="7112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RAW, BUBBLE, NET</a:t>
            </a:r>
          </a:p>
        </p:txBody>
      </p:sp>
      <p:sp>
        <p:nvSpPr>
          <p:cNvPr id="10" name="TextBox 9"/>
          <p:cNvSpPr txBox="1"/>
          <p:nvPr/>
        </p:nvSpPr>
        <p:spPr>
          <a:xfrm>
            <a:off x="812800" y="4097115"/>
            <a:ext cx="675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Reading the raw curve alone would overstate every effect in this study by roughly a factor of two.</a:t>
            </a:r>
          </a:p>
        </p:txBody>
      </p:sp>
      <p:sp>
        <p:nvSpPr>
          <p:cNvPr id="11" name="Rounded Rectangle 10"/>
          <p:cNvSpPr/>
          <p:nvPr/>
        </p:nvSpPr>
        <p:spPr>
          <a:xfrm>
            <a:off x="1900615" y="2120900"/>
            <a:ext cx="4580771" cy="1900015"/>
          </a:xfrm>
          <a:prstGeom prst="roundRect">
            <a:avLst>
              <a:gd name="adj" fmla="val 401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3__explain_bubble.png"/>
          <p:cNvPicPr>
            <a:picLocks noChangeAspect="1"/>
          </p:cNvPicPr>
          <p:nvPr/>
        </p:nvPicPr>
        <p:blipFill>
          <a:blip r:embed="rId2"/>
          <a:stretch>
            <a:fillRect/>
          </a:stretch>
        </p:blipFill>
        <p:spPr>
          <a:xfrm>
            <a:off x="1976815" y="2197100"/>
            <a:ext cx="4428371" cy="1747615"/>
          </a:xfrm>
          <a:prstGeom prst="rect">
            <a:avLst/>
          </a:prstGeom>
        </p:spPr>
      </p:pic>
      <p:sp>
        <p:nvSpPr>
          <p:cNvPr id="13" name="Rounded Rectangle 12"/>
          <p:cNvSpPr/>
          <p:nvPr/>
        </p:nvSpPr>
        <p:spPr>
          <a:xfrm>
            <a:off x="7899400" y="1752600"/>
            <a:ext cx="3657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77200" y="19304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14 — PAIRED NET EFFECT</a:t>
            </a:r>
          </a:p>
        </p:txBody>
      </p:sp>
      <p:sp>
        <p:nvSpPr>
          <p:cNvPr id="15" name="TextBox 14"/>
          <p:cNvSpPr txBox="1"/>
          <p:nvPr/>
        </p:nvSpPr>
        <p:spPr>
          <a:xfrm>
            <a:off x="8077200" y="4097115"/>
            <a:ext cx="3302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Paired within a block, then averaged over blocks.</a:t>
            </a:r>
          </a:p>
        </p:txBody>
      </p:sp>
      <p:pic>
        <p:nvPicPr>
          <p:cNvPr id="16" name="Picture 15" descr="eq_net.png"/>
          <p:cNvPicPr>
            <a:picLocks noChangeAspect="1"/>
          </p:cNvPicPr>
          <p:nvPr/>
        </p:nvPicPr>
        <p:blipFill>
          <a:blip r:embed="rId3"/>
          <a:stretch>
            <a:fillRect/>
          </a:stretch>
        </p:blipFill>
        <p:spPr>
          <a:xfrm>
            <a:off x="8077200" y="2159000"/>
            <a:ext cx="3478491" cy="342900"/>
          </a:xfrm>
          <a:prstGeom prst="rect">
            <a:avLst/>
          </a:prstGeom>
        </p:spPr>
      </p:pic>
      <p:sp>
        <p:nvSpPr>
          <p:cNvPr id="17" name="TextBox 16"/>
          <p:cNvSpPr txBox="1"/>
          <p:nvPr/>
        </p:nvSpPr>
        <p:spPr>
          <a:xfrm>
            <a:off x="8077200" y="2705100"/>
            <a:ext cx="3302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Pairing matters: blocks differ in difficulty, and taking the difference first removes that variation before the confidence interval is computed.</a:t>
            </a:r>
          </a:p>
        </p:txBody>
      </p:sp>
      <p:sp>
        <p:nvSpPr>
          <p:cNvPr id="18" name="Rounded Rectangle 17"/>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LARGE THE BUBBLE IS, IN PRACTICE</a:t>
            </a:r>
          </a:p>
        </p:txBody>
      </p:sp>
      <p:sp>
        <p:nvSpPr>
          <p:cNvPr id="20" name="TextBox 1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Measured at each model's peak layer in step 3, on the Value road.</a:t>
            </a:r>
          </a:p>
        </p:txBody>
      </p:sp>
      <p:sp>
        <p:nvSpPr>
          <p:cNvPr id="21" name="TextBox 20"/>
          <p:cNvSpPr txBox="1"/>
          <p:nvPr/>
        </p:nvSpPr>
        <p:spPr>
          <a:xfrm>
            <a:off x="8128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49%</a:t>
            </a:r>
          </a:p>
        </p:txBody>
      </p:sp>
      <p:sp>
        <p:nvSpPr>
          <p:cNvPr id="22" name="TextBox 21"/>
          <p:cNvSpPr txBox="1"/>
          <p:nvPr/>
        </p:nvSpPr>
        <p:spPr>
          <a:xfrm>
            <a:off x="8128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QWEN2.5-CODER-3B</a:t>
            </a:r>
          </a:p>
        </p:txBody>
      </p:sp>
      <p:sp>
        <p:nvSpPr>
          <p:cNvPr id="23" name="TextBox 22"/>
          <p:cNvSpPr txBox="1"/>
          <p:nvPr/>
        </p:nvSpPr>
        <p:spPr>
          <a:xfrm>
            <a:off x="34925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42%</a:t>
            </a:r>
          </a:p>
        </p:txBody>
      </p:sp>
      <p:sp>
        <p:nvSpPr>
          <p:cNvPr id="24" name="TextBox 23"/>
          <p:cNvSpPr txBox="1"/>
          <p:nvPr/>
        </p:nvSpPr>
        <p:spPr>
          <a:xfrm>
            <a:off x="34925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DEEPSEEK-CODER-6.7B</a:t>
            </a:r>
          </a:p>
        </p:txBody>
      </p:sp>
      <p:sp>
        <p:nvSpPr>
          <p:cNvPr id="25" name="TextBox 24"/>
          <p:cNvSpPr txBox="1"/>
          <p:nvPr/>
        </p:nvSpPr>
        <p:spPr>
          <a:xfrm>
            <a:off x="61722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40%</a:t>
            </a:r>
          </a:p>
        </p:txBody>
      </p:sp>
      <p:sp>
        <p:nvSpPr>
          <p:cNvPr id="26" name="TextBox 25"/>
          <p:cNvSpPr txBox="1"/>
          <p:nvPr/>
        </p:nvSpPr>
        <p:spPr>
          <a:xfrm>
            <a:off x="61722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LLAMA-3.2-3B</a:t>
            </a:r>
          </a:p>
        </p:txBody>
      </p:sp>
      <p:sp>
        <p:nvSpPr>
          <p:cNvPr id="27" name="TextBox 26"/>
          <p:cNvSpPr txBox="1"/>
          <p:nvPr/>
        </p:nvSpPr>
        <p:spPr>
          <a:xfrm>
            <a:off x="88519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34%</a:t>
            </a:r>
          </a:p>
        </p:txBody>
      </p:sp>
      <p:sp>
        <p:nvSpPr>
          <p:cNvPr id="28" name="TextBox 27"/>
          <p:cNvSpPr txBox="1"/>
          <p:nvPr/>
        </p:nvSpPr>
        <p:spPr>
          <a:xfrm>
            <a:off x="88519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STABLECODE-3B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03 · AUDIT</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Why the earlier experiments were discarded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Not because the numbers were bad. Because the harness had forked, and no branch could reproduce the whole study.</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03 · Audit</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25</a:t>
            </a:r>
          </a:p>
        </p:txBody>
      </p:sp>
      <p:sp>
        <p:nvSpPr>
          <p:cNvPr id="8" name="Rounded Rectangle 7"/>
          <p:cNvSpPr/>
          <p:nvPr/>
        </p:nvSpPr>
        <p:spPr>
          <a:xfrm>
            <a:off x="635000" y="1752600"/>
            <a:ext cx="10922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THE PROJECT GOT HERE</a:t>
            </a:r>
          </a:p>
        </p:txBody>
      </p:sp>
      <p:sp>
        <p:nvSpPr>
          <p:cNvPr id="10" name="TextBox 9"/>
          <p:cNvSpPr txBox="1"/>
          <p:nvPr/>
        </p:nvSpPr>
        <p:spPr>
          <a:xfrm>
            <a:off x="812800" y="3525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archive is kept read-only as evidence of what was discarded, and is never cited as a result.</a:t>
            </a:r>
          </a:p>
        </p:txBody>
      </p:sp>
      <p:pic>
        <p:nvPicPr>
          <p:cNvPr id="11" name="Picture 10" descr="h_timeline.png"/>
          <p:cNvPicPr>
            <a:picLocks noChangeAspect="1"/>
          </p:cNvPicPr>
          <p:nvPr/>
        </p:nvPicPr>
        <p:blipFill>
          <a:blip r:embed="rId2"/>
          <a:stretch>
            <a:fillRect/>
          </a:stretch>
        </p:blipFill>
        <p:spPr>
          <a:xfrm>
            <a:off x="812800" y="2120900"/>
            <a:ext cx="7439685" cy="1328515"/>
          </a:xfrm>
          <a:prstGeom prst="rect">
            <a:avLst/>
          </a:prstGeom>
        </p:spPr>
      </p:pic>
      <p:sp>
        <p:nvSpPr>
          <p:cNvPr id="12" name="Rounded Rectangle 11"/>
          <p:cNvSpPr/>
          <p:nvPr/>
        </p:nvSpPr>
        <p:spPr>
          <a:xfrm>
            <a:off x="635000" y="4064000"/>
            <a:ext cx="5715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2418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FAILURE MODE</a:t>
            </a:r>
          </a:p>
        </p:txBody>
      </p:sp>
      <p:sp>
        <p:nvSpPr>
          <p:cNvPr id="14" name="TextBox 13"/>
          <p:cNvSpPr txBox="1"/>
          <p:nvPr/>
        </p:nvSpPr>
        <p:spPr>
          <a:xfrm>
            <a:off x="812800" y="4432300"/>
            <a:ext cx="53594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Each step had grown its own copy of the engine. Two steps could disagree about how a span was located or how a substitution was performed, and nothing in the results would show it.</a:t>
            </a:r>
          </a:p>
        </p:txBody>
      </p:sp>
      <p:sp>
        <p:nvSpPr>
          <p:cNvPr id="15" name="Rounded Rectangle 14"/>
          <p:cNvSpPr/>
          <p:nvPr/>
        </p:nvSpPr>
        <p:spPr>
          <a:xfrm>
            <a:off x="6502400" y="4064000"/>
            <a:ext cx="50546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80200" y="42418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RULE THAT REPLACED IT</a:t>
            </a:r>
          </a:p>
        </p:txBody>
      </p:sp>
      <p:sp>
        <p:nvSpPr>
          <p:cNvPr id="17" name="TextBox 16"/>
          <p:cNvSpPr txBox="1"/>
          <p:nvPr/>
        </p:nvSpPr>
        <p:spPr>
          <a:xfrm>
            <a:off x="6680200" y="4432300"/>
            <a:ext cx="46990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One engine, one entry point, one results convention. A new experiment adds a value to the condition schema — never a new script.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03 · AUDIT</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Silent failure is the defect class we build against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If “no effect” and “the experiment never ran” are stored as the same number, no amount of analysis can tell them apart.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03 · Audit</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26</a:t>
            </a:r>
          </a:p>
        </p:txBody>
      </p:sp>
      <p:sp>
        <p:nvSpPr>
          <p:cNvPr id="8" name="Rounded Rectangle 7"/>
          <p:cNvSpPr/>
          <p:nvPr/>
        </p:nvSpPr>
        <p:spPr>
          <a:xfrm>
            <a:off x="635000" y="1752600"/>
            <a:ext cx="10922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GUARDS IN PLACE</a:t>
            </a:r>
          </a:p>
        </p:txBody>
      </p:sp>
      <p:sp>
        <p:nvSpPr>
          <p:cNvPr id="10" name="TextBox 9"/>
          <p:cNvSpPr txBox="1"/>
          <p:nvPr/>
        </p:nvSpPr>
        <p:spPr>
          <a:xfrm>
            <a:off x="812800" y="4033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Each guard raises rather than returning a plausible value; a crashed run is recoverable, a silent one is not.</a:t>
            </a:r>
          </a:p>
        </p:txBody>
      </p:sp>
      <p:pic>
        <p:nvPicPr>
          <p:cNvPr id="11" name="Picture 10" descr="h_silent.png"/>
          <p:cNvPicPr>
            <a:picLocks noChangeAspect="1"/>
          </p:cNvPicPr>
          <p:nvPr/>
        </p:nvPicPr>
        <p:blipFill>
          <a:blip r:embed="rId2"/>
          <a:stretch>
            <a:fillRect/>
          </a:stretch>
        </p:blipFill>
        <p:spPr>
          <a:xfrm>
            <a:off x="812800" y="2120900"/>
            <a:ext cx="4592390" cy="1836515"/>
          </a:xfrm>
          <a:prstGeom prst="rect">
            <a:avLst/>
          </a:prstGeom>
        </p:spPr>
      </p:pic>
      <p:sp>
        <p:nvSpPr>
          <p:cNvPr id="12" name="Rounded Rectangle 11"/>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ONE PLACE WE DELIBERATELY DO NOT RAISE</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Undecidable conditions are legitimate measurements whose ratio is unstable — they are recorded, flagged and excluded.</a:t>
            </a:r>
          </a:p>
        </p:txBody>
      </p:sp>
      <p:sp>
        <p:nvSpPr>
          <p:cNvPr id="15" name="TextBox 14"/>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An undecidable condition is not a bug: the model simply had no strong preference to restore, so the denominator of the transfer rate is near zero. Both the flag and the raw gap are stored, so the threshold can be varied afterwards without re-running anything.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03 · AUDIT</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A concrete silent failure, found in our own results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Seven layers were requested. One was measured. Nothing in the file name or the stored condition said so.</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03 · Audit</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27</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REQUESTED VERSUS MEASURED</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Found by comparing each record's stored layer list against the layer its metrics were actually keyed on.</a:t>
            </a:r>
          </a:p>
        </p:txBody>
      </p:sp>
      <p:pic>
        <p:nvPicPr>
          <p:cNvPr id="11" name="Picture 10" descr="h_layerbug.png"/>
          <p:cNvPicPr>
            <a:picLocks noChangeAspect="1"/>
          </p:cNvPicPr>
          <p:nvPr/>
        </p:nvPicPr>
        <p:blipFill>
          <a:blip r:embed="rId2"/>
          <a:stretch>
            <a:fillRect/>
          </a:stretch>
        </p:blipFill>
        <p:spPr>
          <a:xfrm>
            <a:off x="812800" y="2120900"/>
            <a:ext cx="4501796" cy="1709515"/>
          </a:xfrm>
          <a:prstGeom prst="rect">
            <a:avLst/>
          </a:prstGeom>
        </p:spPr>
      </p:pic>
      <p:sp>
        <p:nvSpPr>
          <p:cNvPr id="12" name="Rounded Rectangle 11"/>
          <p:cNvSpPr/>
          <p:nvPr/>
        </p:nvSpPr>
        <p:spPr>
          <a:xfrm>
            <a:off x="635000" y="4445000"/>
            <a:ext cx="6985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662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NO REPORTED NUMBER IS AFFECTED</a:t>
            </a:r>
          </a:p>
        </p:txBody>
      </p:sp>
      <p:sp>
        <p:nvSpPr>
          <p:cNvPr id="14" name="TextBox 13"/>
          <p:cNvSpPr txBox="1"/>
          <p:nvPr/>
        </p:nvSpPr>
        <p:spPr>
          <a:xfrm>
            <a:off x="812800" y="5868765"/>
            <a:ext cx="6629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bug is a coverage loss, not a contamination.</a:t>
            </a:r>
          </a:p>
        </p:txBody>
      </p:sp>
      <p:sp>
        <p:nvSpPr>
          <p:cNvPr id="15" name="TextBox 14"/>
          <p:cNvSpPr txBox="1"/>
          <p:nvPr/>
        </p:nvSpPr>
        <p:spPr>
          <a:xfrm>
            <a:off x="812800" y="4813300"/>
            <a:ext cx="6629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 affected record stores an empty per-layer block, so no analysis script could include it even by accident. All 672 belong to step 5's controls, which are excluded and footnoted.</a:t>
            </a:r>
          </a:p>
        </p:txBody>
      </p:sp>
      <p:sp>
        <p:nvSpPr>
          <p:cNvPr id="16" name="Rounded Rectangle 15"/>
          <p:cNvSpPr/>
          <p:nvPr/>
        </p:nvSpPr>
        <p:spPr>
          <a:xfrm>
            <a:off x="7772400" y="4445000"/>
            <a:ext cx="37846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0200" y="4622800"/>
            <a:ext cx="342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SWEPT EVERYWHERE ELSE</a:t>
            </a:r>
          </a:p>
        </p:txBody>
      </p:sp>
      <p:sp>
        <p:nvSpPr>
          <p:cNvPr id="18" name="TextBox 17"/>
          <p:cNvSpPr txBox="1"/>
          <p:nvPr/>
        </p:nvSpPr>
        <p:spPr>
          <a:xfrm>
            <a:off x="7950200" y="4813300"/>
            <a:ext cx="3429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same pattern was searched for across every results folder. Occurrences outside step 5's controls: zero.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03 · AUDIT</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What the audit changed, and what it did not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Most findings were corrections to how results were described, not to the results themselves.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03 · Audit</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28</a:t>
            </a:r>
          </a:p>
        </p:txBody>
      </p:sp>
      <p:sp>
        <p:nvSpPr>
          <p:cNvPr id="8" name="Rounded Rectangle 7"/>
          <p:cNvSpPr/>
          <p:nvPr/>
        </p:nvSpPr>
        <p:spPr>
          <a:xfrm>
            <a:off x="635000" y="1752600"/>
            <a:ext cx="10922000" cy="4502150"/>
          </a:xfrm>
          <a:prstGeom prst="roundRect">
            <a:avLst>
              <a:gd name="adj" fmla="val 1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VERDICT PER FINDING</a:t>
            </a:r>
          </a:p>
        </p:txBody>
      </p:sp>
      <p:sp>
        <p:nvSpPr>
          <p:cNvPr id="10" name="TextBox 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Re-running was reserved for cases where the stored numbers could not answer the question; everything else was re-analysed from the existing files.</a:t>
            </a:r>
          </a:p>
        </p:txBody>
      </p:sp>
      <p:sp>
        <p:nvSpPr>
          <p:cNvPr id="11" name="TextBox 10"/>
          <p:cNvSpPr txBox="1"/>
          <p:nvPr/>
        </p:nvSpPr>
        <p:spPr>
          <a:xfrm>
            <a:off x="812800" y="2184400"/>
            <a:ext cx="479174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FINDING</a:t>
            </a:r>
          </a:p>
        </p:txBody>
      </p:sp>
      <p:sp>
        <p:nvSpPr>
          <p:cNvPr id="12" name="TextBox 11"/>
          <p:cNvSpPr txBox="1"/>
          <p:nvPr/>
        </p:nvSpPr>
        <p:spPr>
          <a:xfrm>
            <a:off x="5604540" y="2184400"/>
            <a:ext cx="1351516"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VERDICT</a:t>
            </a:r>
          </a:p>
        </p:txBody>
      </p:sp>
      <p:sp>
        <p:nvSpPr>
          <p:cNvPr id="13" name="TextBox 12"/>
          <p:cNvSpPr txBox="1"/>
          <p:nvPr/>
        </p:nvSpPr>
        <p:spPr>
          <a:xfrm>
            <a:off x="6956056" y="2184400"/>
            <a:ext cx="4423144"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WAS DONE</a:t>
            </a:r>
          </a:p>
        </p:txBody>
      </p:sp>
      <p:sp>
        <p:nvSpPr>
          <p:cNvPr id="14" name="Rectangle 13"/>
          <p:cNvSpPr/>
          <p:nvPr/>
        </p:nvSpPr>
        <p:spPr>
          <a:xfrm>
            <a:off x="812800" y="23368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800" y="2438400"/>
            <a:ext cx="4626640" cy="4582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Span attention reported as a sum while the text said per token</a:t>
            </a:r>
          </a:p>
        </p:txBody>
      </p:sp>
      <p:sp>
        <p:nvSpPr>
          <p:cNvPr id="16" name="TextBox 15"/>
          <p:cNvSpPr txBox="1"/>
          <p:nvPr/>
        </p:nvSpPr>
        <p:spPr>
          <a:xfrm>
            <a:off x="5604540" y="2438400"/>
            <a:ext cx="1186416" cy="4582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re-analysed</a:t>
            </a:r>
          </a:p>
        </p:txBody>
      </p:sp>
      <p:sp>
        <p:nvSpPr>
          <p:cNvPr id="17" name="TextBox 16"/>
          <p:cNvSpPr txBox="1"/>
          <p:nvPr/>
        </p:nvSpPr>
        <p:spPr>
          <a:xfrm>
            <a:off x="6956056" y="2438400"/>
            <a:ext cx="4258044" cy="4582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recomputed from stored values; peak layers unchanged</a:t>
            </a:r>
          </a:p>
        </p:txBody>
      </p:sp>
      <p:sp>
        <p:nvSpPr>
          <p:cNvPr id="18" name="Rectangle 17"/>
          <p:cNvSpPr/>
          <p:nvPr/>
        </p:nvSpPr>
        <p:spPr>
          <a:xfrm>
            <a:off x="812800" y="2833108"/>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2896608"/>
            <a:ext cx="4626640" cy="66831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“av_norm is the actual contribution”</a:t>
            </a:r>
          </a:p>
        </p:txBody>
      </p:sp>
      <p:sp>
        <p:nvSpPr>
          <p:cNvPr id="20" name="TextBox 19"/>
          <p:cNvSpPr txBox="1"/>
          <p:nvPr/>
        </p:nvSpPr>
        <p:spPr>
          <a:xfrm>
            <a:off x="5604540" y="2896608"/>
            <a:ext cx="1186416" cy="66831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wording</a:t>
            </a:r>
          </a:p>
        </p:txBody>
      </p:sp>
      <p:sp>
        <p:nvSpPr>
          <p:cNvPr id="21" name="TextBox 20"/>
          <p:cNvSpPr txBox="1"/>
          <p:nvPr/>
        </p:nvSpPr>
        <p:spPr>
          <a:xfrm>
            <a:off x="6956056" y="2896608"/>
            <a:ext cx="4258044" cy="66831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corrected to an upper bound — it ignores cancellation and precedes the output projection</a:t>
            </a:r>
          </a:p>
        </p:txBody>
      </p:sp>
      <p:sp>
        <p:nvSpPr>
          <p:cNvPr id="22" name="Rectangle 21"/>
          <p:cNvSpPr/>
          <p:nvPr/>
        </p:nvSpPr>
        <p:spPr>
          <a:xfrm>
            <a:off x="812800" y="3501422"/>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800" y="3564922"/>
            <a:ext cx="4626640" cy="66831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“The Key net effect is zero”</a:t>
            </a:r>
          </a:p>
        </p:txBody>
      </p:sp>
      <p:sp>
        <p:nvSpPr>
          <p:cNvPr id="24" name="TextBox 23"/>
          <p:cNvSpPr txBox="1"/>
          <p:nvPr/>
        </p:nvSpPr>
        <p:spPr>
          <a:xfrm>
            <a:off x="5604540" y="3564922"/>
            <a:ext cx="1186416" cy="66831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wording</a:t>
            </a:r>
          </a:p>
        </p:txBody>
      </p:sp>
      <p:sp>
        <p:nvSpPr>
          <p:cNvPr id="25" name="TextBox 24"/>
          <p:cNvSpPr txBox="1"/>
          <p:nvPr/>
        </p:nvSpPr>
        <p:spPr>
          <a:xfrm>
            <a:off x="6956056" y="3564922"/>
            <a:ext cx="4258044" cy="66831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corrected to negligible — 2–11% of the Value effect, intervals do not contain zero</a:t>
            </a:r>
          </a:p>
        </p:txBody>
      </p:sp>
      <p:sp>
        <p:nvSpPr>
          <p:cNvPr id="26" name="Rectangle 25"/>
          <p:cNvSpPr/>
          <p:nvPr/>
        </p:nvSpPr>
        <p:spPr>
          <a:xfrm>
            <a:off x="812800" y="4169736"/>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800" y="4233236"/>
            <a:ext cx="4626640" cy="66831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“RoPE concern rejected”</a:t>
            </a:r>
          </a:p>
        </p:txBody>
      </p:sp>
      <p:sp>
        <p:nvSpPr>
          <p:cNvPr id="28" name="TextBox 27"/>
          <p:cNvSpPr txBox="1"/>
          <p:nvPr/>
        </p:nvSpPr>
        <p:spPr>
          <a:xfrm>
            <a:off x="5604540" y="4233236"/>
            <a:ext cx="1186416" cy="66831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wording</a:t>
            </a:r>
          </a:p>
        </p:txBody>
      </p:sp>
      <p:sp>
        <p:nvSpPr>
          <p:cNvPr id="29" name="TextBox 28"/>
          <p:cNvSpPr txBox="1"/>
          <p:nvPr/>
        </p:nvSpPr>
        <p:spPr>
          <a:xfrm>
            <a:off x="6956056" y="4233236"/>
            <a:ext cx="4258044" cy="66831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narrowed to the norm-collapse hypothesis only; phase was never measured</a:t>
            </a:r>
          </a:p>
        </p:txBody>
      </p:sp>
      <p:sp>
        <p:nvSpPr>
          <p:cNvPr id="30" name="Rectangle 29"/>
          <p:cNvSpPr/>
          <p:nvPr/>
        </p:nvSpPr>
        <p:spPr>
          <a:xfrm>
            <a:off x="812800" y="4838050"/>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800" y="4901550"/>
            <a:ext cx="4626640" cy="4582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Step 1 figure plotted only one instruction direction</a:t>
            </a:r>
          </a:p>
        </p:txBody>
      </p:sp>
      <p:sp>
        <p:nvSpPr>
          <p:cNvPr id="32" name="TextBox 31"/>
          <p:cNvSpPr txBox="1"/>
          <p:nvPr/>
        </p:nvSpPr>
        <p:spPr>
          <a:xfrm>
            <a:off x="5604540" y="4901550"/>
            <a:ext cx="1186416" cy="4582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re-plotted</a:t>
            </a:r>
          </a:p>
        </p:txBody>
      </p:sp>
      <p:sp>
        <p:nvSpPr>
          <p:cNvPr id="33" name="TextBox 32"/>
          <p:cNvSpPr txBox="1"/>
          <p:nvPr/>
        </p:nvSpPr>
        <p:spPr>
          <a:xfrm>
            <a:off x="6956056" y="4901550"/>
            <a:ext cx="4258044" cy="4582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both directions now shown; the collapse holds in both</a:t>
            </a:r>
          </a:p>
        </p:txBody>
      </p:sp>
      <p:sp>
        <p:nvSpPr>
          <p:cNvPr id="34" name="Rectangle 33"/>
          <p:cNvSpPr/>
          <p:nvPr/>
        </p:nvSpPr>
        <p:spPr>
          <a:xfrm>
            <a:off x="812800" y="5296258"/>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2800" y="5359758"/>
            <a:ext cx="4626640" cy="4582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672 step-5 control records measured one layer, not seven</a:t>
            </a:r>
          </a:p>
        </p:txBody>
      </p:sp>
      <p:sp>
        <p:nvSpPr>
          <p:cNvPr id="36" name="TextBox 35"/>
          <p:cNvSpPr txBox="1"/>
          <p:nvPr/>
        </p:nvSpPr>
        <p:spPr>
          <a:xfrm>
            <a:off x="5604540" y="5359758"/>
            <a:ext cx="1186416" cy="4582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excluded</a:t>
            </a:r>
          </a:p>
        </p:txBody>
      </p:sp>
      <p:sp>
        <p:nvSpPr>
          <p:cNvPr id="37" name="TextBox 36"/>
          <p:cNvSpPr txBox="1"/>
          <p:nvPr/>
        </p:nvSpPr>
        <p:spPr>
          <a:xfrm>
            <a:off x="6956056" y="5359758"/>
            <a:ext cx="4258044" cy="4582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flagged, footnoted, and guarded against in the runner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03 · AUDIT</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A determinism check that came free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Two steps share 168 conditions. If the harness is deterministic, they must agree exactly — and they do.</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03 · Audit</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29</a:t>
            </a:r>
          </a:p>
        </p:txBody>
      </p:sp>
      <p:sp>
        <p:nvSpPr>
          <p:cNvPr id="8" name="Rounded Rectangle 7"/>
          <p:cNvSpPr/>
          <p:nvPr/>
        </p:nvSpPr>
        <p:spPr>
          <a:xfrm>
            <a:off x="635000" y="1752600"/>
            <a:ext cx="6350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CHECK</a:t>
            </a:r>
          </a:p>
        </p:txBody>
      </p:sp>
      <p:sp>
        <p:nvSpPr>
          <p:cNvPr id="10" name="TextBox 9"/>
          <p:cNvSpPr txBox="1"/>
          <p:nvPr/>
        </p:nvSpPr>
        <p:spPr>
          <a:xfrm>
            <a:off x="812800" y="2120900"/>
            <a:ext cx="5994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Step 2's conditions are a subset of step 4's: the same models, the same blocks, the same instruction direction. Their shared spans were compared value by value, across every layer.</a:t>
            </a:r>
          </a:p>
        </p:txBody>
      </p:sp>
      <p:sp>
        <p:nvSpPr>
          <p:cNvPr id="11" name="Rectangle 10"/>
          <p:cNvSpPr/>
          <p:nvPr/>
        </p:nvSpPr>
        <p:spPr>
          <a:xfrm>
            <a:off x="812800" y="2946400"/>
            <a:ext cx="5994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3111500"/>
            <a:ext cx="2031305"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Overlapping conditions</a:t>
            </a:r>
          </a:p>
        </p:txBody>
      </p:sp>
      <p:sp>
        <p:nvSpPr>
          <p:cNvPr id="13" name="TextBox 12"/>
          <p:cNvSpPr txBox="1"/>
          <p:nvPr/>
        </p:nvSpPr>
        <p:spPr>
          <a:xfrm>
            <a:off x="2844105" y="3111500"/>
            <a:ext cx="3963095"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168</a:t>
            </a:r>
          </a:p>
        </p:txBody>
      </p:sp>
      <p:sp>
        <p:nvSpPr>
          <p:cNvPr id="14" name="TextBox 13"/>
          <p:cNvSpPr txBox="1"/>
          <p:nvPr/>
        </p:nvSpPr>
        <p:spPr>
          <a:xfrm>
            <a:off x="812800" y="3365500"/>
            <a:ext cx="2031305"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Values compared</a:t>
            </a:r>
          </a:p>
        </p:txBody>
      </p:sp>
      <p:sp>
        <p:nvSpPr>
          <p:cNvPr id="15" name="TextBox 14"/>
          <p:cNvSpPr txBox="1"/>
          <p:nvPr/>
        </p:nvSpPr>
        <p:spPr>
          <a:xfrm>
            <a:off x="2844105" y="3365500"/>
            <a:ext cx="3963095"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80,640</a:t>
            </a:r>
          </a:p>
        </p:txBody>
      </p:sp>
      <p:sp>
        <p:nvSpPr>
          <p:cNvPr id="16" name="TextBox 15"/>
          <p:cNvSpPr txBox="1"/>
          <p:nvPr/>
        </p:nvSpPr>
        <p:spPr>
          <a:xfrm>
            <a:off x="812800" y="3619500"/>
            <a:ext cx="2031305"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Mismatches</a:t>
            </a:r>
          </a:p>
        </p:txBody>
      </p:sp>
      <p:sp>
        <p:nvSpPr>
          <p:cNvPr id="17" name="TextBox 16"/>
          <p:cNvSpPr txBox="1"/>
          <p:nvPr/>
        </p:nvSpPr>
        <p:spPr>
          <a:xfrm>
            <a:off x="2844105" y="3619500"/>
            <a:ext cx="3963095"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0</a:t>
            </a:r>
          </a:p>
        </p:txBody>
      </p:sp>
      <p:sp>
        <p:nvSpPr>
          <p:cNvPr id="18" name="TextBox 17"/>
          <p:cNvSpPr txBox="1"/>
          <p:nvPr/>
        </p:nvSpPr>
        <p:spPr>
          <a:xfrm>
            <a:off x="812800" y="3873500"/>
            <a:ext cx="2031305"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Maximum absolute difference</a:t>
            </a:r>
          </a:p>
        </p:txBody>
      </p:sp>
      <p:sp>
        <p:nvSpPr>
          <p:cNvPr id="19" name="TextBox 18"/>
          <p:cNvSpPr txBox="1"/>
          <p:nvPr/>
        </p:nvSpPr>
        <p:spPr>
          <a:xfrm>
            <a:off x="2844105" y="3873500"/>
            <a:ext cx="3963095"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0.000e+00</a:t>
            </a:r>
          </a:p>
        </p:txBody>
      </p:sp>
      <p:sp>
        <p:nvSpPr>
          <p:cNvPr id="20" name="Rounded Rectangle 19"/>
          <p:cNvSpPr/>
          <p:nvPr/>
        </p:nvSpPr>
        <p:spPr>
          <a:xfrm>
            <a:off x="7137400" y="1752600"/>
            <a:ext cx="44196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0" y="19304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IT DOES AND DOES NOT LICENSE</a:t>
            </a:r>
          </a:p>
        </p:txBody>
      </p:sp>
      <p:sp>
        <p:nvSpPr>
          <p:cNvPr id="22" name="TextBox 21"/>
          <p:cNvSpPr txBox="1"/>
          <p:nvPr/>
        </p:nvSpPr>
        <p:spPr>
          <a:xfrm>
            <a:off x="7315200" y="4033615"/>
            <a:ext cx="4064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It is a check on the instrument, not on the science.</a:t>
            </a:r>
          </a:p>
        </p:txBody>
      </p:sp>
      <p:sp>
        <p:nvSpPr>
          <p:cNvPr id="23" name="TextBox 22"/>
          <p:cNvSpPr txBox="1"/>
          <p:nvPr/>
        </p:nvSpPr>
        <p:spPr>
          <a:xfrm>
            <a:off x="7315200" y="2120900"/>
            <a:ext cx="4064000" cy="1231900"/>
          </a:xfrm>
          <a:prstGeom prst="rect">
            <a:avLst/>
          </a:prstGeom>
          <a:noFill/>
        </p:spPr>
        <p:txBody>
          <a:bodyPr wrap="square" lIns="0" rIns="0" tIns="0" bIns="0">
            <a:spAutoFit/>
          </a:bodyPr>
          <a:lstStyle/>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Licenses:</a:t>
            </a:r>
            <a:r>
              <a:rPr sz="1050" b="0">
                <a:solidFill>
                  <a:srgbClr val="B9B9B9"/>
                </a:solidFill>
                <a:latin typeface="Inter"/>
                <a:cs typeface="Inter"/>
                <a:ea typeface="Inter"/>
              </a:rPr>
              <a:t> that the measurement pipeline is deterministic under a fixed seed</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Licenses:</a:t>
            </a:r>
            <a:r>
              <a:rPr sz="1050" b="0">
                <a:solidFill>
                  <a:srgbClr val="B9B9B9"/>
                </a:solidFill>
                <a:latin typeface="Inter"/>
                <a:cs typeface="Inter"/>
                <a:ea typeface="Inter"/>
              </a:rPr>
              <a:t> that step 2 and step 4 can be read as one measurement of one quantity</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Does not:</a:t>
            </a:r>
            <a:r>
              <a:rPr sz="1050" b="0">
                <a:solidFill>
                  <a:srgbClr val="B9B9B9"/>
                </a:solidFill>
                <a:latin typeface="Inter"/>
                <a:cs typeface="Inter"/>
                <a:ea typeface="Inter"/>
              </a:rPr>
              <a:t> say the quantity is the right one to measure</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Does not:</a:t>
            </a:r>
            <a:r>
              <a:rPr sz="1050" b="0">
                <a:solidFill>
                  <a:srgbClr val="B9B9B9"/>
                </a:solidFill>
                <a:latin typeface="Inter"/>
                <a:cs typeface="Inter"/>
                <a:ea typeface="Inter"/>
              </a:rPr>
              <a:t> substitute for a control — determinism is not validity</a:t>
            </a:r>
          </a:p>
        </p:txBody>
      </p:sp>
      <p:sp>
        <p:nvSpPr>
          <p:cNvPr id="24" name="Rounded Rectangle 23"/>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IT IS WORTH A SLIDE</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Reproducibility claims are cheap to make and rarely checked; this one is checkable from the stored files alone.</a:t>
            </a:r>
          </a:p>
        </p:txBody>
      </p:sp>
      <p:sp>
        <p:nvSpPr>
          <p:cNvPr id="27" name="TextBox 26"/>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two steps were run months apart, on different machines, in different sessions. Exact agreement across 80,640 values is evidence that the seed, the prompt construction and the attention read-out are all pinned down.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Three design principles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engine is boring on purpose. Everything interesting lives in the condition, not in the code path.</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30</a:t>
            </a:r>
          </a:p>
        </p:txBody>
      </p:sp>
      <p:sp>
        <p:nvSpPr>
          <p:cNvPr id="8" name="Rounded Rectangle 7"/>
          <p:cNvSpPr/>
          <p:nvPr/>
        </p:nvSpPr>
        <p:spPr>
          <a:xfrm>
            <a:off x="635000" y="1752600"/>
            <a:ext cx="3539067"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PRINCIPLE 1</a:t>
            </a:r>
          </a:p>
        </p:txBody>
      </p:sp>
      <p:sp>
        <p:nvSpPr>
          <p:cNvPr id="10" name="TextBox 9"/>
          <p:cNvSpPr txBox="1"/>
          <p:nvPr/>
        </p:nvSpPr>
        <p:spPr>
          <a:xfrm>
            <a:off x="812800" y="2120900"/>
            <a:ext cx="3183467"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One entry point</a:t>
            </a:r>
          </a:p>
        </p:txBody>
      </p:sp>
      <p:sp>
        <p:nvSpPr>
          <p:cNvPr id="11" name="TextBox 10"/>
          <p:cNvSpPr txBox="1"/>
          <p:nvPr/>
        </p:nvSpPr>
        <p:spPr>
          <a:xfrm>
            <a:off x="812800" y="2336800"/>
            <a:ext cx="3183467"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 experiment calls the same run() with a condition and a mode. There is no per-question script, so two steps cannot silently disagree about how a measurement is taken.</a:t>
            </a:r>
          </a:p>
        </p:txBody>
      </p:sp>
      <p:sp>
        <p:nvSpPr>
          <p:cNvPr id="12" name="Rounded Rectangle 11"/>
          <p:cNvSpPr/>
          <p:nvPr/>
        </p:nvSpPr>
        <p:spPr>
          <a:xfrm>
            <a:off x="4326467" y="1752600"/>
            <a:ext cx="3539067"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04267"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PRINCIPLE 2</a:t>
            </a:r>
          </a:p>
        </p:txBody>
      </p:sp>
      <p:sp>
        <p:nvSpPr>
          <p:cNvPr id="14" name="TextBox 13"/>
          <p:cNvSpPr txBox="1"/>
          <p:nvPr/>
        </p:nvSpPr>
        <p:spPr>
          <a:xfrm>
            <a:off x="4504267" y="2120900"/>
            <a:ext cx="3183467"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Fail loudly</a:t>
            </a:r>
          </a:p>
        </p:txBody>
      </p:sp>
      <p:sp>
        <p:nvSpPr>
          <p:cNvPr id="15" name="TextBox 14"/>
          <p:cNvSpPr txBox="1"/>
          <p:nvPr/>
        </p:nvSpPr>
        <p:spPr>
          <a:xfrm>
            <a:off x="4504267" y="2336800"/>
            <a:ext cx="3183467"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Unsupported kinds, empty substitution sets and unlocatable spans raise. A result file never contains a number that was produced by an experiment that did not happen.</a:t>
            </a:r>
          </a:p>
        </p:txBody>
      </p:sp>
      <p:sp>
        <p:nvSpPr>
          <p:cNvPr id="16" name="Rounded Rectangle 15"/>
          <p:cNvSpPr/>
          <p:nvPr/>
        </p:nvSpPr>
        <p:spPr>
          <a:xfrm>
            <a:off x="8017933" y="1752600"/>
            <a:ext cx="3539067"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95733"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PRINCIPLE 3</a:t>
            </a:r>
          </a:p>
        </p:txBody>
      </p:sp>
      <p:sp>
        <p:nvSpPr>
          <p:cNvPr id="18" name="TextBox 17"/>
          <p:cNvSpPr txBox="1"/>
          <p:nvPr/>
        </p:nvSpPr>
        <p:spPr>
          <a:xfrm>
            <a:off x="8195733" y="2120900"/>
            <a:ext cx="3183467"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Results are immutable</a:t>
            </a:r>
          </a:p>
        </p:txBody>
      </p:sp>
      <p:sp>
        <p:nvSpPr>
          <p:cNvPr id="19" name="TextBox 18"/>
          <p:cNvSpPr txBox="1"/>
          <p:nvPr/>
        </p:nvSpPr>
        <p:spPr>
          <a:xfrm>
            <a:off x="8195733" y="2336800"/>
            <a:ext cx="3183467"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 finished file is never rewritten. Resume works by checking whether the path exists, which also makes every run interruptible without loss.</a:t>
            </a:r>
          </a:p>
        </p:txBody>
      </p:sp>
      <p:sp>
        <p:nvSpPr>
          <p:cNvPr id="20" name="Rounded Rectangle 19"/>
          <p:cNvSpPr/>
          <p:nvPr/>
        </p:nvSpPr>
        <p:spPr>
          <a:xfrm>
            <a:off x="635000" y="4064000"/>
            <a:ext cx="10922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12800" y="4241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THIS COSTS</a:t>
            </a:r>
          </a:p>
        </p:txBody>
      </p:sp>
      <p:sp>
        <p:nvSpPr>
          <p:cNvPr id="22" name="TextBox 21"/>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condition schema is wide, and reading a slug takes practice. That is the price of one reproducible engine.</a:t>
            </a:r>
          </a:p>
        </p:txBody>
      </p:sp>
      <p:sp>
        <p:nvSpPr>
          <p:cNvPr id="23" name="TextBox 22"/>
          <p:cNvSpPr txBox="1"/>
          <p:nvPr/>
        </p:nvSpPr>
        <p:spPr>
          <a:xfrm>
            <a:off x="812800" y="4432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 knob any experiment ever needed lives in one dataclass, so the schema carries fields most conditions leave unset. We consider that better than the alternative the audit found: several engines that each looked simple and none of which agreed.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Module map</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router, five workers. Nothing calls anything sideways.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31</a:t>
            </a:r>
          </a:p>
        </p:txBody>
      </p:sp>
      <p:sp>
        <p:nvSpPr>
          <p:cNvPr id="8" name="Rounded Rectangle 7"/>
          <p:cNvSpPr/>
          <p:nvPr/>
        </p:nvSpPr>
        <p:spPr>
          <a:xfrm>
            <a:off x="635000" y="1752600"/>
            <a:ext cx="10922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CALL STRUCTURE</a:t>
            </a:r>
          </a:p>
        </p:txBody>
      </p:sp>
      <p:sp>
        <p:nvSpPr>
          <p:cNvPr id="10" name="TextBox 9"/>
          <p:cNvSpPr txBox="1"/>
          <p:nvPr/>
        </p:nvSpPr>
        <p:spPr>
          <a:xfrm>
            <a:off x="812800" y="40971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Workers are called by the router only — so a change in one cannot quietly alter another's behaviour.</a:t>
            </a:r>
          </a:p>
        </p:txBody>
      </p:sp>
      <p:pic>
        <p:nvPicPr>
          <p:cNvPr id="11" name="Picture 10" descr="h_modules.png"/>
          <p:cNvPicPr>
            <a:picLocks noChangeAspect="1"/>
          </p:cNvPicPr>
          <p:nvPr/>
        </p:nvPicPr>
        <p:blipFill>
          <a:blip r:embed="rId2"/>
          <a:stretch>
            <a:fillRect/>
          </a:stretch>
        </p:blipFill>
        <p:spPr>
          <a:xfrm>
            <a:off x="812800" y="2120900"/>
            <a:ext cx="4523122" cy="1900015"/>
          </a:xfrm>
          <a:prstGeom prst="rect">
            <a:avLst/>
          </a:prstGeom>
        </p:spPr>
      </p:pic>
      <p:sp>
        <p:nvSpPr>
          <p:cNvPr id="12" name="Rounded Rectangle 11"/>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MODULE OWNS</a:t>
            </a:r>
          </a:p>
        </p:txBody>
      </p:sp>
      <p:sp>
        <p:nvSpPr>
          <p:cNvPr id="14" name="TextBox 13"/>
          <p:cNvSpPr txBox="1"/>
          <p:nvPr/>
        </p:nvSpPr>
        <p:spPr>
          <a:xfrm>
            <a:off x="812800" y="5003800"/>
            <a:ext cx="1151731"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prompt</a:t>
            </a:r>
          </a:p>
        </p:txBody>
      </p:sp>
      <p:sp>
        <p:nvSpPr>
          <p:cNvPr id="15" name="TextBox 14"/>
          <p:cNvSpPr txBox="1"/>
          <p:nvPr/>
        </p:nvSpPr>
        <p:spPr>
          <a:xfrm>
            <a:off x="1964531" y="5003800"/>
            <a:ext cx="2268802"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text and span offsets</a:t>
            </a:r>
          </a:p>
        </p:txBody>
      </p:sp>
      <p:sp>
        <p:nvSpPr>
          <p:cNvPr id="16" name="TextBox 15"/>
          <p:cNvSpPr txBox="1"/>
          <p:nvPr/>
        </p:nvSpPr>
        <p:spPr>
          <a:xfrm>
            <a:off x="812800" y="5232400"/>
            <a:ext cx="1151731"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attention_probe</a:t>
            </a:r>
          </a:p>
        </p:txBody>
      </p:sp>
      <p:sp>
        <p:nvSpPr>
          <p:cNvPr id="17" name="TextBox 16"/>
          <p:cNvSpPr txBox="1"/>
          <p:nvPr/>
        </p:nvSpPr>
        <p:spPr>
          <a:xfrm>
            <a:off x="1964531" y="5232400"/>
            <a:ext cx="2268802"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one query row</a:t>
            </a:r>
          </a:p>
        </p:txBody>
      </p:sp>
      <p:sp>
        <p:nvSpPr>
          <p:cNvPr id="18" name="TextBox 17"/>
          <p:cNvSpPr txBox="1"/>
          <p:nvPr/>
        </p:nvSpPr>
        <p:spPr>
          <a:xfrm>
            <a:off x="4385733" y="5003800"/>
            <a:ext cx="912316"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intervention</a:t>
            </a:r>
          </a:p>
        </p:txBody>
      </p:sp>
      <p:sp>
        <p:nvSpPr>
          <p:cNvPr id="19" name="TextBox 18"/>
          <p:cNvSpPr txBox="1"/>
          <p:nvPr/>
        </p:nvSpPr>
        <p:spPr>
          <a:xfrm>
            <a:off x="5298050" y="5003800"/>
            <a:ext cx="2508217"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cache edits</a:t>
            </a:r>
          </a:p>
        </p:txBody>
      </p:sp>
      <p:sp>
        <p:nvSpPr>
          <p:cNvPr id="20" name="TextBox 19"/>
          <p:cNvSpPr txBox="1"/>
          <p:nvPr/>
        </p:nvSpPr>
        <p:spPr>
          <a:xfrm>
            <a:off x="4385733" y="5232400"/>
            <a:ext cx="912316"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metrics</a:t>
            </a:r>
          </a:p>
        </p:txBody>
      </p:sp>
      <p:sp>
        <p:nvSpPr>
          <p:cNvPr id="21" name="TextBox 20"/>
          <p:cNvSpPr txBox="1"/>
          <p:nvPr/>
        </p:nvSpPr>
        <p:spPr>
          <a:xfrm>
            <a:off x="5298050" y="5232400"/>
            <a:ext cx="2508217"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scores and rates</a:t>
            </a:r>
          </a:p>
        </p:txBody>
      </p:sp>
      <p:sp>
        <p:nvSpPr>
          <p:cNvPr id="22" name="TextBox 21"/>
          <p:cNvSpPr txBox="1"/>
          <p:nvPr/>
        </p:nvSpPr>
        <p:spPr>
          <a:xfrm>
            <a:off x="7958667" y="5003800"/>
            <a:ext cx="553641"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steer</a:t>
            </a:r>
          </a:p>
        </p:txBody>
      </p:sp>
      <p:sp>
        <p:nvSpPr>
          <p:cNvPr id="23" name="TextBox 22"/>
          <p:cNvSpPr txBox="1"/>
          <p:nvPr/>
        </p:nvSpPr>
        <p:spPr>
          <a:xfrm>
            <a:off x="8512307" y="5003800"/>
            <a:ext cx="2866893"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residual add, reweight</a:t>
            </a:r>
          </a:p>
        </p:txBody>
      </p:sp>
      <p:sp>
        <p:nvSpPr>
          <p:cNvPr id="24" name="TextBox 23"/>
          <p:cNvSpPr txBox="1"/>
          <p:nvPr/>
        </p:nvSpPr>
        <p:spPr>
          <a:xfrm>
            <a:off x="7958667" y="5232400"/>
            <a:ext cx="553641"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model</a:t>
            </a:r>
          </a:p>
        </p:txBody>
      </p:sp>
      <p:sp>
        <p:nvSpPr>
          <p:cNvPr id="25" name="TextBox 24"/>
          <p:cNvSpPr txBox="1"/>
          <p:nvPr/>
        </p:nvSpPr>
        <p:spPr>
          <a:xfrm>
            <a:off x="8512307" y="5232400"/>
            <a:ext cx="2866893"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loading and cache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Run modes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function, eight behaviours. The mode decides which workers the router calls.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32</a:t>
            </a:r>
          </a:p>
        </p:txBody>
      </p:sp>
      <p:sp>
        <p:nvSpPr>
          <p:cNvPr id="8" name="Rounded Rectangle 7"/>
          <p:cNvSpPr/>
          <p:nvPr/>
        </p:nvSpPr>
        <p:spPr>
          <a:xfrm>
            <a:off x="635000" y="1752600"/>
            <a:ext cx="10922000" cy="4502150"/>
          </a:xfrm>
          <a:prstGeom prst="roundRect">
            <a:avLst>
              <a:gd name="adj" fmla="val 1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RUN(CONDITION, MODE=…)</a:t>
            </a:r>
          </a:p>
        </p:txBody>
      </p:sp>
      <p:sp>
        <p:nvSpPr>
          <p:cNvPr id="10" name="TextBox 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Modes marked with a dash have no per-layer output by design — they produce a behaviour, not a layer profile.</a:t>
            </a:r>
          </a:p>
        </p:txBody>
      </p:sp>
      <p:sp>
        <p:nvSpPr>
          <p:cNvPr id="11" name="TextBox 10"/>
          <p:cNvSpPr txBox="1"/>
          <p:nvPr/>
        </p:nvSpPr>
        <p:spPr>
          <a:xfrm>
            <a:off x="812800" y="2184400"/>
            <a:ext cx="1842977"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a:t>
            </a:r>
          </a:p>
        </p:txBody>
      </p:sp>
      <p:sp>
        <p:nvSpPr>
          <p:cNvPr id="12" name="TextBox 11"/>
          <p:cNvSpPr txBox="1"/>
          <p:nvPr/>
        </p:nvSpPr>
        <p:spPr>
          <a:xfrm>
            <a:off x="2655777" y="2184400"/>
            <a:ext cx="4668874"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IT DOES</a:t>
            </a:r>
          </a:p>
        </p:txBody>
      </p:sp>
      <p:sp>
        <p:nvSpPr>
          <p:cNvPr id="13" name="TextBox 12"/>
          <p:cNvSpPr txBox="1"/>
          <p:nvPr/>
        </p:nvSpPr>
        <p:spPr>
          <a:xfrm>
            <a:off x="7324651" y="2184400"/>
            <a:ext cx="1842977"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PER-LAYER OUTPUT</a:t>
            </a:r>
          </a:p>
        </p:txBody>
      </p:sp>
      <p:sp>
        <p:nvSpPr>
          <p:cNvPr id="14" name="TextBox 13"/>
          <p:cNvSpPr txBox="1"/>
          <p:nvPr/>
        </p:nvSpPr>
        <p:spPr>
          <a:xfrm>
            <a:off x="9167628" y="2184400"/>
            <a:ext cx="221157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USED BY</a:t>
            </a:r>
          </a:p>
        </p:txBody>
      </p:sp>
      <p:sp>
        <p:nvSpPr>
          <p:cNvPr id="15" name="Rectangle 14"/>
          <p:cNvSpPr/>
          <p:nvPr/>
        </p:nvSpPr>
        <p:spPr>
          <a:xfrm>
            <a:off x="812800" y="23368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800" y="2438400"/>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generate</a:t>
            </a:r>
          </a:p>
        </p:txBody>
      </p:sp>
      <p:sp>
        <p:nvSpPr>
          <p:cNvPr id="17" name="TextBox 16"/>
          <p:cNvSpPr txBox="1"/>
          <p:nvPr/>
        </p:nvSpPr>
        <p:spPr>
          <a:xfrm>
            <a:off x="2655777" y="2438400"/>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generate a function, classify its notation</a:t>
            </a:r>
          </a:p>
        </p:txBody>
      </p:sp>
      <p:sp>
        <p:nvSpPr>
          <p:cNvPr id="18" name="TextBox 17"/>
          <p:cNvSpPr txBox="1"/>
          <p:nvPr/>
        </p:nvSpPr>
        <p:spPr>
          <a:xfrm>
            <a:off x="7324651" y="2438400"/>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t>
            </a:r>
          </a:p>
        </p:txBody>
      </p:sp>
      <p:sp>
        <p:nvSpPr>
          <p:cNvPr id="19" name="TextBox 18"/>
          <p:cNvSpPr txBox="1"/>
          <p:nvPr/>
        </p:nvSpPr>
        <p:spPr>
          <a:xfrm>
            <a:off x="9167628" y="2438400"/>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step 1</a:t>
            </a:r>
          </a:p>
        </p:txBody>
      </p:sp>
      <p:sp>
        <p:nvSpPr>
          <p:cNvPr id="20" name="Rectangle 19"/>
          <p:cNvSpPr/>
          <p:nvPr/>
        </p:nvSpPr>
        <p:spPr>
          <a:xfrm>
            <a:off x="812800" y="2797346"/>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800" y="2860846"/>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observe</a:t>
            </a:r>
          </a:p>
        </p:txBody>
      </p:sp>
      <p:sp>
        <p:nvSpPr>
          <p:cNvPr id="22" name="TextBox 21"/>
          <p:cNvSpPr txBox="1"/>
          <p:nvPr/>
        </p:nvSpPr>
        <p:spPr>
          <a:xfrm>
            <a:off x="2655777" y="2860846"/>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read one attention row and its value norms</a:t>
            </a:r>
          </a:p>
        </p:txBody>
      </p:sp>
      <p:sp>
        <p:nvSpPr>
          <p:cNvPr id="23" name="TextBox 22"/>
          <p:cNvSpPr txBox="1"/>
          <p:nvPr/>
        </p:nvSpPr>
        <p:spPr>
          <a:xfrm>
            <a:off x="7324651" y="2860846"/>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yes</a:t>
            </a:r>
          </a:p>
        </p:txBody>
      </p:sp>
      <p:sp>
        <p:nvSpPr>
          <p:cNvPr id="24" name="TextBox 23"/>
          <p:cNvSpPr txBox="1"/>
          <p:nvPr/>
        </p:nvSpPr>
        <p:spPr>
          <a:xfrm>
            <a:off x="9167628" y="2860846"/>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step 2 · step 4</a:t>
            </a:r>
          </a:p>
        </p:txBody>
      </p:sp>
      <p:sp>
        <p:nvSpPr>
          <p:cNvPr id="25" name="Rectangle 24"/>
          <p:cNvSpPr/>
          <p:nvPr/>
        </p:nvSpPr>
        <p:spPr>
          <a:xfrm>
            <a:off x="812800" y="3219791"/>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800" y="3283291"/>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intervene</a:t>
            </a:r>
          </a:p>
        </p:txBody>
      </p:sp>
      <p:sp>
        <p:nvSpPr>
          <p:cNvPr id="27" name="TextBox 26"/>
          <p:cNvSpPr txBox="1"/>
          <p:nvPr/>
        </p:nvSpPr>
        <p:spPr>
          <a:xfrm>
            <a:off x="2655777" y="3283291"/>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overwrite the cache at one layer, then score</a:t>
            </a:r>
          </a:p>
        </p:txBody>
      </p:sp>
      <p:sp>
        <p:nvSpPr>
          <p:cNvPr id="28" name="TextBox 27"/>
          <p:cNvSpPr txBox="1"/>
          <p:nvPr/>
        </p:nvSpPr>
        <p:spPr>
          <a:xfrm>
            <a:off x="7324651" y="3283291"/>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one layer</a:t>
            </a:r>
          </a:p>
        </p:txBody>
      </p:sp>
      <p:sp>
        <p:nvSpPr>
          <p:cNvPr id="29" name="TextBox 28"/>
          <p:cNvSpPr txBox="1"/>
          <p:nvPr/>
        </p:nvSpPr>
        <p:spPr>
          <a:xfrm>
            <a:off x="9167628" y="3283291"/>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step 3 · step 5</a:t>
            </a:r>
          </a:p>
        </p:txBody>
      </p:sp>
      <p:sp>
        <p:nvSpPr>
          <p:cNvPr id="30" name="Rectangle 29"/>
          <p:cNvSpPr/>
          <p:nvPr/>
        </p:nvSpPr>
        <p:spPr>
          <a:xfrm>
            <a:off x="812800" y="3642237"/>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800" y="3705737"/>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intervene_sweep</a:t>
            </a:r>
          </a:p>
        </p:txBody>
      </p:sp>
      <p:sp>
        <p:nvSpPr>
          <p:cNvPr id="32" name="TextBox 31"/>
          <p:cNvSpPr txBox="1"/>
          <p:nvPr/>
        </p:nvSpPr>
        <p:spPr>
          <a:xfrm>
            <a:off x="2655777" y="3705737"/>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same, repeated across every layer</a:t>
            </a:r>
          </a:p>
        </p:txBody>
      </p:sp>
      <p:sp>
        <p:nvSpPr>
          <p:cNvPr id="33" name="TextBox 32"/>
          <p:cNvSpPr txBox="1"/>
          <p:nvPr/>
        </p:nvSpPr>
        <p:spPr>
          <a:xfrm>
            <a:off x="7324651" y="3705737"/>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yes</a:t>
            </a:r>
          </a:p>
        </p:txBody>
      </p:sp>
      <p:sp>
        <p:nvSpPr>
          <p:cNvPr id="34" name="TextBox 33"/>
          <p:cNvSpPr txBox="1"/>
          <p:nvPr/>
        </p:nvSpPr>
        <p:spPr>
          <a:xfrm>
            <a:off x="9167628" y="3705737"/>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step 3 · step 5</a:t>
            </a:r>
          </a:p>
        </p:txBody>
      </p:sp>
      <p:sp>
        <p:nvSpPr>
          <p:cNvPr id="35" name="Rectangle 34"/>
          <p:cNvSpPr/>
          <p:nvPr/>
        </p:nvSpPr>
        <p:spPr>
          <a:xfrm>
            <a:off x="812800" y="406468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800" y="4128183"/>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vcosine</a:t>
            </a:r>
          </a:p>
        </p:txBody>
      </p:sp>
      <p:sp>
        <p:nvSpPr>
          <p:cNvPr id="37" name="TextBox 36"/>
          <p:cNvSpPr txBox="1"/>
          <p:nvPr/>
        </p:nvSpPr>
        <p:spPr>
          <a:xfrm>
            <a:off x="2655777" y="4128183"/>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compare value directions without scoring</a:t>
            </a:r>
          </a:p>
        </p:txBody>
      </p:sp>
      <p:sp>
        <p:nvSpPr>
          <p:cNvPr id="38" name="TextBox 37"/>
          <p:cNvSpPr txBox="1"/>
          <p:nvPr/>
        </p:nvSpPr>
        <p:spPr>
          <a:xfrm>
            <a:off x="7324651" y="4128183"/>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yes</a:t>
            </a:r>
          </a:p>
        </p:txBody>
      </p:sp>
      <p:sp>
        <p:nvSpPr>
          <p:cNvPr id="39" name="TextBox 38"/>
          <p:cNvSpPr txBox="1"/>
          <p:nvPr/>
        </p:nvSpPr>
        <p:spPr>
          <a:xfrm>
            <a:off x="9167628" y="4128183"/>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diagnostics</a:t>
            </a:r>
          </a:p>
        </p:txBody>
      </p:sp>
      <p:sp>
        <p:nvSpPr>
          <p:cNvPr id="40" name="Rectangle 39"/>
          <p:cNvSpPr/>
          <p:nvPr/>
        </p:nvSpPr>
        <p:spPr>
          <a:xfrm>
            <a:off x="812800" y="4487128"/>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800" y="4550628"/>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kv_diagnose</a:t>
            </a:r>
          </a:p>
        </p:txBody>
      </p:sp>
      <p:sp>
        <p:nvSpPr>
          <p:cNvPr id="42" name="TextBox 41"/>
          <p:cNvSpPr txBox="1"/>
          <p:nvPr/>
        </p:nvSpPr>
        <p:spPr>
          <a:xfrm>
            <a:off x="2655777" y="4550628"/>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measure what the substitution does to K and V</a:t>
            </a:r>
          </a:p>
        </p:txBody>
      </p:sp>
      <p:sp>
        <p:nvSpPr>
          <p:cNvPr id="43" name="TextBox 42"/>
          <p:cNvSpPr txBox="1"/>
          <p:nvPr/>
        </p:nvSpPr>
        <p:spPr>
          <a:xfrm>
            <a:off x="7324651" y="4550628"/>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yes</a:t>
            </a:r>
          </a:p>
        </p:txBody>
      </p:sp>
      <p:sp>
        <p:nvSpPr>
          <p:cNvPr id="44" name="TextBox 43"/>
          <p:cNvSpPr txBox="1"/>
          <p:nvPr/>
        </p:nvSpPr>
        <p:spPr>
          <a:xfrm>
            <a:off x="9167628" y="4550628"/>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diag</a:t>
            </a:r>
          </a:p>
        </p:txBody>
      </p:sp>
      <p:sp>
        <p:nvSpPr>
          <p:cNvPr id="45" name="Rectangle 44"/>
          <p:cNvSpPr/>
          <p:nvPr/>
        </p:nvSpPr>
        <p:spPr>
          <a:xfrm>
            <a:off x="812800" y="4909574"/>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2800" y="4973074"/>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steer</a:t>
            </a:r>
          </a:p>
        </p:txBody>
      </p:sp>
      <p:sp>
        <p:nvSpPr>
          <p:cNvPr id="47" name="TextBox 46"/>
          <p:cNvSpPr txBox="1"/>
          <p:nvPr/>
        </p:nvSpPr>
        <p:spPr>
          <a:xfrm>
            <a:off x="2655777" y="4973074"/>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add a direction, or reweight attention, then score</a:t>
            </a:r>
          </a:p>
        </p:txBody>
      </p:sp>
      <p:sp>
        <p:nvSpPr>
          <p:cNvPr id="48" name="TextBox 47"/>
          <p:cNvSpPr txBox="1"/>
          <p:nvPr/>
        </p:nvSpPr>
        <p:spPr>
          <a:xfrm>
            <a:off x="7324651" y="4973074"/>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t>
            </a:r>
          </a:p>
        </p:txBody>
      </p:sp>
      <p:sp>
        <p:nvSpPr>
          <p:cNvPr id="49" name="TextBox 48"/>
          <p:cNvSpPr txBox="1"/>
          <p:nvPr/>
        </p:nvSpPr>
        <p:spPr>
          <a:xfrm>
            <a:off x="9167628" y="4973074"/>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step 6</a:t>
            </a:r>
          </a:p>
        </p:txBody>
      </p:sp>
      <p:sp>
        <p:nvSpPr>
          <p:cNvPr id="50" name="Rectangle 49"/>
          <p:cNvSpPr/>
          <p:nvPr/>
        </p:nvSpPr>
        <p:spPr>
          <a:xfrm>
            <a:off x="812800" y="5332020"/>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2800" y="5395520"/>
            <a:ext cx="1677877" cy="422446"/>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steer_generate</a:t>
            </a:r>
          </a:p>
        </p:txBody>
      </p:sp>
      <p:sp>
        <p:nvSpPr>
          <p:cNvPr id="52" name="TextBox 51"/>
          <p:cNvSpPr txBox="1"/>
          <p:nvPr/>
        </p:nvSpPr>
        <p:spPr>
          <a:xfrm>
            <a:off x="2655777" y="5395520"/>
            <a:ext cx="4503774"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same, but generate and inspect the name</a:t>
            </a:r>
          </a:p>
        </p:txBody>
      </p:sp>
      <p:sp>
        <p:nvSpPr>
          <p:cNvPr id="53" name="TextBox 52"/>
          <p:cNvSpPr txBox="1"/>
          <p:nvPr/>
        </p:nvSpPr>
        <p:spPr>
          <a:xfrm>
            <a:off x="7324651" y="5395520"/>
            <a:ext cx="1677877"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t>
            </a:r>
          </a:p>
        </p:txBody>
      </p:sp>
      <p:sp>
        <p:nvSpPr>
          <p:cNvPr id="54" name="TextBox 53"/>
          <p:cNvSpPr txBox="1"/>
          <p:nvPr/>
        </p:nvSpPr>
        <p:spPr>
          <a:xfrm>
            <a:off x="9167628" y="5395520"/>
            <a:ext cx="2046472" cy="422446"/>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step 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condition schema</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 condition is data. Reading one tells you the whole experiment without opening any code.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33</a:t>
            </a:r>
          </a:p>
        </p:txBody>
      </p:sp>
      <p:sp>
        <p:nvSpPr>
          <p:cNvPr id="8" name="Rounded Rectangle 7"/>
          <p:cNvSpPr/>
          <p:nvPr/>
        </p:nvSpPr>
        <p:spPr>
          <a:xfrm>
            <a:off x="635000" y="1752600"/>
            <a:ext cx="7366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010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ONE CONDITION, IN FULL</a:t>
            </a:r>
          </a:p>
        </p:txBody>
      </p:sp>
      <p:sp>
        <p:nvSpPr>
          <p:cNvPr id="10" name="Rounded Rectangle 9"/>
          <p:cNvSpPr/>
          <p:nvPr/>
        </p:nvSpPr>
        <p:spPr>
          <a:xfrm>
            <a:off x="812800" y="2120900"/>
            <a:ext cx="7010400" cy="2438400"/>
          </a:xfrm>
          <a:prstGeom prst="roundRect">
            <a:avLst>
              <a:gd name="adj" fmla="val 1562"/>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Condition(</a:t>
            </a:r>
          </a:p>
        </p:txBody>
      </p:sp>
      <p:sp>
        <p:nvSpPr>
          <p:cNvPr id="12" name="TextBox 11"/>
          <p:cNvSpPr txBox="1"/>
          <p:nvPr/>
        </p:nvSpPr>
        <p:spPr>
          <a:xfrm>
            <a:off x="927100" y="237553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model      = ModelSpec('Qwen/Qwen2.5-Coder-3B-Instruct', 'qwen'),</a:t>
            </a:r>
          </a:p>
        </p:txBody>
      </p:sp>
      <p:sp>
        <p:nvSpPr>
          <p:cNvPr id="13" name="TextBox 12"/>
          <p:cNvSpPr txBox="1"/>
          <p:nvPr/>
        </p:nvSpPr>
        <p:spPr>
          <a:xfrm>
            <a:off x="927100" y="254127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preceding  = PrecedingCode(n_compliant=6, n_functions=12,</a:t>
            </a:r>
          </a:p>
        </p:txBody>
      </p:sp>
      <p:sp>
        <p:nvSpPr>
          <p:cNvPr id="14" name="TextBox 13"/>
          <p:cNvSpPr txBox="1"/>
          <p:nvPr/>
        </p:nvSpPr>
        <p:spPr>
          <a:xfrm>
            <a:off x="927100" y="270700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composition=POOL, pool_block=0),</a:t>
            </a:r>
          </a:p>
        </p:txBody>
      </p:sp>
      <p:sp>
        <p:nvSpPr>
          <p:cNvPr id="15" name="TextBox 14"/>
          <p:cNvSpPr txBox="1"/>
          <p:nvPr/>
        </p:nvSpPr>
        <p:spPr>
          <a:xfrm>
            <a:off x="927100" y="287274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instruction= Instruction(form=POSITIVE, target_notation=CAMEL),</a:t>
            </a:r>
          </a:p>
        </p:txBody>
      </p:sp>
      <p:sp>
        <p:nvSpPr>
          <p:cNvPr id="16" name="TextBox 15"/>
          <p:cNvSpPr txBox="1"/>
          <p:nvPr/>
        </p:nvSpPr>
        <p:spPr>
          <a:xfrm>
            <a:off x="927100" y="3038475"/>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intervention= Intervention(kind=KEY_VALUE, layers='sweep',</a:t>
            </a:r>
          </a:p>
        </p:txBody>
      </p:sp>
      <p:sp>
        <p:nvSpPr>
          <p:cNvPr id="17" name="TextBox 16"/>
          <p:cNvSpPr txBox="1"/>
          <p:nvPr/>
        </p:nvSpPr>
        <p:spPr>
          <a:xfrm>
            <a:off x="927100" y="3204210"/>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donor='unrelated_camel', target='code',</a:t>
            </a:r>
          </a:p>
        </p:txBody>
      </p:sp>
      <p:sp>
        <p:nvSpPr>
          <p:cNvPr id="18" name="TextBox 17"/>
          <p:cNvSpPr txBox="1"/>
          <p:nvPr/>
        </p:nvSpPr>
        <p:spPr>
          <a:xfrm>
            <a:off x="927100" y="3369945"/>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kinds=('key','value','key_value')),</a:t>
            </a:r>
          </a:p>
        </p:txBody>
      </p:sp>
      <p:sp>
        <p:nvSpPr>
          <p:cNvPr id="19" name="TextBox 18"/>
          <p:cNvSpPr txBox="1"/>
          <p:nvPr/>
        </p:nvSpPr>
        <p:spPr>
          <a:xfrm>
            <a:off x="927100" y="353568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seed=42, token_unit='mean')</a:t>
            </a:r>
          </a:p>
        </p:txBody>
      </p:sp>
      <p:sp>
        <p:nvSpPr>
          <p:cNvPr id="20" name="Rounded Rectangle 19"/>
          <p:cNvSpPr/>
          <p:nvPr/>
        </p:nvSpPr>
        <p:spPr>
          <a:xfrm>
            <a:off x="8153400" y="1752600"/>
            <a:ext cx="3403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31200" y="1930400"/>
            <a:ext cx="3048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FIELDS THAT CARRY THE DESIGN</a:t>
            </a:r>
          </a:p>
        </p:txBody>
      </p:sp>
      <p:sp>
        <p:nvSpPr>
          <p:cNvPr id="22" name="TextBox 21"/>
          <p:cNvSpPr txBox="1"/>
          <p:nvPr/>
        </p:nvSpPr>
        <p:spPr>
          <a:xfrm>
            <a:off x="8331200" y="2120900"/>
            <a:ext cx="3048000" cy="1231900"/>
          </a:xfrm>
          <a:prstGeom prst="rect">
            <a:avLst/>
          </a:prstGeom>
          <a:noFill/>
        </p:spPr>
        <p:txBody>
          <a:bodyPr wrap="square" lIns="0" rIns="0" tIns="0" bIns="0">
            <a:spAutoFit/>
          </a:bodyPr>
          <a:lstStyle/>
          <a:p>
            <a:pPr marL="485394" indent="-485394">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preceding:</a:t>
            </a:r>
            <a:r>
              <a:rPr sz="1050" b="0">
                <a:solidFill>
                  <a:srgbClr val="B9B9B9"/>
                </a:solidFill>
                <a:latin typeface="Inter"/>
                <a:cs typeface="Inter"/>
                <a:ea typeface="Inter"/>
              </a:rPr>
              <a:t> how many of the twelve names violate, and which block</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instruction:</a:t>
            </a:r>
            <a:r>
              <a:rPr sz="1050" b="0">
                <a:solidFill>
                  <a:srgbClr val="B9B9B9"/>
                </a:solidFill>
                <a:latin typeface="Inter"/>
                <a:cs typeface="Inter"/>
                <a:ea typeface="Inter"/>
              </a:rPr>
              <a:t> which notation is required, and in what phrasing</a:t>
            </a:r>
          </a:p>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intervention:</a:t>
            </a:r>
            <a:r>
              <a:rPr sz="1050" b="0">
                <a:solidFill>
                  <a:srgbClr val="B9B9B9"/>
                </a:solidFill>
                <a:latin typeface="Inter"/>
                <a:cs typeface="Inter"/>
                <a:ea typeface="Inter"/>
              </a:rPr>
              <a:t> which road, which layer, and from which donor</a:t>
            </a:r>
          </a:p>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token_unit:</a:t>
            </a:r>
            <a:r>
              <a:rPr sz="1050" b="0">
                <a:solidFill>
                  <a:srgbClr val="B9B9B9"/>
                </a:solidFill>
                <a:latin typeface="Inter"/>
                <a:cs typeface="Inter"/>
                <a:ea typeface="Inter"/>
              </a:rPr>
              <a:t> how donor pieces are combined — mean-pool throughout</a:t>
            </a:r>
          </a:p>
        </p:txBody>
      </p:sp>
      <p:sp>
        <p:nvSpPr>
          <p:cNvPr id="23" name="Rounded Rectangle 22"/>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ONE FIELD THAT IS NOT A CONDITION AXIS</a:t>
            </a:r>
          </a:p>
        </p:txBody>
      </p:sp>
      <p:sp>
        <p:nvSpPr>
          <p:cNvPr id="25" name="TextBox 24"/>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It survives in the schema because removing it would invalidate the archive; it is never varied in the unified re-run.</a:t>
            </a:r>
          </a:p>
        </p:txBody>
      </p:sp>
      <p:sp>
        <p:nvSpPr>
          <p:cNvPr id="26" name="TextBox 25"/>
          <p:cNvSpPr txBox="1"/>
          <p:nvPr/>
        </p:nvSpPr>
        <p:spPr>
          <a:xfrm>
            <a:off x="812800" y="5257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instruction form has a negative variant. It belongs to a research question that was cut, and every condition in this study fixes it to positive. Keeping the field but never varying it is safer than deleting it and losing the ability to read archived results.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Building the prompt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Three parts, assembled the same way in every step. Nothing about the prompt varies except what a condition says varies.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34</a:t>
            </a:r>
          </a:p>
        </p:txBody>
      </p:sp>
      <p:sp>
        <p:nvSpPr>
          <p:cNvPr id="8" name="Rounded Rectangle 7"/>
          <p:cNvSpPr/>
          <p:nvPr/>
        </p:nvSpPr>
        <p:spPr>
          <a:xfrm>
            <a:off x="635000" y="1752600"/>
            <a:ext cx="71120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ASSEMBLY</a:t>
            </a:r>
          </a:p>
        </p:txBody>
      </p:sp>
      <p:sp>
        <p:nvSpPr>
          <p:cNvPr id="10" name="Rounded Rectangle 9"/>
          <p:cNvSpPr/>
          <p:nvPr/>
        </p:nvSpPr>
        <p:spPr>
          <a:xfrm>
            <a:off x="812800" y="2120900"/>
            <a:ext cx="6756400" cy="2374900"/>
          </a:xfrm>
          <a:prstGeom prst="roundRect">
            <a:avLst>
              <a:gd name="adj" fmla="val 160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527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1 · system — the instruction</a:t>
            </a:r>
          </a:p>
        </p:txBody>
      </p:sp>
      <p:sp>
        <p:nvSpPr>
          <p:cNvPr id="12" name="TextBox 11"/>
          <p:cNvSpPr txBox="1"/>
          <p:nvPr/>
        </p:nvSpPr>
        <p:spPr>
          <a:xfrm>
            <a:off x="927100" y="237553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You are helping extend an existing Python module.</a:t>
            </a:r>
          </a:p>
        </p:txBody>
      </p:sp>
      <p:sp>
        <p:nvSpPr>
          <p:cNvPr id="13" name="TextBox 12"/>
          <p:cNvSpPr txBox="1"/>
          <p:nvPr/>
        </p:nvSpPr>
        <p:spPr>
          <a:xfrm>
            <a:off x="927100" y="2541270"/>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In this project we generally write function names in camelCase.</a:t>
            </a:r>
          </a:p>
        </p:txBody>
      </p:sp>
      <p:sp>
        <p:nvSpPr>
          <p:cNvPr id="14" name="TextBox 13"/>
          <p:cNvSpPr txBox="1"/>
          <p:nvPr/>
        </p:nvSpPr>
        <p:spPr>
          <a:xfrm>
            <a:off x="927100" y="270700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Every function name uses one of two styles only:</a:t>
            </a:r>
          </a:p>
        </p:txBody>
      </p:sp>
      <p:sp>
        <p:nvSpPr>
          <p:cNvPr id="15" name="TextBox 14"/>
          <p:cNvSpPr txBox="1"/>
          <p:nvPr/>
        </p:nvSpPr>
        <p:spPr>
          <a:xfrm>
            <a:off x="927100" y="287274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camelCase or snake_case.</a:t>
            </a:r>
          </a:p>
        </p:txBody>
      </p:sp>
      <p:sp>
        <p:nvSpPr>
          <p:cNvPr id="16" name="TextBox 15"/>
          <p:cNvSpPr txBox="1"/>
          <p:nvPr/>
        </p:nvSpPr>
        <p:spPr>
          <a:xfrm>
            <a:off x="927100" y="303847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7" name="TextBox 16"/>
          <p:cNvSpPr txBox="1"/>
          <p:nvPr/>
        </p:nvSpPr>
        <p:spPr>
          <a:xfrm>
            <a:off x="927100" y="3204210"/>
            <a:ext cx="6527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2 · user — twelve existing functions from one block</a:t>
            </a:r>
          </a:p>
        </p:txBody>
      </p:sp>
      <p:sp>
        <p:nvSpPr>
          <p:cNvPr id="18" name="TextBox 17"/>
          <p:cNvSpPr txBox="1"/>
          <p:nvPr/>
        </p:nvSpPr>
        <p:spPr>
          <a:xfrm>
            <a:off x="927100" y="336994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def decodeNode(value): ...      # compliant   x n</a:t>
            </a:r>
          </a:p>
        </p:txBody>
      </p:sp>
      <p:sp>
        <p:nvSpPr>
          <p:cNvPr id="19" name="TextBox 18"/>
          <p:cNvSpPr txBox="1"/>
          <p:nvPr/>
        </p:nvSpPr>
        <p:spPr>
          <a:xfrm>
            <a:off x="927100" y="3535680"/>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def split_config(value): ...    # violating   x (12 - n)</a:t>
            </a:r>
          </a:p>
        </p:txBody>
      </p:sp>
      <p:sp>
        <p:nvSpPr>
          <p:cNvPr id="20" name="TextBox 19"/>
          <p:cNvSpPr txBox="1"/>
          <p:nvPr/>
        </p:nvSpPr>
        <p:spPr>
          <a:xfrm>
            <a:off x="927100" y="370141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21" name="TextBox 20"/>
          <p:cNvSpPr txBox="1"/>
          <p:nvPr/>
        </p:nvSpPr>
        <p:spPr>
          <a:xfrm>
            <a:off x="927100" y="3867150"/>
            <a:ext cx="6527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3 · request</a:t>
            </a:r>
          </a:p>
        </p:txBody>
      </p:sp>
      <p:sp>
        <p:nvSpPr>
          <p:cNvPr id="22" name="TextBox 21"/>
          <p:cNvSpPr txBox="1"/>
          <p:nvPr/>
        </p:nvSpPr>
        <p:spPr>
          <a:xfrm>
            <a:off x="927100" y="403288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Add one more function.</a:t>
            </a:r>
          </a:p>
        </p:txBody>
      </p:sp>
      <p:sp>
        <p:nvSpPr>
          <p:cNvPr id="23" name="Rounded Rectangle 22"/>
          <p:cNvSpPr/>
          <p:nvPr/>
        </p:nvSpPr>
        <p:spPr>
          <a:xfrm>
            <a:off x="7899400" y="1752600"/>
            <a:ext cx="36576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77200" y="19304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PART CONTROLS</a:t>
            </a:r>
          </a:p>
        </p:txBody>
      </p:sp>
      <p:sp>
        <p:nvSpPr>
          <p:cNvPr id="25" name="TextBox 24"/>
          <p:cNvSpPr txBox="1"/>
          <p:nvPr/>
        </p:nvSpPr>
        <p:spPr>
          <a:xfrm>
            <a:off x="8077200" y="2120900"/>
            <a:ext cx="3302000" cy="1231900"/>
          </a:xfrm>
          <a:prstGeom prst="rect">
            <a:avLst/>
          </a:prstGeom>
          <a:noFill/>
        </p:spPr>
        <p:txBody>
          <a:bodyPr wrap="square" lIns="0" rIns="0" tIns="0" bIns="0">
            <a:spAutoFit/>
          </a:bodyPr>
          <a:lstStyle/>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System:</a:t>
            </a:r>
            <a:r>
              <a:rPr sz="1050" b="0">
                <a:solidFill>
                  <a:srgbClr val="B9B9B9"/>
                </a:solidFill>
                <a:latin typeface="Inter"/>
                <a:cs typeface="Inter"/>
                <a:ea typeface="Inter"/>
              </a:rPr>
              <a:t> the instruction direction — which notation is required</a:t>
            </a:r>
          </a:p>
          <a:p>
            <a:pPr marL="312039" indent="-31203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Body:</a:t>
            </a:r>
            <a:r>
              <a:rPr sz="1050" b="0">
                <a:solidFill>
                  <a:srgbClr val="B9B9B9"/>
                </a:solidFill>
                <a:latin typeface="Inter"/>
                <a:cs typeface="Inter"/>
                <a:ea typeface="Inter"/>
              </a:rPr>
              <a:t> the violation ratio, swept from 0 to 12 in step 1 and fixed at 6 elsewhere</a:t>
            </a:r>
          </a:p>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Order:</a:t>
            </a:r>
            <a:r>
              <a:rPr sz="1050" b="0">
                <a:solidFill>
                  <a:srgbClr val="B9B9B9"/>
                </a:solidFill>
                <a:latin typeface="Inter"/>
                <a:cs typeface="Inter"/>
                <a:ea typeface="Inter"/>
              </a:rPr>
              <a:t> names are interleaved, not grouped, so recency cannot explain the effect</a:t>
            </a:r>
          </a:p>
          <a:p>
            <a:pPr marL="416052" indent="-41605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Request:</a:t>
            </a:r>
            <a:r>
              <a:rPr sz="1050" b="0">
                <a:solidFill>
                  <a:srgbClr val="B9B9B9"/>
                </a:solidFill>
                <a:latin typeface="Inter"/>
                <a:cs typeface="Inter"/>
                <a:ea typeface="Inter"/>
              </a:rPr>
              <a:t> identical in every condition, so the decision point is always the same</a:t>
            </a:r>
          </a:p>
        </p:txBody>
      </p:sp>
      <p:sp>
        <p:nvSpPr>
          <p:cNvPr id="26" name="Rounded Rectangle 25"/>
          <p:cNvSpPr/>
          <p:nvPr/>
        </p:nvSpPr>
        <p:spPr>
          <a:xfrm>
            <a:off x="635000" y="4826000"/>
            <a:ext cx="10922000" cy="1428750"/>
          </a:xfrm>
          <a:prstGeom prst="roundRect">
            <a:avLst>
              <a:gd name="adj" fmla="val 5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2800" y="5003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THE CONTEXT IS SYNTHETIC</a:t>
            </a:r>
          </a:p>
        </p:txBody>
      </p:sp>
      <p:sp>
        <p:nvSpPr>
          <p:cNvPr id="28" name="TextBox 2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Real repository files would confound notation with topic, length, and difficulty all at once.</a:t>
            </a:r>
          </a:p>
        </p:txBody>
      </p:sp>
      <p:sp>
        <p:nvSpPr>
          <p:cNvPr id="29" name="TextBox 28"/>
          <p:cNvSpPr txBox="1"/>
          <p:nvPr/>
        </p:nvSpPr>
        <p:spPr>
          <a:xfrm>
            <a:off x="812800" y="5194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 name is drawn from the same verb-noun pool and every function body has the same shape, so the only thing that differs between a compliant and a violating context is the notation itself. The cost is external validity, which is stated as a limitation rather than argued away.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Locating the spans inside the prompt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Spans are located by character offset in the assembled text, then mapped onto tokens.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35</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TEXT TO CHARACTER SPAN TO TOKEN SPAN</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span that cannot be located raises — it is never reported as zero attention.</a:t>
            </a:r>
          </a:p>
        </p:txBody>
      </p:sp>
      <p:pic>
        <p:nvPicPr>
          <p:cNvPr id="11" name="Picture 10" descr="h_span.png"/>
          <p:cNvPicPr>
            <a:picLocks noChangeAspect="1"/>
          </p:cNvPicPr>
          <p:nvPr/>
        </p:nvPicPr>
        <p:blipFill>
          <a:blip r:embed="rId2"/>
          <a:stretch>
            <a:fillRect/>
          </a:stretch>
        </p:blipFill>
        <p:spPr>
          <a:xfrm>
            <a:off x="812800" y="2120900"/>
            <a:ext cx="4274814" cy="1709515"/>
          </a:xfrm>
          <a:prstGeom prst="rect">
            <a:avLst/>
          </a:prstGeom>
        </p:spPr>
      </p:pic>
      <p:sp>
        <p:nvSpPr>
          <p:cNvPr id="12" name="Rounded Rectangle 11"/>
          <p:cNvSpPr/>
          <p:nvPr/>
        </p:nvSpPr>
        <p:spPr>
          <a:xfrm>
            <a:off x="635000" y="4445000"/>
            <a:ext cx="6350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MAPPING, IN CODE</a:t>
            </a:r>
          </a:p>
        </p:txBody>
      </p:sp>
      <p:sp>
        <p:nvSpPr>
          <p:cNvPr id="14" name="Rounded Rectangle 13"/>
          <p:cNvSpPr/>
          <p:nvPr/>
        </p:nvSpPr>
        <p:spPr>
          <a:xfrm>
            <a:off x="812800" y="4813300"/>
            <a:ext cx="5994400" cy="1263650"/>
          </a:xfrm>
          <a:prstGeom prst="roundRect">
            <a:avLst>
              <a:gd name="adj" fmla="val 3015"/>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27100" y="4902200"/>
            <a:ext cx="5765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start = text.index(target_word)</a:t>
            </a:r>
          </a:p>
        </p:txBody>
      </p:sp>
      <p:sp>
        <p:nvSpPr>
          <p:cNvPr id="16" name="TextBox 15"/>
          <p:cNvSpPr txBox="1"/>
          <p:nvPr/>
        </p:nvSpPr>
        <p:spPr>
          <a:xfrm>
            <a:off x="927100" y="5067935"/>
            <a:ext cx="5765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spans['instr_rule_word'] = char_to_token(enc, start, len(target_word))</a:t>
            </a:r>
          </a:p>
        </p:txBody>
      </p:sp>
      <p:sp>
        <p:nvSpPr>
          <p:cNvPr id="17" name="TextBox 16"/>
          <p:cNvSpPr txBox="1"/>
          <p:nvPr/>
        </p:nvSpPr>
        <p:spPr>
          <a:xfrm>
            <a:off x="927100" y="5233670"/>
            <a:ext cx="5765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if not spans['instr_rule_word']:</a:t>
            </a:r>
          </a:p>
        </p:txBody>
      </p:sp>
      <p:sp>
        <p:nvSpPr>
          <p:cNvPr id="18" name="TextBox 17"/>
          <p:cNvSpPr txBox="1"/>
          <p:nvPr/>
        </p:nvSpPr>
        <p:spPr>
          <a:xfrm>
            <a:off x="927100" y="5399405"/>
            <a:ext cx="5765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raise SpanNotFound('instr_rule_word')   # never return zero</a:t>
            </a:r>
          </a:p>
        </p:txBody>
      </p:sp>
      <p:sp>
        <p:nvSpPr>
          <p:cNvPr id="19" name="Rounded Rectangle 18"/>
          <p:cNvSpPr/>
          <p:nvPr/>
        </p:nvSpPr>
        <p:spPr>
          <a:xfrm>
            <a:off x="7137400" y="4445000"/>
            <a:ext cx="44196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0" y="46228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OFFSETS AND NOT STRING SEARCH ON TOKENS</a:t>
            </a:r>
          </a:p>
        </p:txBody>
      </p:sp>
      <p:sp>
        <p:nvSpPr>
          <p:cNvPr id="21" name="TextBox 20"/>
          <p:cNvSpPr txBox="1"/>
          <p:nvPr/>
        </p:nvSpPr>
        <p:spPr>
          <a:xfrm>
            <a:off x="7315200" y="5868765"/>
            <a:ext cx="4064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Token strings differ per model; character offsets do not.</a:t>
            </a:r>
          </a:p>
        </p:txBody>
      </p:sp>
      <p:sp>
        <p:nvSpPr>
          <p:cNvPr id="22" name="TextBox 21"/>
          <p:cNvSpPr txBox="1"/>
          <p:nvPr/>
        </p:nvSpPr>
        <p:spPr>
          <a:xfrm>
            <a:off x="7315200" y="4813300"/>
            <a:ext cx="40640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same span therefore covers the same characters on all four models, even though it covers a different number of tokens on each. That difference is exactly what the per-token normalisation removes.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Performing the substitution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Read the cache, average the donor, write it into the target slots of one KV group at one layer.</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36</a:t>
            </a:r>
          </a:p>
        </p:txBody>
      </p:sp>
      <p:sp>
        <p:nvSpPr>
          <p:cNvPr id="8" name="Rounded Rectangle 7"/>
          <p:cNvSpPr/>
          <p:nvPr/>
        </p:nvSpPr>
        <p:spPr>
          <a:xfrm>
            <a:off x="635000" y="1752600"/>
            <a:ext cx="7366000" cy="2857500"/>
          </a:xfrm>
          <a:prstGeom prst="roundRect">
            <a:avLst>
              <a:gd name="adj" fmla="val 266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010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CORE OF THE INTERVENTION</a:t>
            </a:r>
          </a:p>
        </p:txBody>
      </p:sp>
      <p:sp>
        <p:nvSpPr>
          <p:cNvPr id="10" name="Rounded Rectangle 9"/>
          <p:cNvSpPr/>
          <p:nvPr/>
        </p:nvSpPr>
        <p:spPr>
          <a:xfrm>
            <a:off x="812800" y="2120900"/>
            <a:ext cx="7010400" cy="2311400"/>
          </a:xfrm>
          <a:prstGeom prst="roundRect">
            <a:avLst>
              <a:gd name="adj" fmla="val 1648"/>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k, v = past_key_values[layer]        # [b, kv_heads, seq, d_head]</a:t>
            </a:r>
          </a:p>
        </p:txBody>
      </p:sp>
      <p:sp>
        <p:nvSpPr>
          <p:cNvPr id="12" name="TextBox 11"/>
          <p:cNvSpPr txBox="1"/>
          <p:nvPr/>
        </p:nvSpPr>
        <p:spPr>
          <a:xfrm>
            <a:off x="927100" y="237553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3" name="TextBox 12"/>
          <p:cNvSpPr txBox="1"/>
          <p:nvPr/>
        </p:nvSpPr>
        <p:spPr>
          <a:xfrm>
            <a:off x="927100" y="254127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donor_v = v[:, :, donor_positions, :].mean(dim=2, keepdim=True)</a:t>
            </a:r>
          </a:p>
        </p:txBody>
      </p:sp>
      <p:sp>
        <p:nvSpPr>
          <p:cNvPr id="14" name="TextBox 13"/>
          <p:cNvSpPr txBox="1"/>
          <p:nvPr/>
        </p:nvSpPr>
        <p:spPr>
          <a:xfrm>
            <a:off x="927100" y="2707005"/>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v[:, :, target_positions, :] = donor_v      # broadcast, no skips</a:t>
            </a:r>
          </a:p>
        </p:txBody>
      </p:sp>
      <p:sp>
        <p:nvSpPr>
          <p:cNvPr id="15" name="TextBox 14"/>
          <p:cNvSpPr txBox="1"/>
          <p:nvPr/>
        </p:nvSpPr>
        <p:spPr>
          <a:xfrm>
            <a:off x="927100" y="287274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6" name="TextBox 15"/>
          <p:cNvSpPr txBox="1"/>
          <p:nvPr/>
        </p:nvSpPr>
        <p:spPr>
          <a:xfrm>
            <a:off x="927100" y="303847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if kind == 'key':      write only k</a:t>
            </a:r>
          </a:p>
        </p:txBody>
      </p:sp>
      <p:sp>
        <p:nvSpPr>
          <p:cNvPr id="17" name="TextBox 16"/>
          <p:cNvSpPr txBox="1"/>
          <p:nvPr/>
        </p:nvSpPr>
        <p:spPr>
          <a:xfrm>
            <a:off x="927100" y="320421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if kind == 'value':    write only v</a:t>
            </a:r>
          </a:p>
        </p:txBody>
      </p:sp>
      <p:sp>
        <p:nvSpPr>
          <p:cNvPr id="18" name="TextBox 17"/>
          <p:cNvSpPr txBox="1"/>
          <p:nvPr/>
        </p:nvSpPr>
        <p:spPr>
          <a:xfrm>
            <a:off x="927100" y="336994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if kind == 'key_value': write both</a:t>
            </a:r>
          </a:p>
        </p:txBody>
      </p:sp>
      <p:sp>
        <p:nvSpPr>
          <p:cNvPr id="19" name="TextBox 18"/>
          <p:cNvSpPr txBox="1"/>
          <p:nvPr/>
        </p:nvSpPr>
        <p:spPr>
          <a:xfrm>
            <a:off x="927100" y="353568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20" name="TextBox 19"/>
          <p:cNvSpPr txBox="1"/>
          <p:nvPr/>
        </p:nvSpPr>
        <p:spPr>
          <a:xfrm>
            <a:off x="927100" y="370141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if len(target_positions) == 0:</a:t>
            </a:r>
          </a:p>
        </p:txBody>
      </p:sp>
      <p:sp>
        <p:nvSpPr>
          <p:cNvPr id="21" name="TextBox 20"/>
          <p:cNvSpPr txBox="1"/>
          <p:nvPr/>
        </p:nvSpPr>
        <p:spPr>
          <a:xfrm>
            <a:off x="927100" y="386715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raise EmptySubstitution(layer, donor)    # never silently no-op</a:t>
            </a:r>
          </a:p>
        </p:txBody>
      </p:sp>
      <p:sp>
        <p:nvSpPr>
          <p:cNvPr id="22" name="Rounded Rectangle 21"/>
          <p:cNvSpPr/>
          <p:nvPr/>
        </p:nvSpPr>
        <p:spPr>
          <a:xfrm>
            <a:off x="8153400" y="1752600"/>
            <a:ext cx="3403600" cy="2857500"/>
          </a:xfrm>
          <a:prstGeom prst="roundRect">
            <a:avLst>
              <a:gd name="adj" fmla="val 266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31200" y="1930400"/>
            <a:ext cx="3048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IS GUARANTEED HERE</a:t>
            </a:r>
          </a:p>
        </p:txBody>
      </p:sp>
      <p:sp>
        <p:nvSpPr>
          <p:cNvPr id="24" name="TextBox 23"/>
          <p:cNvSpPr txBox="1"/>
          <p:nvPr/>
        </p:nvSpPr>
        <p:spPr>
          <a:xfrm>
            <a:off x="8331200" y="2120900"/>
            <a:ext cx="3048000" cy="1231900"/>
          </a:xfrm>
          <a:prstGeom prst="rect">
            <a:avLst/>
          </a:prstGeom>
          <a:noFill/>
        </p:spPr>
        <p:txBody>
          <a:bodyPr wrap="square" lIns="0" rIns="0" tIns="0" bIns="0">
            <a:spAutoFit/>
          </a:bodyPr>
          <a:lstStyle/>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Coverage:</a:t>
            </a:r>
            <a:r>
              <a:rPr sz="1050" b="0">
                <a:solidFill>
                  <a:srgbClr val="B9B9B9"/>
                </a:solidFill>
                <a:latin typeface="Inter"/>
                <a:cs typeface="Inter"/>
                <a:ea typeface="Inter"/>
              </a:rPr>
              <a:t> every target position is written, on every model</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Granularity:</a:t>
            </a:r>
            <a:r>
              <a:rPr sz="1050" b="0">
                <a:solidFill>
                  <a:srgbClr val="B9B9B9"/>
                </a:solidFill>
                <a:latin typeface="Inter"/>
                <a:cs typeface="Inter"/>
                <a:ea typeface="Inter"/>
              </a:rPr>
              <a:t> the write is per KV group, as the architecture requires</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Locality:</a:t>
            </a:r>
            <a:r>
              <a:rPr sz="1050" b="0">
                <a:solidFill>
                  <a:srgbClr val="B9B9B9"/>
                </a:solidFill>
                <a:latin typeface="Inter"/>
                <a:cs typeface="Inter"/>
                <a:ea typeface="Inter"/>
              </a:rPr>
              <a:t> exactly one layer is touched unless the mode is a sweep</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Loudness:</a:t>
            </a:r>
            <a:r>
              <a:rPr sz="1050" b="0">
                <a:solidFill>
                  <a:srgbClr val="B9B9B9"/>
                </a:solidFill>
                <a:latin typeface="Inter"/>
                <a:cs typeface="Inter"/>
                <a:ea typeface="Inter"/>
              </a:rPr>
              <a:t> an empty target set raises instead of returning the baseline</a:t>
            </a:r>
          </a:p>
        </p:txBody>
      </p:sp>
      <p:sp>
        <p:nvSpPr>
          <p:cNvPr id="25" name="Rounded Rectangle 24"/>
          <p:cNvSpPr/>
          <p:nvPr/>
        </p:nvSpPr>
        <p:spPr>
          <a:xfrm>
            <a:off x="635000" y="4762500"/>
            <a:ext cx="10922000" cy="1492250"/>
          </a:xfrm>
          <a:prstGeom prst="roundRect">
            <a:avLst>
              <a:gd name="adj" fmla="val 510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940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THREE KINDS ARE MEASURED ON ONE FORWARD PASS</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So the Key, Value and combined numbers on any slide come from the same prompt, the same cache and the same conditions.</a:t>
            </a:r>
          </a:p>
        </p:txBody>
      </p:sp>
      <p:sp>
        <p:nvSpPr>
          <p:cNvPr id="28" name="TextBox 27"/>
          <p:cNvSpPr txBox="1"/>
          <p:nvPr/>
        </p:nvSpPr>
        <p:spPr>
          <a:xfrm>
            <a:off x="812800" y="5130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Separating them across runs would introduce a difference in nothing but bookkeeping, and would make the paired comparison between roads weaker than it needs to be.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Where results go, and why the path matters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directory per step, one file per condition, and a slug that encodes the whole condition.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37</a:t>
            </a:r>
          </a:p>
        </p:txBody>
      </p:sp>
      <p:sp>
        <p:nvSpPr>
          <p:cNvPr id="8" name="Rounded Rectangle 7"/>
          <p:cNvSpPr/>
          <p:nvPr/>
        </p:nvSpPr>
        <p:spPr>
          <a:xfrm>
            <a:off x="635000" y="1752600"/>
            <a:ext cx="109220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PATH AND SLUG</a:t>
            </a:r>
          </a:p>
        </p:txBody>
      </p:sp>
      <p:sp>
        <p:nvSpPr>
          <p:cNvPr id="10" name="TextBox 9"/>
          <p:cNvSpPr txBox="1"/>
          <p:nvPr/>
        </p:nvSpPr>
        <p:spPr>
          <a:xfrm>
            <a:off x="812800" y="3779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Split this path by model and both immutability and resume break at once.</a:t>
            </a:r>
          </a:p>
        </p:txBody>
      </p:sp>
      <p:pic>
        <p:nvPicPr>
          <p:cNvPr id="11" name="Picture 10" descr="h_slug.png"/>
          <p:cNvPicPr>
            <a:picLocks noChangeAspect="1"/>
          </p:cNvPicPr>
          <p:nvPr/>
        </p:nvPicPr>
        <p:blipFill>
          <a:blip r:embed="rId2"/>
          <a:stretch>
            <a:fillRect/>
          </a:stretch>
        </p:blipFill>
        <p:spPr>
          <a:xfrm>
            <a:off x="812800" y="2120900"/>
            <a:ext cx="4167357" cy="1582515"/>
          </a:xfrm>
          <a:prstGeom prst="rect">
            <a:avLst/>
          </a:prstGeom>
        </p:spPr>
      </p:pic>
      <p:sp>
        <p:nvSpPr>
          <p:cNvPr id="12" name="Rounded Rectangle 11"/>
          <p:cNvSpPr/>
          <p:nvPr/>
        </p:nvSpPr>
        <p:spPr>
          <a:xfrm>
            <a:off x="635000" y="4318000"/>
            <a:ext cx="6350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4958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A RESULT FILE CONTAINS</a:t>
            </a:r>
          </a:p>
        </p:txBody>
      </p:sp>
      <p:sp>
        <p:nvSpPr>
          <p:cNvPr id="14" name="TextBox 13"/>
          <p:cNvSpPr txBox="1"/>
          <p:nvPr/>
        </p:nvSpPr>
        <p:spPr>
          <a:xfrm>
            <a:off x="812800" y="4686300"/>
            <a:ext cx="1252637"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condition</a:t>
            </a:r>
          </a:p>
        </p:txBody>
      </p:sp>
      <p:sp>
        <p:nvSpPr>
          <p:cNvPr id="15" name="TextBox 14"/>
          <p:cNvSpPr txBox="1"/>
          <p:nvPr/>
        </p:nvSpPr>
        <p:spPr>
          <a:xfrm>
            <a:off x="2065437" y="4686300"/>
            <a:ext cx="4741763"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full condition, as stored data</a:t>
            </a:r>
          </a:p>
        </p:txBody>
      </p:sp>
      <p:sp>
        <p:nvSpPr>
          <p:cNvPr id="16" name="TextBox 15"/>
          <p:cNvSpPr txBox="1"/>
          <p:nvPr/>
        </p:nvSpPr>
        <p:spPr>
          <a:xfrm>
            <a:off x="812800" y="4927600"/>
            <a:ext cx="1252637"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metrics.per_layer</a:t>
            </a:r>
          </a:p>
        </p:txBody>
      </p:sp>
      <p:sp>
        <p:nvSpPr>
          <p:cNvPr id="17" name="TextBox 16"/>
          <p:cNvSpPr txBox="1"/>
          <p:nvPr/>
        </p:nvSpPr>
        <p:spPr>
          <a:xfrm>
            <a:off x="2065437" y="4927600"/>
            <a:ext cx="4741763"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layer-keyed measurements, when the mode produces them</a:t>
            </a:r>
          </a:p>
        </p:txBody>
      </p:sp>
      <p:sp>
        <p:nvSpPr>
          <p:cNvPr id="18" name="TextBox 17"/>
          <p:cNvSpPr txBox="1"/>
          <p:nvPr/>
        </p:nvSpPr>
        <p:spPr>
          <a:xfrm>
            <a:off x="812800" y="5168900"/>
            <a:ext cx="1252637"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metrics.extra</a:t>
            </a:r>
          </a:p>
        </p:txBody>
      </p:sp>
      <p:sp>
        <p:nvSpPr>
          <p:cNvPr id="19" name="TextBox 18"/>
          <p:cNvSpPr txBox="1"/>
          <p:nvPr/>
        </p:nvSpPr>
        <p:spPr>
          <a:xfrm>
            <a:off x="2065437" y="5168900"/>
            <a:ext cx="4741763"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mode, donor, the three reference scores, gap, undecidable</a:t>
            </a:r>
          </a:p>
        </p:txBody>
      </p:sp>
      <p:sp>
        <p:nvSpPr>
          <p:cNvPr id="20" name="TextBox 19"/>
          <p:cNvSpPr txBox="1"/>
          <p:nvPr/>
        </p:nvSpPr>
        <p:spPr>
          <a:xfrm>
            <a:off x="812800" y="5410200"/>
            <a:ext cx="1252637"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meta</a:t>
            </a:r>
          </a:p>
        </p:txBody>
      </p:sp>
      <p:sp>
        <p:nvSpPr>
          <p:cNvPr id="21" name="TextBox 20"/>
          <p:cNvSpPr txBox="1"/>
          <p:nvPr/>
        </p:nvSpPr>
        <p:spPr>
          <a:xfrm>
            <a:off x="2065437" y="5410200"/>
            <a:ext cx="4741763"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git sha, library versions, GPU — filled in automatically</a:t>
            </a:r>
          </a:p>
        </p:txBody>
      </p:sp>
      <p:sp>
        <p:nvSpPr>
          <p:cNvPr id="22" name="Rounded Rectangle 21"/>
          <p:cNvSpPr/>
          <p:nvPr/>
        </p:nvSpPr>
        <p:spPr>
          <a:xfrm>
            <a:off x="7137400" y="4318000"/>
            <a:ext cx="44196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15200" y="44958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EXTRA CARRIES THE REFERENCE SCORES</a:t>
            </a:r>
          </a:p>
        </p:txBody>
      </p:sp>
      <p:sp>
        <p:nvSpPr>
          <p:cNvPr id="24" name="TextBox 23"/>
          <p:cNvSpPr txBox="1"/>
          <p:nvPr/>
        </p:nvSpPr>
        <p:spPr>
          <a:xfrm>
            <a:off x="7315200" y="5868765"/>
            <a:ext cx="4064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Any later re-analysis can recompute the rate from the stored scores.</a:t>
            </a:r>
          </a:p>
        </p:txBody>
      </p:sp>
      <p:sp>
        <p:nvSpPr>
          <p:cNvPr id="25" name="TextBox 24"/>
          <p:cNvSpPr txBox="1"/>
          <p:nvPr/>
        </p:nvSpPr>
        <p:spPr>
          <a:xfrm>
            <a:off x="7315200" y="4686300"/>
            <a:ext cx="40640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Storing the clean, base and intervened scores rather than only the derived rate means the undecidability threshold can be moved afterwards, and the sensitivity reported, without a single GPU hour.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04 · HARNESS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Reproducibility, concretely</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What is pinned, what is checked, and what can be verified without a GPU.</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04 · Harness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38</a:t>
            </a:r>
          </a:p>
        </p:txBody>
      </p:sp>
      <p:sp>
        <p:nvSpPr>
          <p:cNvPr id="8" name="Rounded Rectangle 7"/>
          <p:cNvSpPr/>
          <p:nvPr/>
        </p:nvSpPr>
        <p:spPr>
          <a:xfrm>
            <a:off x="635000" y="1752600"/>
            <a:ext cx="3539067"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PINNED</a:t>
            </a:r>
          </a:p>
        </p:txBody>
      </p:sp>
      <p:sp>
        <p:nvSpPr>
          <p:cNvPr id="10" name="TextBox 9"/>
          <p:cNvSpPr txBox="1"/>
          <p:nvPr/>
        </p:nvSpPr>
        <p:spPr>
          <a:xfrm>
            <a:off x="812800" y="2120900"/>
            <a:ext cx="3183467" cy="939800"/>
          </a:xfrm>
          <a:prstGeom prst="rect">
            <a:avLst/>
          </a:prstGeom>
          <a:noFill/>
        </p:spPr>
        <p:txBody>
          <a:bodyPr wrap="square" lIns="0" rIns="0" tIns="0" bIns="0">
            <a:spAutoFit/>
          </a:bodyPr>
          <a:lstStyle/>
          <a:p>
            <a:pPr marL="312039" indent="-31203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Seed:</a:t>
            </a:r>
            <a:r>
              <a:rPr sz="1050" b="0">
                <a:solidFill>
                  <a:srgbClr val="B9B9B9"/>
                </a:solidFill>
                <a:latin typeface="Inter"/>
                <a:cs typeface="Inter"/>
                <a:ea typeface="Inter"/>
              </a:rPr>
              <a:t> 42 in every condition, stored with the result</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Versions:</a:t>
            </a:r>
            <a:r>
              <a:rPr sz="1050" b="0">
                <a:solidFill>
                  <a:srgbClr val="B9B9B9"/>
                </a:solidFill>
                <a:latin typeface="Inter"/>
                <a:cs typeface="Inter"/>
                <a:ea typeface="Inter"/>
              </a:rPr>
              <a:t> library versions recorded per run</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Commit:</a:t>
            </a:r>
            <a:r>
              <a:rPr sz="1050" b="0">
                <a:solidFill>
                  <a:srgbClr val="B9B9B9"/>
                </a:solidFill>
                <a:latin typeface="Inter"/>
                <a:cs typeface="Inter"/>
                <a:ea typeface="Inter"/>
              </a:rPr>
              <a:t> git sha stamped into every file</a:t>
            </a:r>
          </a:p>
        </p:txBody>
      </p:sp>
      <p:sp>
        <p:nvSpPr>
          <p:cNvPr id="11" name="Rounded Rectangle 10"/>
          <p:cNvSpPr/>
          <p:nvPr/>
        </p:nvSpPr>
        <p:spPr>
          <a:xfrm>
            <a:off x="4326467" y="1752600"/>
            <a:ext cx="3539067"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04267"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CHECKED</a:t>
            </a:r>
          </a:p>
        </p:txBody>
      </p:sp>
      <p:sp>
        <p:nvSpPr>
          <p:cNvPr id="13" name="TextBox 12"/>
          <p:cNvSpPr txBox="1"/>
          <p:nvPr/>
        </p:nvSpPr>
        <p:spPr>
          <a:xfrm>
            <a:off x="4504267" y="2120900"/>
            <a:ext cx="3183467" cy="939800"/>
          </a:xfrm>
          <a:prstGeom prst="rect">
            <a:avLst/>
          </a:prstGeom>
          <a:noFill/>
        </p:spPr>
        <p:txBody>
          <a:bodyPr wrap="square" lIns="0" rIns="0" tIns="0" bIns="0">
            <a:spAutoFit/>
          </a:bodyPr>
          <a:lstStyle/>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Determinism:</a:t>
            </a:r>
            <a:r>
              <a:rPr sz="1050" b="0">
                <a:solidFill>
                  <a:srgbClr val="B9B9B9"/>
                </a:solidFill>
                <a:latin typeface="Inter"/>
                <a:cs typeface="Inter"/>
                <a:ea typeface="Inter"/>
              </a:rPr>
              <a:t> 80,640 shared values, 0 mismatches</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Guards:</a:t>
            </a:r>
            <a:r>
              <a:rPr sz="1050" b="0">
                <a:solidFill>
                  <a:srgbClr val="B9B9B9"/>
                </a:solidFill>
                <a:latin typeface="Inter"/>
                <a:cs typeface="Inter"/>
                <a:ea typeface="Inter"/>
              </a:rPr>
              <a:t> unit tests assert that each guard raises</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Census:</a:t>
            </a:r>
            <a:r>
              <a:rPr sz="1050" b="0">
                <a:solidFill>
                  <a:srgbClr val="B9B9B9"/>
                </a:solidFill>
                <a:latin typeface="Inter"/>
                <a:cs typeface="Inter"/>
                <a:ea typeface="Inter"/>
              </a:rPr>
              <a:t> condition counts recomputed from disk, not remembered</a:t>
            </a:r>
          </a:p>
        </p:txBody>
      </p:sp>
      <p:sp>
        <p:nvSpPr>
          <p:cNvPr id="14" name="Rounded Rectangle 13"/>
          <p:cNvSpPr/>
          <p:nvPr/>
        </p:nvSpPr>
        <p:spPr>
          <a:xfrm>
            <a:off x="8017933" y="1752600"/>
            <a:ext cx="3539067"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95733"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VERIFIABLE OFFLINE</a:t>
            </a:r>
          </a:p>
        </p:txBody>
      </p:sp>
      <p:sp>
        <p:nvSpPr>
          <p:cNvPr id="16" name="TextBox 15"/>
          <p:cNvSpPr txBox="1"/>
          <p:nvPr/>
        </p:nvSpPr>
        <p:spPr>
          <a:xfrm>
            <a:off x="8195733" y="2120900"/>
            <a:ext cx="3183467" cy="939800"/>
          </a:xfrm>
          <a:prstGeom prst="rect">
            <a:avLst/>
          </a:prstGeom>
          <a:noFill/>
        </p:spPr>
        <p:txBody>
          <a:bodyPr wrap="square" lIns="0" rIns="0" tIns="0" bIns="0">
            <a:spAutoFit/>
          </a:bodyPr>
          <a:lstStyle/>
          <a:p>
            <a:pPr marL="416052" indent="-41605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Prompts:</a:t>
            </a:r>
            <a:r>
              <a:rPr sz="1050" b="0">
                <a:solidFill>
                  <a:srgbClr val="B9B9B9"/>
                </a:solidFill>
                <a:latin typeface="Inter"/>
                <a:cs typeface="Inter"/>
                <a:ea typeface="Inter"/>
              </a:rPr>
              <a:t> built and printed without loading a model</a:t>
            </a:r>
          </a:p>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Spans:</a:t>
            </a:r>
            <a:r>
              <a:rPr sz="1050" b="0">
                <a:solidFill>
                  <a:srgbClr val="B9B9B9"/>
                </a:solidFill>
                <a:latin typeface="Inter"/>
                <a:cs typeface="Inter"/>
                <a:ea typeface="Inter"/>
              </a:rPr>
              <a:t> located and inspected on CPU</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Aggregation:</a:t>
            </a:r>
            <a:r>
              <a:rPr sz="1050" b="0">
                <a:solidFill>
                  <a:srgbClr val="B9B9B9"/>
                </a:solidFill>
                <a:latin typeface="Inter"/>
                <a:cs typeface="Inter"/>
                <a:ea typeface="Inter"/>
              </a:rPr>
              <a:t> every figure regenerated from stored JSON</a:t>
            </a:r>
          </a:p>
        </p:txBody>
      </p:sp>
      <p:sp>
        <p:nvSpPr>
          <p:cNvPr id="17" name="Rounded Rectangle 16"/>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RULE THAT KEEPS FIGURES HONEST</a:t>
            </a:r>
          </a:p>
        </p:txBody>
      </p:sp>
      <p:sp>
        <p:nvSpPr>
          <p:cNvPr id="19" name="TextBox 18"/>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number that appears on a slide but in no script is a number nobody can check.</a:t>
            </a:r>
          </a:p>
        </p:txBody>
      </p:sp>
      <p:sp>
        <p:nvSpPr>
          <p:cNvPr id="20" name="TextBox 19"/>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 aggregate and every figure in this deck is produced by a script that reads the stored result files. No value was transcribed by hand, and no figure was drawn by hand.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The question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Does a file that already breaks the convention make the model break it too?</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39</a:t>
            </a:r>
          </a:p>
        </p:txBody>
      </p:sp>
      <p:sp>
        <p:nvSpPr>
          <p:cNvPr id="8" name="Rounded Rectangle 7"/>
          <p:cNvSpPr/>
          <p:nvPr/>
        </p:nvSpPr>
        <p:spPr>
          <a:xfrm>
            <a:off x="635000" y="1752600"/>
            <a:ext cx="5588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23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IS MANIPULATED</a:t>
            </a:r>
          </a:p>
        </p:txBody>
      </p:sp>
      <p:sp>
        <p:nvSpPr>
          <p:cNvPr id="10" name="TextBox 9"/>
          <p:cNvSpPr txBox="1"/>
          <p:nvPr/>
        </p:nvSpPr>
        <p:spPr>
          <a:xfrm>
            <a:off x="812800" y="2120900"/>
            <a:ext cx="5232400" cy="1231900"/>
          </a:xfrm>
          <a:prstGeom prst="rect">
            <a:avLst/>
          </a:prstGeom>
          <a:noFill/>
        </p:spPr>
        <p:txBody>
          <a:bodyPr wrap="square" lIns="0" rIns="0" tIns="0" bIns="0">
            <a:spAutoFit/>
          </a:bodyPr>
          <a:lstStyle/>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Held fixed:</a:t>
            </a:r>
            <a:r>
              <a:rPr sz="1050" b="0">
                <a:solidFill>
                  <a:srgbClr val="B9B9B9"/>
                </a:solidFill>
                <a:latin typeface="Inter"/>
                <a:cs typeface="Inter"/>
                <a:ea typeface="Inter"/>
              </a:rPr>
              <a:t> the instruction text, the request, the twelve function bodies</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Varied:</a:t>
            </a:r>
            <a:r>
              <a:rPr sz="1050" b="0">
                <a:solidFill>
                  <a:srgbClr val="B9B9B9"/>
                </a:solidFill>
                <a:latin typeface="Inter"/>
                <a:cs typeface="Inter"/>
                <a:ea typeface="Inter"/>
              </a:rPr>
              <a:t> how many of the twelve names violate the instruction</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Measured:</a:t>
            </a:r>
            <a:r>
              <a:rPr sz="1050" b="0">
                <a:solidFill>
                  <a:srgbClr val="B9B9B9"/>
                </a:solidFill>
                <a:latin typeface="Inter"/>
                <a:cs typeface="Inter"/>
                <a:ea typeface="Inter"/>
              </a:rPr>
              <a:t> whether the generated function name follows the instruction</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Repeated:</a:t>
            </a:r>
            <a:r>
              <a:rPr sz="1050" b="0">
                <a:solidFill>
                  <a:srgbClr val="B9B9B9"/>
                </a:solidFill>
                <a:latin typeface="Inter"/>
                <a:cs typeface="Inter"/>
                <a:ea typeface="Inter"/>
              </a:rPr>
              <a:t> over 42 disjoint name blocks and both notation directions</a:t>
            </a:r>
          </a:p>
        </p:txBody>
      </p:sp>
      <p:sp>
        <p:nvSpPr>
          <p:cNvPr id="11" name="Rounded Rectangle 10"/>
          <p:cNvSpPr/>
          <p:nvPr/>
        </p:nvSpPr>
        <p:spPr>
          <a:xfrm>
            <a:off x="6375400" y="1752600"/>
            <a:ext cx="5181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53200" y="1930400"/>
            <a:ext cx="482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OUTCOME WOULD HAVE MEANT</a:t>
            </a:r>
          </a:p>
        </p:txBody>
      </p:sp>
      <p:sp>
        <p:nvSpPr>
          <p:cNvPr id="13" name="TextBox 12"/>
          <p:cNvSpPr txBox="1"/>
          <p:nvPr/>
        </p:nvSpPr>
        <p:spPr>
          <a:xfrm>
            <a:off x="6553200" y="4097115"/>
            <a:ext cx="4826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Stated before the run — the observed outcome is the first row.</a:t>
            </a:r>
          </a:p>
        </p:txBody>
      </p:sp>
      <p:sp>
        <p:nvSpPr>
          <p:cNvPr id="14" name="TextBox 13"/>
          <p:cNvSpPr txBox="1"/>
          <p:nvPr/>
        </p:nvSpPr>
        <p:spPr>
          <a:xfrm>
            <a:off x="6553200" y="2184400"/>
            <a:ext cx="20269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IF WE HAD SEEN</a:t>
            </a:r>
          </a:p>
        </p:txBody>
      </p:sp>
      <p:sp>
        <p:nvSpPr>
          <p:cNvPr id="15" name="TextBox 14"/>
          <p:cNvSpPr txBox="1"/>
          <p:nvPr/>
        </p:nvSpPr>
        <p:spPr>
          <a:xfrm>
            <a:off x="8580120" y="2184400"/>
            <a:ext cx="279908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READING</a:t>
            </a:r>
          </a:p>
        </p:txBody>
      </p:sp>
      <p:sp>
        <p:nvSpPr>
          <p:cNvPr id="16" name="Rectangle 15"/>
          <p:cNvSpPr/>
          <p:nvPr/>
        </p:nvSpPr>
        <p:spPr>
          <a:xfrm>
            <a:off x="6553200" y="2336800"/>
            <a:ext cx="4826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3200" y="2438400"/>
            <a:ext cx="1861820" cy="53597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a sharp fall with more violations</a:t>
            </a:r>
          </a:p>
        </p:txBody>
      </p:sp>
      <p:sp>
        <p:nvSpPr>
          <p:cNvPr id="18" name="TextBox 17"/>
          <p:cNvSpPr txBox="1"/>
          <p:nvPr/>
        </p:nvSpPr>
        <p:spPr>
          <a:xfrm>
            <a:off x="8580120" y="2438400"/>
            <a:ext cx="2633980" cy="53597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context drives the failure; there is a mechanism to find</a:t>
            </a:r>
          </a:p>
        </p:txBody>
      </p:sp>
      <p:sp>
        <p:nvSpPr>
          <p:cNvPr id="19" name="Rectangle 18"/>
          <p:cNvSpPr/>
          <p:nvPr/>
        </p:nvSpPr>
        <p:spPr>
          <a:xfrm>
            <a:off x="6553200" y="2910872"/>
            <a:ext cx="4826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3200" y="2974372"/>
            <a:ext cx="1861820" cy="53597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a flat line</a:t>
            </a:r>
          </a:p>
        </p:txBody>
      </p:sp>
      <p:sp>
        <p:nvSpPr>
          <p:cNvPr id="21" name="TextBox 20"/>
          <p:cNvSpPr txBox="1"/>
          <p:nvPr/>
        </p:nvSpPr>
        <p:spPr>
          <a:xfrm>
            <a:off x="8580120" y="2974372"/>
            <a:ext cx="2633980" cy="53597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failure is about the instruction, not the context; the study stops</a:t>
            </a:r>
          </a:p>
        </p:txBody>
      </p:sp>
      <p:sp>
        <p:nvSpPr>
          <p:cNvPr id="22" name="Rectangle 21"/>
          <p:cNvSpPr/>
          <p:nvPr/>
        </p:nvSpPr>
        <p:spPr>
          <a:xfrm>
            <a:off x="6553200" y="3446844"/>
            <a:ext cx="4826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3200" y="3510344"/>
            <a:ext cx="1861820" cy="53597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a fall in one direction only</a:t>
            </a:r>
          </a:p>
        </p:txBody>
      </p:sp>
      <p:sp>
        <p:nvSpPr>
          <p:cNvPr id="24" name="TextBox 23"/>
          <p:cNvSpPr txBox="1"/>
          <p:nvPr/>
        </p:nvSpPr>
        <p:spPr>
          <a:xfrm>
            <a:off x="8580120" y="3510344"/>
            <a:ext cx="2633980" cy="53597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effect is about snake_case, not about violation as such</a:t>
            </a:r>
          </a:p>
        </p:txBody>
      </p:sp>
      <p:sp>
        <p:nvSpPr>
          <p:cNvPr id="25" name="Rounded Rectangle 24"/>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STEP USES GENERATION, NOT PREFERENCE</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Every later step measures preference; this one has to establish that the behaviour itself moves.</a:t>
            </a:r>
          </a:p>
        </p:txBody>
      </p:sp>
      <p:sp>
        <p:nvSpPr>
          <p:cNvPr id="28" name="TextBox 27"/>
          <p:cNvSpPr txBox="1"/>
          <p:nvPr/>
        </p:nvSpPr>
        <p:spPr>
          <a:xfrm>
            <a:off x="812800" y="5003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 preference score would be cheaper and less noisy, but it would not show that the model actually writes the wrong name. Step 1 pays the cost of generation so that the rest of the study can use the cheaper measure with a known anchor.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The condition grid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2,184 generations: thirteen violation levels, two directions, forty-two blocks, two models.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40</a:t>
            </a:r>
          </a:p>
        </p:txBody>
      </p:sp>
      <p:sp>
        <p:nvSpPr>
          <p:cNvPr id="8" name="Rounded Rectangle 7"/>
          <p:cNvSpPr/>
          <p:nvPr/>
        </p:nvSpPr>
        <p:spPr>
          <a:xfrm>
            <a:off x="635000" y="1752600"/>
            <a:ext cx="10922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GRID AND ITS AXES</a:t>
            </a:r>
          </a:p>
        </p:txBody>
      </p:sp>
      <p:sp>
        <p:nvSpPr>
          <p:cNvPr id="10" name="TextBox 9"/>
          <p:cNvSpPr txBox="1"/>
          <p:nvPr/>
        </p:nvSpPr>
        <p:spPr>
          <a:xfrm>
            <a:off x="812800" y="4033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Only two of the four models were run here — the two code-specialised ones. That is a stated limitation, not an oversight.</a:t>
            </a:r>
          </a:p>
        </p:txBody>
      </p:sp>
      <p:pic>
        <p:nvPicPr>
          <p:cNvPr id="11" name="Picture 10" descr="s1_grid.png"/>
          <p:cNvPicPr>
            <a:picLocks noChangeAspect="1"/>
          </p:cNvPicPr>
          <p:nvPr/>
        </p:nvPicPr>
        <p:blipFill>
          <a:blip r:embed="rId2"/>
          <a:stretch>
            <a:fillRect/>
          </a:stretch>
        </p:blipFill>
        <p:spPr>
          <a:xfrm>
            <a:off x="812800" y="2120900"/>
            <a:ext cx="4836234" cy="1836515"/>
          </a:xfrm>
          <a:prstGeom prst="rect">
            <a:avLst/>
          </a:prstGeom>
        </p:spPr>
      </p:pic>
      <p:sp>
        <p:nvSpPr>
          <p:cNvPr id="12" name="Rounded Rectangle 11"/>
          <p:cNvSpPr/>
          <p:nvPr/>
        </p:nvSpPr>
        <p:spPr>
          <a:xfrm>
            <a:off x="635000" y="4572000"/>
            <a:ext cx="6350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7498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BOTH DIRECTIONS MATTER</a:t>
            </a:r>
          </a:p>
        </p:txBody>
      </p:sp>
      <p:sp>
        <p:nvSpPr>
          <p:cNvPr id="14" name="TextBox 13"/>
          <p:cNvSpPr txBox="1"/>
          <p:nvPr/>
        </p:nvSpPr>
        <p:spPr>
          <a:xfrm>
            <a:off x="812800" y="5868765"/>
            <a:ext cx="5994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Without the second direction, a notation preference would be indistinguishable from a violation effect.</a:t>
            </a:r>
          </a:p>
        </p:txBody>
      </p:sp>
      <p:sp>
        <p:nvSpPr>
          <p:cNvPr id="15" name="TextBox 14"/>
          <p:cNvSpPr txBox="1"/>
          <p:nvPr/>
        </p:nvSpPr>
        <p:spPr>
          <a:xfrm>
            <a:off x="812800" y="4940300"/>
            <a:ext cx="59944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only the camelCase-required direction were run, a model that simply likes snake_case would produce the same curve as a model that is influenced by violations. Running both directions separates them.</a:t>
            </a:r>
          </a:p>
        </p:txBody>
      </p:sp>
      <p:sp>
        <p:nvSpPr>
          <p:cNvPr id="16" name="Rounded Rectangle 15"/>
          <p:cNvSpPr/>
          <p:nvPr/>
        </p:nvSpPr>
        <p:spPr>
          <a:xfrm>
            <a:off x="7137400" y="4572000"/>
            <a:ext cx="44196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0" y="47498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ONE GENERATION PER CONDITION</a:t>
            </a:r>
          </a:p>
        </p:txBody>
      </p:sp>
      <p:sp>
        <p:nvSpPr>
          <p:cNvPr id="18" name="TextBox 17"/>
          <p:cNvSpPr txBox="1"/>
          <p:nvPr/>
        </p:nvSpPr>
        <p:spPr>
          <a:xfrm>
            <a:off x="7315200" y="5685980"/>
            <a:ext cx="4064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Greedy decoding, so the only randomness is in which names a block contains.</a:t>
            </a:r>
          </a:p>
        </p:txBody>
      </p:sp>
      <p:sp>
        <p:nvSpPr>
          <p:cNvPr id="19" name="TextBox 18"/>
          <p:cNvSpPr txBox="1"/>
          <p:nvPr/>
        </p:nvSpPr>
        <p:spPr>
          <a:xfrm>
            <a:off x="7315200" y="4940300"/>
            <a:ext cx="4064000" cy="661492"/>
          </a:xfrm>
          <a:prstGeom prst="rect">
            <a:avLst/>
          </a:prstGeom>
          <a:noFill/>
        </p:spPr>
        <p:txBody>
          <a:bodyPr wrap="square" lIns="0" rIns="0" tIns="0" bIns="0" anchor="t">
            <a:spAutoFit/>
          </a:bodyPr>
          <a:lstStyle/>
          <a:p>
            <a:pPr algn="l">
              <a:lnSpc>
                <a:spcPct val="135000"/>
              </a:lnSpc>
            </a:pPr>
            <a:r>
              <a:rPr sz="1000" b="0">
                <a:solidFill>
                  <a:srgbClr val="B9B9B9"/>
                </a:solidFill>
                <a:latin typeface="Inter"/>
                <a:cs typeface="Inter"/>
                <a:ea typeface="Inter"/>
              </a:rPr>
              <a:t>The 42 blocks provide the replication instead of repeated sampling. That keeps the design paired: the same names appear at every violation level.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Pipeline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Build, generate, extract, classify, score. Names that are neither notation are kept, not dropped.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41</a:t>
            </a:r>
          </a:p>
        </p:txBody>
      </p:sp>
      <p:sp>
        <p:nvSpPr>
          <p:cNvPr id="8" name="Rounded Rectangle 7"/>
          <p:cNvSpPr/>
          <p:nvPr/>
        </p:nvSpPr>
        <p:spPr>
          <a:xfrm>
            <a:off x="635000" y="1752600"/>
            <a:ext cx="10922000" cy="1905000"/>
          </a:xfrm>
          <a:prstGeom prst="roundRect">
            <a:avLst>
              <a:gd name="adj" fmla="val 4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FIVE STAGES</a:t>
            </a:r>
          </a:p>
        </p:txBody>
      </p:sp>
      <p:sp>
        <p:nvSpPr>
          <p:cNvPr id="10" name="TextBox 9"/>
          <p:cNvSpPr txBox="1"/>
          <p:nvPr/>
        </p:nvSpPr>
        <p:spPr>
          <a:xfrm>
            <a:off x="812800" y="3271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Dropping unclassifiable names would silently shrink the denominator and inflate compliance.</a:t>
            </a:r>
          </a:p>
        </p:txBody>
      </p:sp>
      <p:pic>
        <p:nvPicPr>
          <p:cNvPr id="11" name="Picture 10" descr="s1_pipe.png"/>
          <p:cNvPicPr>
            <a:picLocks noChangeAspect="1"/>
          </p:cNvPicPr>
          <p:nvPr/>
        </p:nvPicPr>
        <p:blipFill>
          <a:blip r:embed="rId2"/>
          <a:stretch>
            <a:fillRect/>
          </a:stretch>
        </p:blipFill>
        <p:spPr>
          <a:xfrm>
            <a:off x="812800" y="2120900"/>
            <a:ext cx="3839134" cy="1074515"/>
          </a:xfrm>
          <a:prstGeom prst="rect">
            <a:avLst/>
          </a:prstGeom>
        </p:spPr>
      </p:pic>
      <p:sp>
        <p:nvSpPr>
          <p:cNvPr id="12" name="Rounded Rectangle 11"/>
          <p:cNvSpPr/>
          <p:nvPr/>
        </p:nvSpPr>
        <p:spPr>
          <a:xfrm>
            <a:off x="635000" y="3810000"/>
            <a:ext cx="7112000" cy="2444750"/>
          </a:xfrm>
          <a:prstGeom prst="roundRect">
            <a:avLst>
              <a:gd name="adj" fmla="val 311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39878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CLASSIFICATION, IN CODE</a:t>
            </a:r>
          </a:p>
        </p:txBody>
      </p:sp>
      <p:sp>
        <p:nvSpPr>
          <p:cNvPr id="14" name="Rounded Rectangle 13"/>
          <p:cNvSpPr/>
          <p:nvPr/>
        </p:nvSpPr>
        <p:spPr>
          <a:xfrm>
            <a:off x="812800" y="4178300"/>
            <a:ext cx="6756400" cy="1898650"/>
          </a:xfrm>
          <a:prstGeom prst="roundRect">
            <a:avLst>
              <a:gd name="adj" fmla="val 2006"/>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27100" y="426720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name = re.search(r'def\s+([A-Za-z_][A-Za-z0-9_]*)', text).group(1)</a:t>
            </a:r>
          </a:p>
        </p:txBody>
      </p:sp>
      <p:sp>
        <p:nvSpPr>
          <p:cNvPr id="16" name="TextBox 15"/>
          <p:cNvSpPr txBox="1"/>
          <p:nvPr/>
        </p:nvSpPr>
        <p:spPr>
          <a:xfrm>
            <a:off x="927100" y="443293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7" name="TextBox 16"/>
          <p:cNvSpPr txBox="1"/>
          <p:nvPr/>
        </p:nvSpPr>
        <p:spPr>
          <a:xfrm>
            <a:off x="927100" y="459867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if '_' in name:                    notation = 'snake'</a:t>
            </a:r>
          </a:p>
        </p:txBody>
      </p:sp>
      <p:sp>
        <p:nvSpPr>
          <p:cNvPr id="18" name="TextBox 17"/>
          <p:cNvSpPr txBox="1"/>
          <p:nvPr/>
        </p:nvSpPr>
        <p:spPr>
          <a:xfrm>
            <a:off x="927100" y="476440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elif re.search(r'[a-z][A-Z]', name): notation = 'camel'</a:t>
            </a:r>
          </a:p>
        </p:txBody>
      </p:sp>
      <p:sp>
        <p:nvSpPr>
          <p:cNvPr id="19" name="TextBox 18"/>
          <p:cNvSpPr txBox="1"/>
          <p:nvPr/>
        </p:nvSpPr>
        <p:spPr>
          <a:xfrm>
            <a:off x="927100" y="4930140"/>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else:                              notation = 'neither'   # still counted</a:t>
            </a:r>
          </a:p>
        </p:txBody>
      </p:sp>
      <p:sp>
        <p:nvSpPr>
          <p:cNvPr id="20" name="TextBox 19"/>
          <p:cNvSpPr txBox="1"/>
          <p:nvPr/>
        </p:nvSpPr>
        <p:spPr>
          <a:xfrm>
            <a:off x="927100" y="509587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21" name="TextBox 20"/>
          <p:cNvSpPr txBox="1"/>
          <p:nvPr/>
        </p:nvSpPr>
        <p:spPr>
          <a:xfrm>
            <a:off x="927100" y="526161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compliant = (notation == condition.instruction.target_notation)</a:t>
            </a:r>
          </a:p>
        </p:txBody>
      </p:sp>
      <p:sp>
        <p:nvSpPr>
          <p:cNvPr id="22" name="Rounded Rectangle 21"/>
          <p:cNvSpPr/>
          <p:nvPr/>
        </p:nvSpPr>
        <p:spPr>
          <a:xfrm>
            <a:off x="7899400" y="3810000"/>
            <a:ext cx="3657600" cy="2444750"/>
          </a:xfrm>
          <a:prstGeom prst="roundRect">
            <a:avLst>
              <a:gd name="adj" fmla="val 3116"/>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077200" y="39878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IS STORED PER GENERATION</a:t>
            </a:r>
          </a:p>
        </p:txBody>
      </p:sp>
      <p:sp>
        <p:nvSpPr>
          <p:cNvPr id="24" name="TextBox 23"/>
          <p:cNvSpPr txBox="1"/>
          <p:nvPr/>
        </p:nvSpPr>
        <p:spPr>
          <a:xfrm>
            <a:off x="8077200" y="5685980"/>
            <a:ext cx="3302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full text is kept so any classification question can be re-examined.</a:t>
            </a:r>
          </a:p>
        </p:txBody>
      </p:sp>
      <p:sp>
        <p:nvSpPr>
          <p:cNvPr id="25" name="TextBox 24"/>
          <p:cNvSpPr txBox="1"/>
          <p:nvPr/>
        </p:nvSpPr>
        <p:spPr>
          <a:xfrm>
            <a:off x="8077200" y="4178300"/>
            <a:ext cx="1202630"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turn_names</a:t>
            </a:r>
          </a:p>
        </p:txBody>
      </p:sp>
      <p:sp>
        <p:nvSpPr>
          <p:cNvPr id="26" name="TextBox 25"/>
          <p:cNvSpPr txBox="1"/>
          <p:nvPr/>
        </p:nvSpPr>
        <p:spPr>
          <a:xfrm>
            <a:off x="9279830" y="4178300"/>
            <a:ext cx="2099370"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extracted name</a:t>
            </a:r>
          </a:p>
        </p:txBody>
      </p:sp>
      <p:sp>
        <p:nvSpPr>
          <p:cNvPr id="27" name="TextBox 26"/>
          <p:cNvSpPr txBox="1"/>
          <p:nvPr/>
        </p:nvSpPr>
        <p:spPr>
          <a:xfrm>
            <a:off x="8077200" y="4419600"/>
            <a:ext cx="1202630"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turn_notations</a:t>
            </a:r>
          </a:p>
        </p:txBody>
      </p:sp>
      <p:sp>
        <p:nvSpPr>
          <p:cNvPr id="28" name="TextBox 27"/>
          <p:cNvSpPr txBox="1"/>
          <p:nvPr/>
        </p:nvSpPr>
        <p:spPr>
          <a:xfrm>
            <a:off x="9279830" y="4419600"/>
            <a:ext cx="2099370"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camel, snake or neither</a:t>
            </a:r>
          </a:p>
        </p:txBody>
      </p:sp>
      <p:sp>
        <p:nvSpPr>
          <p:cNvPr id="29" name="TextBox 28"/>
          <p:cNvSpPr txBox="1"/>
          <p:nvPr/>
        </p:nvSpPr>
        <p:spPr>
          <a:xfrm>
            <a:off x="8077200" y="4660900"/>
            <a:ext cx="1202630"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turn_texts</a:t>
            </a:r>
          </a:p>
        </p:txBody>
      </p:sp>
      <p:sp>
        <p:nvSpPr>
          <p:cNvPr id="30" name="TextBox 29"/>
          <p:cNvSpPr txBox="1"/>
          <p:nvPr/>
        </p:nvSpPr>
        <p:spPr>
          <a:xfrm>
            <a:off x="9279830" y="4660900"/>
            <a:ext cx="2099370"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generated text, verbatim</a:t>
            </a:r>
          </a:p>
        </p:txBody>
      </p:sp>
      <p:sp>
        <p:nvSpPr>
          <p:cNvPr id="31" name="TextBox 30"/>
          <p:cNvSpPr txBox="1"/>
          <p:nvPr/>
        </p:nvSpPr>
        <p:spPr>
          <a:xfrm>
            <a:off x="8077200" y="4902200"/>
            <a:ext cx="1202630" cy="2413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compliance_rate</a:t>
            </a:r>
          </a:p>
        </p:txBody>
      </p:sp>
      <p:sp>
        <p:nvSpPr>
          <p:cNvPr id="32" name="TextBox 31"/>
          <p:cNvSpPr txBox="1"/>
          <p:nvPr/>
        </p:nvSpPr>
        <p:spPr>
          <a:xfrm>
            <a:off x="9279830" y="4902200"/>
            <a:ext cx="2099370" cy="2413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1 or 0 for this condition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Result — compliance collapses with context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instruction never changes. The surrounding file does, and that is enough.</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42</a:t>
            </a:r>
          </a:p>
        </p:txBody>
      </p:sp>
      <p:sp>
        <p:nvSpPr>
          <p:cNvPr id="8" name="Rounded Rectangle 7"/>
          <p:cNvSpPr/>
          <p:nvPr/>
        </p:nvSpPr>
        <p:spPr>
          <a:xfrm>
            <a:off x="635000" y="1752600"/>
            <a:ext cx="7493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COMPLIANCE AGAINST VIOLATION COUNT, BOTH DIRECTIONS</a:t>
            </a:r>
          </a:p>
        </p:txBody>
      </p:sp>
      <p:sp>
        <p:nvSpPr>
          <p:cNvPr id="10" name="TextBox 9"/>
          <p:cNvSpPr txBox="1"/>
          <p:nvPr/>
        </p:nvSpPr>
        <p:spPr>
          <a:xfrm>
            <a:off x="812800" y="3906615"/>
            <a:ext cx="7137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Two models, two instruction directions. The collapse is present in all four curves.</a:t>
            </a:r>
          </a:p>
        </p:txBody>
      </p:sp>
      <p:sp>
        <p:nvSpPr>
          <p:cNvPr id="11" name="Rounded Rectangle 10"/>
          <p:cNvSpPr/>
          <p:nvPr/>
        </p:nvSpPr>
        <p:spPr>
          <a:xfrm>
            <a:off x="3265042" y="2120900"/>
            <a:ext cx="2232915" cy="1709515"/>
          </a:xfrm>
          <a:prstGeom prst="roundRect">
            <a:avLst>
              <a:gd name="adj" fmla="val 445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1__cliff.png"/>
          <p:cNvPicPr>
            <a:picLocks noChangeAspect="1"/>
          </p:cNvPicPr>
          <p:nvPr/>
        </p:nvPicPr>
        <p:blipFill>
          <a:blip r:embed="rId2"/>
          <a:stretch>
            <a:fillRect/>
          </a:stretch>
        </p:blipFill>
        <p:spPr>
          <a:xfrm>
            <a:off x="3341242" y="2197100"/>
            <a:ext cx="2080515" cy="1557115"/>
          </a:xfrm>
          <a:prstGeom prst="rect">
            <a:avLst/>
          </a:prstGeom>
        </p:spPr>
      </p:pic>
      <p:sp>
        <p:nvSpPr>
          <p:cNvPr id="13" name="Rounded Rectangle 12"/>
          <p:cNvSpPr/>
          <p:nvPr/>
        </p:nvSpPr>
        <p:spPr>
          <a:xfrm>
            <a:off x="8280400" y="1752600"/>
            <a:ext cx="32766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READING THE CURVES</a:t>
            </a:r>
          </a:p>
        </p:txBody>
      </p:sp>
      <p:sp>
        <p:nvSpPr>
          <p:cNvPr id="15" name="TextBox 14"/>
          <p:cNvSpPr txBox="1"/>
          <p:nvPr/>
        </p:nvSpPr>
        <p:spPr>
          <a:xfrm>
            <a:off x="8458200" y="2120900"/>
            <a:ext cx="2921000" cy="977900"/>
          </a:xfrm>
          <a:prstGeom prst="rect">
            <a:avLst/>
          </a:prstGeom>
          <a:noFill/>
        </p:spPr>
        <p:txBody>
          <a:bodyPr wrap="square" lIns="0" rIns="0" tIns="0" bIns="0">
            <a:spAutoFit/>
          </a:bodyPr>
          <a:lstStyle/>
          <a:p>
            <a:pPr marL="485394" indent="-485394">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Left edge:</a:t>
            </a:r>
            <a:r>
              <a:rPr sz="1050" b="0">
                <a:solidFill>
                  <a:srgbClr val="B9B9B9"/>
                </a:solidFill>
                <a:latin typeface="Inter"/>
                <a:cs typeface="Inter"/>
                <a:ea typeface="Inter"/>
              </a:rPr>
              <a:t> a fully compliant file — the model follows the instruction</a:t>
            </a:r>
          </a:p>
          <a:p>
            <a:pPr marL="520065" indent="-520065">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Right edge:</a:t>
            </a:r>
            <a:r>
              <a:rPr sz="1050" b="0">
                <a:solidFill>
                  <a:srgbClr val="B9B9B9"/>
                </a:solidFill>
                <a:latin typeface="Inter"/>
                <a:cs typeface="Inter"/>
                <a:ea typeface="Inter"/>
              </a:rPr>
              <a:t> a fully violating file — the instruction is largely ignored</a:t>
            </a:r>
          </a:p>
          <a:p>
            <a:pPr marL="381381" indent="-381381">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Middle:</a:t>
            </a:r>
            <a:r>
              <a:rPr sz="1050" b="0">
                <a:solidFill>
                  <a:srgbClr val="B9B9B9"/>
                </a:solidFill>
                <a:latin typeface="Inter"/>
                <a:cs typeface="Inter"/>
                <a:ea typeface="Inter"/>
              </a:rPr>
              <a:t> the transition is narrow, not gradual</a:t>
            </a:r>
          </a:p>
          <a:p>
            <a:pPr marL="693420" indent="-693420">
              <a:lnSpc>
                <a:spcPct val="134000"/>
              </a:lnSpc>
              <a:spcAft>
                <a:spcPts val="94"/>
              </a:spcAft>
            </a:pPr>
            <a:r>
              <a:rPr sz="1050" b="0">
                <a:solidFill>
                  <a:srgbClr val="797979"/>
                </a:solidFill>
                <a:latin typeface="Inter"/>
                <a:cs typeface="Inter"/>
                <a:ea typeface="Inter"/>
              </a:rPr>
              <a:t>—  </a:t>
            </a:r>
            <a:r>
              <a:rPr sz="1050" b="1">
                <a:solidFill>
                  <a:srgbClr val="FFFFFF"/>
                </a:solidFill>
                <a:latin typeface="Inter"/>
                <a:cs typeface="Inter"/>
                <a:ea typeface="Inter"/>
              </a:rPr>
              <a:t>Both directions:</a:t>
            </a:r>
            <a:r>
              <a:rPr sz="1050" b="0">
                <a:solidFill>
                  <a:srgbClr val="B9B9B9"/>
                </a:solidFill>
                <a:latin typeface="Inter"/>
                <a:cs typeface="Inter"/>
                <a:ea typeface="Inter"/>
              </a:rPr>
              <a:t> the same shape appears whichever notation is required</a:t>
            </a:r>
          </a:p>
        </p:txBody>
      </p:sp>
      <p:sp>
        <p:nvSpPr>
          <p:cNvPr id="16" name="Rounded Rectangle 15"/>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NUMBERS BEHIND THE CURVES</a:t>
            </a:r>
          </a:p>
        </p:txBody>
      </p:sp>
      <p:sp>
        <p:nvSpPr>
          <p:cNvPr id="18" name="TextBox 1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Averaged over both instruction directions and 42 name blocks.</a:t>
            </a:r>
          </a:p>
        </p:txBody>
      </p:sp>
      <p:sp>
        <p:nvSpPr>
          <p:cNvPr id="19" name="TextBox 18"/>
          <p:cNvSpPr txBox="1"/>
          <p:nvPr/>
        </p:nvSpPr>
        <p:spPr>
          <a:xfrm>
            <a:off x="812800" y="4876800"/>
            <a:ext cx="3592576"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20" name="TextBox 19"/>
          <p:cNvSpPr txBox="1"/>
          <p:nvPr/>
        </p:nvSpPr>
        <p:spPr>
          <a:xfrm>
            <a:off x="4405376" y="4876800"/>
            <a:ext cx="1479296"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0 VIOLATING</a:t>
            </a:r>
          </a:p>
        </p:txBody>
      </p:sp>
      <p:sp>
        <p:nvSpPr>
          <p:cNvPr id="21" name="TextBox 20"/>
          <p:cNvSpPr txBox="1"/>
          <p:nvPr/>
        </p:nvSpPr>
        <p:spPr>
          <a:xfrm>
            <a:off x="5884672" y="4876800"/>
            <a:ext cx="1267968"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3</a:t>
            </a:r>
          </a:p>
        </p:txBody>
      </p:sp>
      <p:sp>
        <p:nvSpPr>
          <p:cNvPr id="22" name="TextBox 21"/>
          <p:cNvSpPr txBox="1"/>
          <p:nvPr/>
        </p:nvSpPr>
        <p:spPr>
          <a:xfrm>
            <a:off x="7152640" y="4876800"/>
            <a:ext cx="1267968"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6</a:t>
            </a:r>
          </a:p>
        </p:txBody>
      </p:sp>
      <p:sp>
        <p:nvSpPr>
          <p:cNvPr id="23" name="TextBox 22"/>
          <p:cNvSpPr txBox="1"/>
          <p:nvPr/>
        </p:nvSpPr>
        <p:spPr>
          <a:xfrm>
            <a:off x="8420608" y="4876800"/>
            <a:ext cx="1267968"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9</a:t>
            </a:r>
          </a:p>
        </p:txBody>
      </p:sp>
      <p:sp>
        <p:nvSpPr>
          <p:cNvPr id="24" name="TextBox 23"/>
          <p:cNvSpPr txBox="1"/>
          <p:nvPr/>
        </p:nvSpPr>
        <p:spPr>
          <a:xfrm>
            <a:off x="9688576" y="4876800"/>
            <a:ext cx="1690624"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12 VIOLATING</a:t>
            </a:r>
          </a:p>
        </p:txBody>
      </p:sp>
      <p:sp>
        <p:nvSpPr>
          <p:cNvPr id="25" name="Rectangle 24"/>
          <p:cNvSpPr/>
          <p:nvPr/>
        </p:nvSpPr>
        <p:spPr>
          <a:xfrm>
            <a:off x="812800" y="50292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800" y="5130800"/>
            <a:ext cx="3427476" cy="343583"/>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Qwen2.5-Coder-3B</a:t>
            </a:r>
          </a:p>
        </p:txBody>
      </p:sp>
      <p:sp>
        <p:nvSpPr>
          <p:cNvPr id="27" name="TextBox 26"/>
          <p:cNvSpPr txBox="1"/>
          <p:nvPr/>
        </p:nvSpPr>
        <p:spPr>
          <a:xfrm>
            <a:off x="4405376" y="5130800"/>
            <a:ext cx="1314196"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100%</a:t>
            </a:r>
          </a:p>
        </p:txBody>
      </p:sp>
      <p:sp>
        <p:nvSpPr>
          <p:cNvPr id="28" name="TextBox 27"/>
          <p:cNvSpPr txBox="1"/>
          <p:nvPr/>
        </p:nvSpPr>
        <p:spPr>
          <a:xfrm>
            <a:off x="5884672" y="5130800"/>
            <a:ext cx="1102868"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82%</a:t>
            </a:r>
          </a:p>
        </p:txBody>
      </p:sp>
      <p:sp>
        <p:nvSpPr>
          <p:cNvPr id="29" name="TextBox 28"/>
          <p:cNvSpPr txBox="1"/>
          <p:nvPr/>
        </p:nvSpPr>
        <p:spPr>
          <a:xfrm>
            <a:off x="7152640" y="5130800"/>
            <a:ext cx="1102868"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50%</a:t>
            </a:r>
          </a:p>
        </p:txBody>
      </p:sp>
      <p:sp>
        <p:nvSpPr>
          <p:cNvPr id="30" name="TextBox 29"/>
          <p:cNvSpPr txBox="1"/>
          <p:nvPr/>
        </p:nvSpPr>
        <p:spPr>
          <a:xfrm>
            <a:off x="8420608" y="5130800"/>
            <a:ext cx="1102868"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50%</a:t>
            </a:r>
          </a:p>
        </p:txBody>
      </p:sp>
      <p:sp>
        <p:nvSpPr>
          <p:cNvPr id="31" name="TextBox 30"/>
          <p:cNvSpPr txBox="1"/>
          <p:nvPr/>
        </p:nvSpPr>
        <p:spPr>
          <a:xfrm>
            <a:off x="9688576" y="5130800"/>
            <a:ext cx="1525524"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50%</a:t>
            </a:r>
          </a:p>
        </p:txBody>
      </p:sp>
      <p:sp>
        <p:nvSpPr>
          <p:cNvPr id="32" name="Rectangle 31"/>
          <p:cNvSpPr/>
          <p:nvPr/>
        </p:nvSpPr>
        <p:spPr>
          <a:xfrm>
            <a:off x="812800" y="541088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2800" y="5474383"/>
            <a:ext cx="3427476" cy="343583"/>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StableCode-3B</a:t>
            </a:r>
          </a:p>
        </p:txBody>
      </p:sp>
      <p:sp>
        <p:nvSpPr>
          <p:cNvPr id="34" name="TextBox 33"/>
          <p:cNvSpPr txBox="1"/>
          <p:nvPr/>
        </p:nvSpPr>
        <p:spPr>
          <a:xfrm>
            <a:off x="4405376" y="5474383"/>
            <a:ext cx="1314196"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86%</a:t>
            </a:r>
          </a:p>
        </p:txBody>
      </p:sp>
      <p:sp>
        <p:nvSpPr>
          <p:cNvPr id="35" name="TextBox 34"/>
          <p:cNvSpPr txBox="1"/>
          <p:nvPr/>
        </p:nvSpPr>
        <p:spPr>
          <a:xfrm>
            <a:off x="5884672" y="5474383"/>
            <a:ext cx="1102868"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54%</a:t>
            </a:r>
          </a:p>
        </p:txBody>
      </p:sp>
      <p:sp>
        <p:nvSpPr>
          <p:cNvPr id="36" name="TextBox 35"/>
          <p:cNvSpPr txBox="1"/>
          <p:nvPr/>
        </p:nvSpPr>
        <p:spPr>
          <a:xfrm>
            <a:off x="7152640" y="5474383"/>
            <a:ext cx="1102868"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49%</a:t>
            </a:r>
          </a:p>
        </p:txBody>
      </p:sp>
      <p:sp>
        <p:nvSpPr>
          <p:cNvPr id="37" name="TextBox 36"/>
          <p:cNvSpPr txBox="1"/>
          <p:nvPr/>
        </p:nvSpPr>
        <p:spPr>
          <a:xfrm>
            <a:off x="8420608" y="5474383"/>
            <a:ext cx="1102868"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50%</a:t>
            </a:r>
          </a:p>
        </p:txBody>
      </p:sp>
      <p:sp>
        <p:nvSpPr>
          <p:cNvPr id="38" name="TextBox 37"/>
          <p:cNvSpPr txBox="1"/>
          <p:nvPr/>
        </p:nvSpPr>
        <p:spPr>
          <a:xfrm>
            <a:off x="9688576" y="5474383"/>
            <a:ext cx="1525524" cy="343583"/>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Result — the same picture, read a second way</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 conditional view of the same generations, to check that the collapse is not an artefact of averaging.</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43</a:t>
            </a:r>
          </a:p>
        </p:txBody>
      </p:sp>
      <p:sp>
        <p:nvSpPr>
          <p:cNvPr id="8" name="Rounded Rectangle 7"/>
          <p:cNvSpPr/>
          <p:nvPr/>
        </p:nvSpPr>
        <p:spPr>
          <a:xfrm>
            <a:off x="635000" y="1752600"/>
            <a:ext cx="7493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EXPLANATORY VIEW</a:t>
            </a:r>
          </a:p>
        </p:txBody>
      </p:sp>
      <p:sp>
        <p:nvSpPr>
          <p:cNvPr id="10" name="TextBox 9"/>
          <p:cNvSpPr txBox="1"/>
          <p:nvPr/>
        </p:nvSpPr>
        <p:spPr>
          <a:xfrm>
            <a:off x="812800" y="4351115"/>
            <a:ext cx="7137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Same 2,184 generations, re-aggregated; nothing is re-run.</a:t>
            </a:r>
          </a:p>
        </p:txBody>
      </p:sp>
      <p:sp>
        <p:nvSpPr>
          <p:cNvPr id="11" name="Rounded Rectangle 10"/>
          <p:cNvSpPr/>
          <p:nvPr/>
        </p:nvSpPr>
        <p:spPr>
          <a:xfrm>
            <a:off x="1589764" y="2120900"/>
            <a:ext cx="5583471" cy="2154015"/>
          </a:xfrm>
          <a:prstGeom prst="roundRect">
            <a:avLst>
              <a:gd name="adj" fmla="val 353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1__explain_cliff.png"/>
          <p:cNvPicPr>
            <a:picLocks noChangeAspect="1"/>
          </p:cNvPicPr>
          <p:nvPr/>
        </p:nvPicPr>
        <p:blipFill>
          <a:blip r:embed="rId2"/>
          <a:stretch>
            <a:fillRect/>
          </a:stretch>
        </p:blipFill>
        <p:spPr>
          <a:xfrm>
            <a:off x="1665964" y="2197100"/>
            <a:ext cx="5431071" cy="2001615"/>
          </a:xfrm>
          <a:prstGeom prst="rect">
            <a:avLst/>
          </a:prstGeom>
        </p:spPr>
      </p:pic>
      <p:sp>
        <p:nvSpPr>
          <p:cNvPr id="13" name="Rounded Rectangle 12"/>
          <p:cNvSpPr/>
          <p:nvPr/>
        </p:nvSpPr>
        <p:spPr>
          <a:xfrm>
            <a:off x="8280400" y="1752600"/>
            <a:ext cx="3276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A SECOND VIEW WAS NEEDED</a:t>
            </a:r>
          </a:p>
        </p:txBody>
      </p:sp>
      <p:sp>
        <p:nvSpPr>
          <p:cNvPr id="15" name="TextBox 14"/>
          <p:cNvSpPr txBox="1"/>
          <p:nvPr/>
        </p:nvSpPr>
        <p:spPr>
          <a:xfrm>
            <a:off x="8458200" y="2120900"/>
            <a:ext cx="2921000" cy="1347224"/>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 mean over 42 blocks can hide a bimodal population: most blocks unaffected and a few collapsing completely would produce a similar average curve. Re-aggregating conditionally shows the shift is in the bulk, not in a tail.</a:t>
            </a:r>
          </a:p>
        </p:txBody>
      </p:sp>
      <p:sp>
        <p:nvSpPr>
          <p:cNvPr id="16" name="Rounded Rectangle 15"/>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BOTH VIEWS COME FROM ONE SET OF STORED FILES</a:t>
            </a:r>
          </a:p>
        </p:txBody>
      </p:sp>
      <p:sp>
        <p:nvSpPr>
          <p:cNvPr id="18" name="TextBox 1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No condition was added to produce the second figure.</a:t>
            </a:r>
          </a:p>
        </p:txBody>
      </p:sp>
      <p:sp>
        <p:nvSpPr>
          <p:cNvPr id="19" name="TextBox 18"/>
          <p:cNvSpPr txBox="1"/>
          <p:nvPr/>
        </p:nvSpPr>
        <p:spPr>
          <a:xfrm>
            <a:off x="812800" y="5257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This is the practical payoff of storing the generated text rather than only the compliance flag: a new question about the same runs costs an aggregation script, not GPU time.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What this step does not settle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It establishes the symptom. It says nothing about mechanism, and its coverage is narrower than the rest of the study.</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44</a:t>
            </a:r>
          </a:p>
        </p:txBody>
      </p:sp>
      <p:sp>
        <p:nvSpPr>
          <p:cNvPr id="8" name="Rounded Rectangle 7"/>
          <p:cNvSpPr/>
          <p:nvPr/>
        </p:nvSpPr>
        <p:spPr>
          <a:xfrm>
            <a:off x="6350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1</a:t>
            </a:r>
          </a:p>
        </p:txBody>
      </p:sp>
      <p:sp>
        <p:nvSpPr>
          <p:cNvPr id="10" name="TextBox 9"/>
          <p:cNvSpPr txBox="1"/>
          <p:nvPr/>
        </p:nvSpPr>
        <p:spPr>
          <a:xfrm>
            <a:off x="8128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Two models only</a:t>
            </a:r>
          </a:p>
        </p:txBody>
      </p:sp>
      <p:sp>
        <p:nvSpPr>
          <p:cNvPr id="11" name="TextBox 10"/>
          <p:cNvSpPr txBox="1"/>
          <p:nvPr/>
        </p:nvSpPr>
        <p:spPr>
          <a:xfrm>
            <a:off x="8128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Both are code-specialised. The general-purpose model was not run here, so the collapse is not established for it.</a:t>
            </a:r>
          </a:p>
        </p:txBody>
      </p:sp>
      <p:sp>
        <p:nvSpPr>
          <p:cNvPr id="12" name="Rounded Rectangle 11"/>
          <p:cNvSpPr/>
          <p:nvPr/>
        </p:nvSpPr>
        <p:spPr>
          <a:xfrm>
            <a:off x="34036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2</a:t>
            </a:r>
          </a:p>
        </p:txBody>
      </p:sp>
      <p:sp>
        <p:nvSpPr>
          <p:cNvPr id="14" name="TextBox 13"/>
          <p:cNvSpPr txBox="1"/>
          <p:nvPr/>
        </p:nvSpPr>
        <p:spPr>
          <a:xfrm>
            <a:off x="35814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Python only</a:t>
            </a:r>
          </a:p>
        </p:txBody>
      </p:sp>
      <p:sp>
        <p:nvSpPr>
          <p:cNvPr id="15" name="TextBox 14"/>
          <p:cNvSpPr txBox="1"/>
          <p:nvPr/>
        </p:nvSpPr>
        <p:spPr>
          <a:xfrm>
            <a:off x="35814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harness supports JavaScript; zero JavaScript conditions were run. No claim covers other languages.</a:t>
            </a:r>
          </a:p>
        </p:txBody>
      </p:sp>
      <p:sp>
        <p:nvSpPr>
          <p:cNvPr id="16" name="Rounded Rectangle 15"/>
          <p:cNvSpPr/>
          <p:nvPr/>
        </p:nvSpPr>
        <p:spPr>
          <a:xfrm>
            <a:off x="61722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3</a:t>
            </a:r>
          </a:p>
        </p:txBody>
      </p:sp>
      <p:sp>
        <p:nvSpPr>
          <p:cNvPr id="18" name="TextBox 17"/>
          <p:cNvSpPr txBox="1"/>
          <p:nvPr/>
        </p:nvSpPr>
        <p:spPr>
          <a:xfrm>
            <a:off x="63500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First function only</a:t>
            </a:r>
          </a:p>
        </p:txBody>
      </p:sp>
      <p:sp>
        <p:nvSpPr>
          <p:cNvPr id="19" name="TextBox 18"/>
          <p:cNvSpPr txBox="1"/>
          <p:nvPr/>
        </p:nvSpPr>
        <p:spPr>
          <a:xfrm>
            <a:off x="63500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One generation per condition, so whether violations amplify across successive functions cannot be judged.</a:t>
            </a:r>
          </a:p>
        </p:txBody>
      </p:sp>
      <p:sp>
        <p:nvSpPr>
          <p:cNvPr id="20" name="Rounded Rectangle 19"/>
          <p:cNvSpPr/>
          <p:nvPr/>
        </p:nvSpPr>
        <p:spPr>
          <a:xfrm>
            <a:off x="89408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4</a:t>
            </a:r>
          </a:p>
        </p:txBody>
      </p:sp>
      <p:sp>
        <p:nvSpPr>
          <p:cNvPr id="22" name="TextBox 21"/>
          <p:cNvSpPr txBox="1"/>
          <p:nvPr/>
        </p:nvSpPr>
        <p:spPr>
          <a:xfrm>
            <a:off x="91186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Synthetic context</a:t>
            </a:r>
          </a:p>
        </p:txBody>
      </p:sp>
      <p:sp>
        <p:nvSpPr>
          <p:cNvPr id="23" name="TextBox 22"/>
          <p:cNvSpPr txBox="1"/>
          <p:nvPr/>
        </p:nvSpPr>
        <p:spPr>
          <a:xfrm>
            <a:off x="91186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Names come from one pool and bodies share a shape, which buys control at the cost of external validity.</a:t>
            </a:r>
          </a:p>
        </p:txBody>
      </p:sp>
      <p:sp>
        <p:nvSpPr>
          <p:cNvPr id="24" name="Rounded Rectangle 23"/>
          <p:cNvSpPr/>
          <p:nvPr/>
        </p:nvSpPr>
        <p:spPr>
          <a:xfrm>
            <a:off x="635000" y="4318000"/>
            <a:ext cx="10922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4495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THE REST OF THE STUDY COMPENSATES</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None of these limits is repaired by argument; each is either covered by a later step or carried forward as a stated limitation.</a:t>
            </a:r>
          </a:p>
        </p:txBody>
      </p:sp>
      <p:sp>
        <p:nvSpPr>
          <p:cNvPr id="27" name="TextBox 26"/>
          <p:cNvSpPr txBox="1"/>
          <p:nvPr/>
        </p:nvSpPr>
        <p:spPr>
          <a:xfrm>
            <a:off x="812800" y="4686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Steps 2 to 6 run all four models, so the mechanism claims are not restricted to two. Language coverage and multi-function amplification are not repaired anywhere and remain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1 · Reading the result file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JSON per condition. The compliance flag alone cannot tell you why a condition failed.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45</a:t>
            </a:r>
          </a:p>
        </p:txBody>
      </p:sp>
      <p:sp>
        <p:nvSpPr>
          <p:cNvPr id="8" name="Rounded Rectangle 7"/>
          <p:cNvSpPr/>
          <p:nvPr/>
        </p:nvSpPr>
        <p:spPr>
          <a:xfrm>
            <a:off x="635000" y="1752600"/>
            <a:ext cx="7366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010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RESULTS/STEP1_CLIFF/&lt;SLUG&gt;.JSON</a:t>
            </a:r>
          </a:p>
        </p:txBody>
      </p:sp>
      <p:sp>
        <p:nvSpPr>
          <p:cNvPr id="10" name="Rounded Rectangle 9"/>
          <p:cNvSpPr/>
          <p:nvPr/>
        </p:nvSpPr>
        <p:spPr>
          <a:xfrm>
            <a:off x="812800" y="2120900"/>
            <a:ext cx="7010400" cy="2438400"/>
          </a:xfrm>
          <a:prstGeom prst="roundRect">
            <a:avLst>
              <a:gd name="adj" fmla="val 1562"/>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"metrics": {</a:t>
            </a:r>
          </a:p>
        </p:txBody>
      </p:sp>
      <p:sp>
        <p:nvSpPr>
          <p:cNvPr id="12" name="TextBox 11"/>
          <p:cNvSpPr txBox="1"/>
          <p:nvPr/>
        </p:nvSpPr>
        <p:spPr>
          <a:xfrm>
            <a:off x="927100" y="237553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"compliance_rate": 0.0,            # 1.0 if the first name matches</a:t>
            </a:r>
          </a:p>
        </p:txBody>
      </p:sp>
      <p:sp>
        <p:nvSpPr>
          <p:cNvPr id="13" name="TextBox 12"/>
          <p:cNvSpPr txBox="1"/>
          <p:nvPr/>
        </p:nvSpPr>
        <p:spPr>
          <a:xfrm>
            <a:off x="927100" y="254127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"extra": {</a:t>
            </a:r>
          </a:p>
        </p:txBody>
      </p:sp>
      <p:sp>
        <p:nvSpPr>
          <p:cNvPr id="14" name="TextBox 13"/>
          <p:cNvSpPr txBox="1"/>
          <p:nvPr/>
        </p:nvSpPr>
        <p:spPr>
          <a:xfrm>
            <a:off x="927100" y="270700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"target": "camel",               # notation the instruction required</a:t>
            </a:r>
          </a:p>
        </p:txBody>
      </p:sp>
      <p:sp>
        <p:nvSpPr>
          <p:cNvPr id="15" name="TextBox 14"/>
          <p:cNvSpPr txBox="1"/>
          <p:nvPr/>
        </p:nvSpPr>
        <p:spPr>
          <a:xfrm>
            <a:off x="927100" y="2872740"/>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"turn_names": ["remove_duplicates"],   # what the model actually wrote</a:t>
            </a:r>
          </a:p>
        </p:txBody>
      </p:sp>
      <p:sp>
        <p:nvSpPr>
          <p:cNvPr id="16" name="TextBox 15"/>
          <p:cNvSpPr txBox="1"/>
          <p:nvPr/>
        </p:nvSpPr>
        <p:spPr>
          <a:xfrm>
            <a:off x="927100" y="303847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"turn_notations": ["snake"],     # camel | snake | other</a:t>
            </a:r>
          </a:p>
        </p:txBody>
      </p:sp>
      <p:sp>
        <p:nvSpPr>
          <p:cNvPr id="17" name="TextBox 16"/>
          <p:cNvSpPr txBox="1"/>
          <p:nvPr/>
        </p:nvSpPr>
        <p:spPr>
          <a:xfrm>
            <a:off x="927100" y="320421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"turn_texts": ["def remove_dup…"],      # verbatim generation</a:t>
            </a:r>
          </a:p>
        </p:txBody>
      </p:sp>
      <p:sp>
        <p:nvSpPr>
          <p:cNvPr id="18" name="TextBox 17"/>
          <p:cNvSpPr txBox="1"/>
          <p:nvPr/>
        </p:nvSpPr>
        <p:spPr>
          <a:xfrm>
            <a:off x="927100" y="336994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"first_compliant": false,</a:t>
            </a:r>
          </a:p>
        </p:txBody>
      </p:sp>
      <p:sp>
        <p:nvSpPr>
          <p:cNvPr id="19" name="TextBox 18"/>
          <p:cNvSpPr txBox="1"/>
          <p:nvPr/>
        </p:nvSpPr>
        <p:spPr>
          <a:xfrm>
            <a:off x="927100" y="353568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"first_violated": true,</a:t>
            </a:r>
          </a:p>
        </p:txBody>
      </p:sp>
      <p:sp>
        <p:nvSpPr>
          <p:cNvPr id="20" name="TextBox 19"/>
          <p:cNvSpPr txBox="1"/>
          <p:nvPr/>
        </p:nvSpPr>
        <p:spPr>
          <a:xfrm>
            <a:off x="927100" y="370141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"subsequent_violation_rate": null       # always null — one turn only</a:t>
            </a:r>
          </a:p>
        </p:txBody>
      </p:sp>
      <p:sp>
        <p:nvSpPr>
          <p:cNvPr id="21" name="TextBox 20"/>
          <p:cNvSpPr txBox="1"/>
          <p:nvPr/>
        </p:nvSpPr>
        <p:spPr>
          <a:xfrm>
            <a:off x="927100" y="386715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t>
            </a:r>
          </a:p>
        </p:txBody>
      </p:sp>
      <p:sp>
        <p:nvSpPr>
          <p:cNvPr id="22" name="TextBox 21"/>
          <p:cNvSpPr txBox="1"/>
          <p:nvPr/>
        </p:nvSpPr>
        <p:spPr>
          <a:xfrm>
            <a:off x="927100" y="403288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a:t>
            </a:r>
          </a:p>
        </p:txBody>
      </p:sp>
      <p:sp>
        <p:nvSpPr>
          <p:cNvPr id="23" name="Rounded Rectangle 22"/>
          <p:cNvSpPr/>
          <p:nvPr/>
        </p:nvSpPr>
        <p:spPr>
          <a:xfrm>
            <a:off x="8153400" y="1752600"/>
            <a:ext cx="3403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31200" y="1930400"/>
            <a:ext cx="3048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TO READ IT</a:t>
            </a:r>
          </a:p>
        </p:txBody>
      </p:sp>
      <p:sp>
        <p:nvSpPr>
          <p:cNvPr id="25" name="TextBox 24"/>
          <p:cNvSpPr txBox="1"/>
          <p:nvPr/>
        </p:nvSpPr>
        <p:spPr>
          <a:xfrm>
            <a:off x="8331200" y="2120900"/>
            <a:ext cx="3048000" cy="749300"/>
          </a:xfrm>
          <a:prstGeom prst="rect">
            <a:avLst/>
          </a:prstGeom>
          <a:noFill/>
        </p:spPr>
        <p:txBody>
          <a:bodyPr wrap="square" lIns="0" rIns="0" tIns="0" bIns="0">
            <a:spAutoFit/>
          </a:bodyPr>
          <a:lstStyle/>
          <a:p>
            <a:pPr marL="505206" indent="-505206">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Start here:</a:t>
            </a:r>
            <a:r>
              <a:rPr sz="1019" b="0">
                <a:solidFill>
                  <a:srgbClr val="B9B9B9"/>
                </a:solidFill>
                <a:latin typeface="Inter"/>
                <a:cs typeface="Inter"/>
                <a:ea typeface="Inter"/>
              </a:rPr>
              <a:t> turn_names — a zero compliance rate means either a wrong notation or no extractable name, and only this field separates them</a:t>
            </a:r>
          </a:p>
          <a:p>
            <a:pPr marL="606247" indent="-606247">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Verify by eye:</a:t>
            </a:r>
            <a:r>
              <a:rPr sz="1019" b="0">
                <a:solidFill>
                  <a:srgbClr val="B9B9B9"/>
                </a:solidFill>
                <a:latin typeface="Inter"/>
                <a:cs typeface="Inter"/>
                <a:ea typeface="Inter"/>
              </a:rPr>
              <a:t> turn_texts keeps the raw generation, so any classification decision can be re-checked</a:t>
            </a:r>
          </a:p>
          <a:p>
            <a:pPr marL="370484" indent="-370484">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Ignore:</a:t>
            </a:r>
            <a:r>
              <a:rPr sz="1019" b="0">
                <a:solidFill>
                  <a:srgbClr val="B9B9B9"/>
                </a:solidFill>
                <a:latin typeface="Inter"/>
                <a:cs typeface="Inter"/>
                <a:ea typeface="Inter"/>
              </a:rPr>
              <a:t> subsequent_violation_rate is null everywhere; one generation per condition</a:t>
            </a:r>
          </a:p>
        </p:txBody>
      </p:sp>
      <p:sp>
        <p:nvSpPr>
          <p:cNvPr id="26" name="Rounded Rectangle 25"/>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AGGREGATION</a:t>
            </a:r>
          </a:p>
        </p:txBody>
      </p:sp>
      <p:sp>
        <p:nvSpPr>
          <p:cNvPr id="28" name="TextBox 2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Groups by model, violation count and direction, then averages over the 42 blocks.</a:t>
            </a:r>
          </a:p>
        </p:txBody>
      </p:sp>
      <p:sp>
        <p:nvSpPr>
          <p:cNvPr id="29" name="Rounded Rectangle 28"/>
          <p:cNvSpPr/>
          <p:nvPr/>
        </p:nvSpPr>
        <p:spPr>
          <a:xfrm>
            <a:off x="812800" y="5257800"/>
            <a:ext cx="10566400" cy="534765"/>
          </a:xfrm>
          <a:prstGeom prst="roundRect">
            <a:avLst>
              <a:gd name="adj" fmla="val 712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7100" y="5346700"/>
            <a:ext cx="10337800" cy="184150"/>
          </a:xfrm>
          <a:prstGeom prst="rect">
            <a:avLst/>
          </a:prstGeom>
          <a:noFill/>
        </p:spPr>
        <p:txBody>
          <a:bodyPr wrap="square" lIns="0" rIns="0" tIns="0" bIns="0" anchor="t">
            <a:spAutoFit/>
          </a:bodyPr>
          <a:lstStyle/>
          <a:p>
            <a:pPr algn="l"/>
            <a:r>
              <a:rPr sz="1000" b="0">
                <a:solidFill>
                  <a:srgbClr val="B9B9B9"/>
                </a:solidFill>
                <a:latin typeface="IBM Plex Mono"/>
                <a:cs typeface="IBM Plex Mono"/>
                <a:ea typeface="IBM Plex Mono"/>
              </a:rPr>
              <a:t>python scripts/step1_reaggregate.py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The question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When the file breaks the convention, does the model stop looking at it — or look at it more?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46</a:t>
            </a:r>
          </a:p>
        </p:txBody>
      </p:sp>
      <p:sp>
        <p:nvSpPr>
          <p:cNvPr id="8" name="Rounded Rectangle 7"/>
          <p:cNvSpPr/>
          <p:nvPr/>
        </p:nvSpPr>
        <p:spPr>
          <a:xfrm>
            <a:off x="635000" y="1752600"/>
            <a:ext cx="5715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IS READ</a:t>
            </a:r>
          </a:p>
        </p:txBody>
      </p:sp>
      <p:sp>
        <p:nvSpPr>
          <p:cNvPr id="10" name="TextBox 9"/>
          <p:cNvSpPr txBox="1"/>
          <p:nvPr/>
        </p:nvSpPr>
        <p:spPr>
          <a:xfrm>
            <a:off x="812800" y="2120900"/>
            <a:ext cx="5359400" cy="1231900"/>
          </a:xfrm>
          <a:prstGeom prst="rect">
            <a:avLst/>
          </a:prstGeom>
          <a:noFill/>
        </p:spPr>
        <p:txBody>
          <a:bodyPr wrap="square" lIns="0" rIns="0" tIns="0" bIns="0">
            <a:spAutoFit/>
          </a:bodyPr>
          <a:lstStyle/>
          <a:p>
            <a:pPr marL="416052" indent="-41605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One row:</a:t>
            </a:r>
            <a:r>
              <a:rPr sz="1050" b="0">
                <a:solidFill>
                  <a:srgbClr val="B9B9B9"/>
                </a:solidFill>
                <a:latin typeface="Inter"/>
                <a:cs typeface="Inter"/>
                <a:ea typeface="Inter"/>
              </a:rPr>
              <a:t> the attention of the position about to write the name</a:t>
            </a:r>
          </a:p>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Five spans:</a:t>
            </a:r>
            <a:r>
              <a:rPr sz="1050" b="0">
                <a:solidFill>
                  <a:srgbClr val="B9B9B9"/>
                </a:solidFill>
                <a:latin typeface="Inter"/>
                <a:cs typeface="Inter"/>
                <a:ea typeface="Inter"/>
              </a:rPr>
              <a:t> compliant names, violating names, the instruction, and two words in it</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Every layer:</a:t>
            </a:r>
            <a:r>
              <a:rPr sz="1050" b="0">
                <a:solidFill>
                  <a:srgbClr val="B9B9B9"/>
                </a:solidFill>
                <a:latin typeface="Inter"/>
                <a:cs typeface="Inter"/>
                <a:ea typeface="Inter"/>
              </a:rPr>
              <a:t> 28 to 36 depending on the model</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Averaged:</a:t>
            </a:r>
            <a:r>
              <a:rPr sz="1050" b="0">
                <a:solidFill>
                  <a:srgbClr val="B9B9B9"/>
                </a:solidFill>
                <a:latin typeface="Inter"/>
                <a:cs typeface="Inter"/>
                <a:ea typeface="Inter"/>
              </a:rPr>
              <a:t> over heads, and over 42 blocks</a:t>
            </a:r>
          </a:p>
        </p:txBody>
      </p:sp>
      <p:sp>
        <p:nvSpPr>
          <p:cNvPr id="11" name="Rounded Rectangle 10"/>
          <p:cNvSpPr/>
          <p:nvPr/>
        </p:nvSpPr>
        <p:spPr>
          <a:xfrm>
            <a:off x="6502400" y="1752600"/>
            <a:ext cx="50546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0200" y="19304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OUTCOME WOULD HAVE MEANT</a:t>
            </a:r>
          </a:p>
        </p:txBody>
      </p:sp>
      <p:sp>
        <p:nvSpPr>
          <p:cNvPr id="13" name="TextBox 12"/>
          <p:cNvSpPr txBox="1"/>
          <p:nvPr/>
        </p:nvSpPr>
        <p:spPr>
          <a:xfrm>
            <a:off x="6680200" y="3850831"/>
            <a:ext cx="4699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observed outcome is the second row — the opposite of the attention-deficit account.</a:t>
            </a:r>
          </a:p>
        </p:txBody>
      </p:sp>
      <p:sp>
        <p:nvSpPr>
          <p:cNvPr id="14" name="TextBox 13"/>
          <p:cNvSpPr txBox="1"/>
          <p:nvPr/>
        </p:nvSpPr>
        <p:spPr>
          <a:xfrm>
            <a:off x="6680200" y="2184400"/>
            <a:ext cx="18796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IF WE HAD SEEN</a:t>
            </a:r>
          </a:p>
        </p:txBody>
      </p:sp>
      <p:sp>
        <p:nvSpPr>
          <p:cNvPr id="15" name="TextBox 14"/>
          <p:cNvSpPr txBox="1"/>
          <p:nvPr/>
        </p:nvSpPr>
        <p:spPr>
          <a:xfrm>
            <a:off x="8559800" y="2184400"/>
            <a:ext cx="28194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READING</a:t>
            </a:r>
          </a:p>
        </p:txBody>
      </p:sp>
      <p:sp>
        <p:nvSpPr>
          <p:cNvPr id="16" name="Rectangle 15"/>
          <p:cNvSpPr/>
          <p:nvPr/>
        </p:nvSpPr>
        <p:spPr>
          <a:xfrm>
            <a:off x="6680200" y="2336800"/>
            <a:ext cx="4699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0200" y="2438400"/>
            <a:ext cx="1714500" cy="520577"/>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less attention on violations</a:t>
            </a:r>
          </a:p>
        </p:txBody>
      </p:sp>
      <p:sp>
        <p:nvSpPr>
          <p:cNvPr id="18" name="TextBox 17"/>
          <p:cNvSpPr txBox="1"/>
          <p:nvPr/>
        </p:nvSpPr>
        <p:spPr>
          <a:xfrm>
            <a:off x="8559800" y="2438400"/>
            <a:ext cx="2654300" cy="520577"/>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consistent with an attention deficit; Spotlight-style remedies plausible</a:t>
            </a:r>
          </a:p>
        </p:txBody>
      </p:sp>
      <p:sp>
        <p:nvSpPr>
          <p:cNvPr id="19" name="Rectangle 18"/>
          <p:cNvSpPr/>
          <p:nvPr/>
        </p:nvSpPr>
        <p:spPr>
          <a:xfrm>
            <a:off x="6680200" y="2895477"/>
            <a:ext cx="4699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0200" y="2958977"/>
            <a:ext cx="1714500" cy="520577"/>
          </a:xfrm>
          <a:prstGeom prst="rect">
            <a:avLst/>
          </a:prstGeom>
          <a:noFill/>
        </p:spPr>
        <p:txBody>
          <a:bodyPr wrap="square" lIns="0" rIns="0" tIns="0" bIns="0" anchor="t">
            <a:spAutoFit/>
          </a:bodyPr>
          <a:lstStyle/>
          <a:p>
            <a:pPr algn="l">
              <a:lnSpc>
                <a:spcPct val="130000"/>
              </a:lnSpc>
            </a:pPr>
            <a:r>
              <a:rPr sz="1000" b="0">
                <a:solidFill>
                  <a:srgbClr val="D97757"/>
                </a:solidFill>
                <a:latin typeface="Inter"/>
                <a:cs typeface="Inter"/>
                <a:ea typeface="Inter"/>
              </a:rPr>
              <a:t>more attention on violations</a:t>
            </a:r>
          </a:p>
        </p:txBody>
      </p:sp>
      <p:sp>
        <p:nvSpPr>
          <p:cNvPr id="21" name="TextBox 20"/>
          <p:cNvSpPr txBox="1"/>
          <p:nvPr/>
        </p:nvSpPr>
        <p:spPr>
          <a:xfrm>
            <a:off x="8559800" y="2958977"/>
            <a:ext cx="2654300" cy="520577"/>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model is not ignoring them; the failure is about content, not looking</a:t>
            </a:r>
          </a:p>
        </p:txBody>
      </p:sp>
      <p:sp>
        <p:nvSpPr>
          <p:cNvPr id="22" name="Rectangle 21"/>
          <p:cNvSpPr/>
          <p:nvPr/>
        </p:nvSpPr>
        <p:spPr>
          <a:xfrm>
            <a:off x="6680200" y="3416054"/>
            <a:ext cx="4699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80200" y="3479554"/>
            <a:ext cx="1714500" cy="320476"/>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no difference</a:t>
            </a:r>
          </a:p>
        </p:txBody>
      </p:sp>
      <p:sp>
        <p:nvSpPr>
          <p:cNvPr id="24" name="TextBox 23"/>
          <p:cNvSpPr txBox="1"/>
          <p:nvPr/>
        </p:nvSpPr>
        <p:spPr>
          <a:xfrm>
            <a:off x="8559800" y="3479554"/>
            <a:ext cx="2654300" cy="320476"/>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attention is the wrong place to look at all</a:t>
            </a:r>
          </a:p>
        </p:txBody>
      </p:sp>
      <p:sp>
        <p:nvSpPr>
          <p:cNvPr id="25" name="Rounded Rectangle 24"/>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THIS STEP IS CORRELATIONAL, AND SAYS SO</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matching causal step is step 3; nothing here is presented as a mechanism.</a:t>
            </a:r>
          </a:p>
        </p:txBody>
      </p:sp>
      <p:sp>
        <p:nvSpPr>
          <p:cNvPr id="28" name="TextBox 27"/>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Attention is observed, not manipulated. A difference between spans shows where the model's attention sits, not whether that attention is what produces the behaviour. Treating an observation as a mechanism is the specific error this study is organised to avoid.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The prompt, and the spans read from it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Five spans, located by character offset, then measured per token.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47</a:t>
            </a:r>
          </a:p>
        </p:txBody>
      </p:sp>
      <p:sp>
        <p:nvSpPr>
          <p:cNvPr id="8" name="Rounded Rectangle 7"/>
          <p:cNvSpPr/>
          <p:nvPr/>
        </p:nvSpPr>
        <p:spPr>
          <a:xfrm>
            <a:off x="635000" y="1752600"/>
            <a:ext cx="109220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PROMPT ANATOMY</a:t>
            </a:r>
          </a:p>
        </p:txBody>
      </p:sp>
      <p:sp>
        <p:nvSpPr>
          <p:cNvPr id="10" name="TextBox 9"/>
          <p:cNvSpPr txBox="1"/>
          <p:nvPr/>
        </p:nvSpPr>
        <p:spPr>
          <a:xfrm>
            <a:off x="812800" y="4287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Only the name characters are taken — not the def keyword, the parentheses, or the body.</a:t>
            </a:r>
          </a:p>
        </p:txBody>
      </p:sp>
      <p:pic>
        <p:nvPicPr>
          <p:cNvPr id="11" name="Picture 10" descr="s2_prompt.png"/>
          <p:cNvPicPr>
            <a:picLocks noChangeAspect="1"/>
          </p:cNvPicPr>
          <p:nvPr/>
        </p:nvPicPr>
        <p:blipFill>
          <a:blip r:embed="rId2"/>
          <a:stretch>
            <a:fillRect/>
          </a:stretch>
        </p:blipFill>
        <p:spPr>
          <a:xfrm>
            <a:off x="812800" y="2120900"/>
            <a:ext cx="4976621" cy="2090515"/>
          </a:xfrm>
          <a:prstGeom prst="rect">
            <a:avLst/>
          </a:prstGeom>
        </p:spPr>
      </p:pic>
      <p:sp>
        <p:nvSpPr>
          <p:cNvPr id="12" name="Rounded Rectangle 11"/>
          <p:cNvSpPr/>
          <p:nvPr/>
        </p:nvSpPr>
        <p:spPr>
          <a:xfrm>
            <a:off x="635000" y="4826000"/>
            <a:ext cx="10922000" cy="1428750"/>
          </a:xfrm>
          <a:prstGeom prst="roundRect">
            <a:avLst>
              <a:gd name="adj" fmla="val 5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5003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SPAN TOKEN COUNTS DIFFER BY MODEL, WHICH IS WHY WE DIVIDE</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One name can be two pieces on one tokenizer and four on another; the span is the same characters either way.</a:t>
            </a:r>
          </a:p>
        </p:txBody>
      </p:sp>
      <p:sp>
        <p:nvSpPr>
          <p:cNvPr id="15" name="TextBox 14"/>
          <p:cNvSpPr txBox="1"/>
          <p:nvPr/>
        </p:nvSpPr>
        <p:spPr>
          <a:xfrm>
            <a:off x="812800" y="5194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Because the number of tokens per span is model-dependent, comparing raw span sums across models would compare tokenizations as much as behaviour. Dividing by the span's own token count removes that.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How the attention is read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forward pass with attentions returned, one row selected, spans summed and divided.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48</a:t>
            </a:r>
          </a:p>
        </p:txBody>
      </p:sp>
      <p:sp>
        <p:nvSpPr>
          <p:cNvPr id="8" name="Rounded Rectangle 7"/>
          <p:cNvSpPr/>
          <p:nvPr/>
        </p:nvSpPr>
        <p:spPr>
          <a:xfrm>
            <a:off x="635000" y="1752600"/>
            <a:ext cx="71120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READ-OUT</a:t>
            </a:r>
          </a:p>
        </p:txBody>
      </p:sp>
      <p:sp>
        <p:nvSpPr>
          <p:cNvPr id="10" name="Rounded Rectangle 9"/>
          <p:cNvSpPr/>
          <p:nvPr/>
        </p:nvSpPr>
        <p:spPr>
          <a:xfrm>
            <a:off x="812800" y="2120900"/>
            <a:ext cx="6756400" cy="2247900"/>
          </a:xfrm>
          <a:prstGeom prst="roundRect">
            <a:avLst>
              <a:gd name="adj" fmla="val 169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out = model(input_ids, output_attentions=True)</a:t>
            </a:r>
          </a:p>
        </p:txBody>
      </p:sp>
      <p:sp>
        <p:nvSpPr>
          <p:cNvPr id="12" name="TextBox 11"/>
          <p:cNvSpPr txBox="1"/>
          <p:nvPr/>
        </p:nvSpPr>
        <p:spPr>
          <a:xfrm>
            <a:off x="927100" y="237553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3" name="TextBox 12"/>
          <p:cNvSpPr txBox="1"/>
          <p:nvPr/>
        </p:nvSpPr>
        <p:spPr>
          <a:xfrm>
            <a:off x="927100" y="254127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for layer, att in enumerate(out.attentions):    # [b, heads, seq, seq]</a:t>
            </a:r>
          </a:p>
        </p:txBody>
      </p:sp>
      <p:sp>
        <p:nvSpPr>
          <p:cNvPr id="14" name="TextBox 13"/>
          <p:cNvSpPr txBox="1"/>
          <p:nvPr/>
        </p:nvSpPr>
        <p:spPr>
          <a:xfrm>
            <a:off x="927100" y="2707005"/>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row = att[0, :, -1, :].mean(dim=0)          # heads averaged, last row</a:t>
            </a:r>
          </a:p>
        </p:txBody>
      </p:sp>
      <p:sp>
        <p:nvSpPr>
          <p:cNvPr id="15" name="TextBox 14"/>
          <p:cNvSpPr txBox="1"/>
          <p:nvPr/>
        </p:nvSpPr>
        <p:spPr>
          <a:xfrm>
            <a:off x="927100" y="287274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for name, idx in spans.items():</a:t>
            </a:r>
          </a:p>
        </p:txBody>
      </p:sp>
      <p:sp>
        <p:nvSpPr>
          <p:cNvPr id="16" name="TextBox 15"/>
          <p:cNvSpPr txBox="1"/>
          <p:nvPr/>
        </p:nvSpPr>
        <p:spPr>
          <a:xfrm>
            <a:off x="927100" y="303847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total = row[idx].sum().item()</a:t>
            </a:r>
          </a:p>
        </p:txBody>
      </p:sp>
      <p:sp>
        <p:nvSpPr>
          <p:cNvPr id="17" name="TextBox 16"/>
          <p:cNvSpPr txBox="1"/>
          <p:nvPr/>
        </p:nvSpPr>
        <p:spPr>
          <a:xfrm>
            <a:off x="927100" y="3204210"/>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per_token = total / len(idx)            # what we report</a:t>
            </a:r>
          </a:p>
        </p:txBody>
      </p:sp>
      <p:sp>
        <p:nvSpPr>
          <p:cNvPr id="18" name="TextBox 17"/>
          <p:cNvSpPr txBox="1"/>
          <p:nvPr/>
        </p:nvSpPr>
        <p:spPr>
          <a:xfrm>
            <a:off x="927100" y="336994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9" name="TextBox 18"/>
          <p:cNvSpPr txBox="1"/>
          <p:nvPr/>
        </p:nvSpPr>
        <p:spPr>
          <a:xfrm>
            <a:off x="927100" y="3535680"/>
            <a:ext cx="6527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the row sums to 1, so total is a share of this decision's attention</a:t>
            </a:r>
          </a:p>
        </p:txBody>
      </p:sp>
      <p:sp>
        <p:nvSpPr>
          <p:cNvPr id="20" name="Rounded Rectangle 19"/>
          <p:cNvSpPr/>
          <p:nvPr/>
        </p:nvSpPr>
        <p:spPr>
          <a:xfrm>
            <a:off x="7899400" y="1752600"/>
            <a:ext cx="36576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77200" y="19304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THREE QUANTITIES PER SPAN</a:t>
            </a:r>
          </a:p>
        </p:txBody>
      </p:sp>
      <p:sp>
        <p:nvSpPr>
          <p:cNvPr id="22" name="TextBox 21"/>
          <p:cNvSpPr txBox="1"/>
          <p:nvPr/>
        </p:nvSpPr>
        <p:spPr>
          <a:xfrm>
            <a:off x="8077200" y="2120900"/>
            <a:ext cx="3302000" cy="939800"/>
          </a:xfrm>
          <a:prstGeom prst="rect">
            <a:avLst/>
          </a:prstGeom>
          <a:noFill/>
        </p:spPr>
        <p:txBody>
          <a:bodyPr wrap="square" lIns="0" rIns="0" tIns="0" bIns="0">
            <a:spAutoFit/>
          </a:bodyPr>
          <a:lstStyle/>
          <a:p>
            <a:pPr marL="728091" indent="-72809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attention_weight:</a:t>
            </a:r>
            <a:r>
              <a:rPr sz="1050" b="0">
                <a:solidFill>
                  <a:srgbClr val="B9B9B9"/>
                </a:solidFill>
                <a:latin typeface="Inter"/>
                <a:cs typeface="Inter"/>
                <a:ea typeface="Inter"/>
              </a:rPr>
              <a:t> the share of attention the span received</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v_norm:</a:t>
            </a:r>
            <a:r>
              <a:rPr sz="1050" b="0">
                <a:solidFill>
                  <a:srgbClr val="B9B9B9"/>
                </a:solidFill>
                <a:latin typeface="Inter"/>
                <a:cs typeface="Inter"/>
                <a:ea typeface="Inter"/>
              </a:rPr>
              <a:t> the average length of the value vectors at those positions</a:t>
            </a:r>
          </a:p>
          <a:p>
            <a:pPr marL="416052" indent="-41605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av_norm:</a:t>
            </a:r>
            <a:r>
              <a:rPr sz="1050" b="0">
                <a:solidFill>
                  <a:srgbClr val="B9B9B9"/>
                </a:solidFill>
                <a:latin typeface="Inter"/>
                <a:cs typeface="Inter"/>
                <a:ea typeface="Inter"/>
              </a:rPr>
              <a:t> the sum of weight times value length — an upper bound, not a contribution</a:t>
            </a:r>
          </a:p>
        </p:txBody>
      </p:sp>
      <p:sp>
        <p:nvSpPr>
          <p:cNvPr id="23" name="Rounded Rectangle 22"/>
          <p:cNvSpPr/>
          <p:nvPr/>
        </p:nvSpPr>
        <p:spPr>
          <a:xfrm>
            <a:off x="635000" y="4699000"/>
            <a:ext cx="10922000" cy="1555750"/>
          </a:xfrm>
          <a:prstGeom prst="roundRect">
            <a:avLst>
              <a:gd name="adj" fmla="val 48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2800" y="4876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AV_NORM IS CALLED AN UPPER BOUND</a:t>
            </a:r>
          </a:p>
        </p:txBody>
      </p:sp>
      <p:sp>
        <p:nvSpPr>
          <p:cNvPr id="25" name="TextBox 24"/>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It ignores cancellation between vectors and it precedes the output projection.</a:t>
            </a:r>
          </a:p>
        </p:txBody>
      </p:sp>
      <p:pic>
        <p:nvPicPr>
          <p:cNvPr id="26" name="Picture 25" descr="eq_avnorm.png"/>
          <p:cNvPicPr>
            <a:picLocks noChangeAspect="1"/>
          </p:cNvPicPr>
          <p:nvPr/>
        </p:nvPicPr>
        <p:blipFill>
          <a:blip r:embed="rId2"/>
          <a:stretch>
            <a:fillRect/>
          </a:stretch>
        </p:blipFill>
        <p:spPr>
          <a:xfrm>
            <a:off x="812800" y="5080000"/>
            <a:ext cx="1647619" cy="3302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Two estimands, and where they disagree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Span sum and per token answer different questions. We report per token and state the disagreement rather than hiding it.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49</a:t>
            </a:r>
          </a:p>
        </p:txBody>
      </p:sp>
      <p:sp>
        <p:nvSpPr>
          <p:cNvPr id="8" name="Rounded Rectangle 7"/>
          <p:cNvSpPr/>
          <p:nvPr/>
        </p:nvSpPr>
        <p:spPr>
          <a:xfrm>
            <a:off x="635000" y="1752600"/>
            <a:ext cx="10922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TWO SUMMARIES</a:t>
            </a:r>
          </a:p>
        </p:txBody>
      </p:sp>
      <p:sp>
        <p:nvSpPr>
          <p:cNvPr id="10" name="TextBox 9"/>
          <p:cNvSpPr txBox="1"/>
          <p:nvPr/>
        </p:nvSpPr>
        <p:spPr>
          <a:xfrm>
            <a:off x="812800" y="3525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Neither is “the fair one” — they answer different questions about the same measurement.</a:t>
            </a:r>
          </a:p>
        </p:txBody>
      </p:sp>
      <p:pic>
        <p:nvPicPr>
          <p:cNvPr id="11" name="Picture 10" descr="s2_estimand.png"/>
          <p:cNvPicPr>
            <a:picLocks noChangeAspect="1"/>
          </p:cNvPicPr>
          <p:nvPr/>
        </p:nvPicPr>
        <p:blipFill>
          <a:blip r:embed="rId2"/>
          <a:stretch>
            <a:fillRect/>
          </a:stretch>
        </p:blipFill>
        <p:spPr>
          <a:xfrm>
            <a:off x="812800" y="2120900"/>
            <a:ext cx="3689730" cy="1328515"/>
          </a:xfrm>
          <a:prstGeom prst="rect">
            <a:avLst/>
          </a:prstGeom>
        </p:spPr>
      </p:pic>
      <p:sp>
        <p:nvSpPr>
          <p:cNvPr id="12" name="Rounded Rectangle 11"/>
          <p:cNvSpPr/>
          <p:nvPr/>
        </p:nvSpPr>
        <p:spPr>
          <a:xfrm>
            <a:off x="635000" y="4064000"/>
            <a:ext cx="10922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241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SENSITIVITY, MEASURED RATHER THAN ASSERTED</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Peak layers are unchanged under both estimands in every model.</a:t>
            </a:r>
          </a:p>
        </p:txBody>
      </p:sp>
      <p:sp>
        <p:nvSpPr>
          <p:cNvPr id="15" name="TextBox 14"/>
          <p:cNvSpPr txBox="1"/>
          <p:nvPr/>
        </p:nvSpPr>
        <p:spPr>
          <a:xfrm>
            <a:off x="812800" y="4495800"/>
            <a:ext cx="422656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16" name="TextBox 15"/>
          <p:cNvSpPr txBox="1"/>
          <p:nvPr/>
        </p:nvSpPr>
        <p:spPr>
          <a:xfrm>
            <a:off x="5039360" y="4495800"/>
            <a:ext cx="211328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LAYERS</a:t>
            </a:r>
          </a:p>
        </p:txBody>
      </p:sp>
      <p:sp>
        <p:nvSpPr>
          <p:cNvPr id="17" name="TextBox 16"/>
          <p:cNvSpPr txBox="1"/>
          <p:nvPr/>
        </p:nvSpPr>
        <p:spPr>
          <a:xfrm>
            <a:off x="7152640" y="4495800"/>
            <a:ext cx="422656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SIGN FLIPS BETWEEN ESTIMANDS</a:t>
            </a:r>
          </a:p>
        </p:txBody>
      </p:sp>
      <p:sp>
        <p:nvSpPr>
          <p:cNvPr id="18" name="Rectangle 17"/>
          <p:cNvSpPr/>
          <p:nvPr/>
        </p:nvSpPr>
        <p:spPr>
          <a:xfrm>
            <a:off x="812800" y="46482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4749800"/>
            <a:ext cx="4061460" cy="267041"/>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Qwen2.5-Coder-3B</a:t>
            </a:r>
          </a:p>
        </p:txBody>
      </p:sp>
      <p:sp>
        <p:nvSpPr>
          <p:cNvPr id="20" name="TextBox 19"/>
          <p:cNvSpPr txBox="1"/>
          <p:nvPr/>
        </p:nvSpPr>
        <p:spPr>
          <a:xfrm>
            <a:off x="5039360" y="4749800"/>
            <a:ext cx="194818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36</a:t>
            </a:r>
          </a:p>
        </p:txBody>
      </p:sp>
      <p:sp>
        <p:nvSpPr>
          <p:cNvPr id="21" name="TextBox 20"/>
          <p:cNvSpPr txBox="1"/>
          <p:nvPr/>
        </p:nvSpPr>
        <p:spPr>
          <a:xfrm>
            <a:off x="7152640" y="4749800"/>
            <a:ext cx="406146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0 of 36</a:t>
            </a:r>
          </a:p>
        </p:txBody>
      </p:sp>
      <p:sp>
        <p:nvSpPr>
          <p:cNvPr id="22" name="Rectangle 21"/>
          <p:cNvSpPr/>
          <p:nvPr/>
        </p:nvSpPr>
        <p:spPr>
          <a:xfrm>
            <a:off x="812800" y="4953341"/>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800" y="5016841"/>
            <a:ext cx="4061460" cy="267041"/>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DeepSeek-Coder-6.7B</a:t>
            </a:r>
          </a:p>
        </p:txBody>
      </p:sp>
      <p:sp>
        <p:nvSpPr>
          <p:cNvPr id="24" name="TextBox 23"/>
          <p:cNvSpPr txBox="1"/>
          <p:nvPr/>
        </p:nvSpPr>
        <p:spPr>
          <a:xfrm>
            <a:off x="5039360" y="5016841"/>
            <a:ext cx="194818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32</a:t>
            </a:r>
          </a:p>
        </p:txBody>
      </p:sp>
      <p:sp>
        <p:nvSpPr>
          <p:cNvPr id="25" name="TextBox 24"/>
          <p:cNvSpPr txBox="1"/>
          <p:nvPr/>
        </p:nvSpPr>
        <p:spPr>
          <a:xfrm>
            <a:off x="7152640" y="5016841"/>
            <a:ext cx="406146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7 of 32</a:t>
            </a:r>
          </a:p>
        </p:txBody>
      </p:sp>
      <p:sp>
        <p:nvSpPr>
          <p:cNvPr id="26" name="Rectangle 25"/>
          <p:cNvSpPr/>
          <p:nvPr/>
        </p:nvSpPr>
        <p:spPr>
          <a:xfrm>
            <a:off x="812800" y="522038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800" y="5283883"/>
            <a:ext cx="4061460" cy="267041"/>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Llama-3.2-3B</a:t>
            </a:r>
          </a:p>
        </p:txBody>
      </p:sp>
      <p:sp>
        <p:nvSpPr>
          <p:cNvPr id="28" name="TextBox 27"/>
          <p:cNvSpPr txBox="1"/>
          <p:nvPr/>
        </p:nvSpPr>
        <p:spPr>
          <a:xfrm>
            <a:off x="5039360" y="5283883"/>
            <a:ext cx="194818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28</a:t>
            </a:r>
          </a:p>
        </p:txBody>
      </p:sp>
      <p:sp>
        <p:nvSpPr>
          <p:cNvPr id="29" name="TextBox 28"/>
          <p:cNvSpPr txBox="1"/>
          <p:nvPr/>
        </p:nvSpPr>
        <p:spPr>
          <a:xfrm>
            <a:off x="7152640" y="5283883"/>
            <a:ext cx="406146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0 of 28</a:t>
            </a:r>
          </a:p>
        </p:txBody>
      </p:sp>
      <p:sp>
        <p:nvSpPr>
          <p:cNvPr id="30" name="Rectangle 29"/>
          <p:cNvSpPr/>
          <p:nvPr/>
        </p:nvSpPr>
        <p:spPr>
          <a:xfrm>
            <a:off x="812800" y="5487424"/>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800" y="5550924"/>
            <a:ext cx="4061460" cy="267041"/>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StableCode-3B</a:t>
            </a:r>
          </a:p>
        </p:txBody>
      </p:sp>
      <p:sp>
        <p:nvSpPr>
          <p:cNvPr id="32" name="TextBox 31"/>
          <p:cNvSpPr txBox="1"/>
          <p:nvPr/>
        </p:nvSpPr>
        <p:spPr>
          <a:xfrm>
            <a:off x="5039360" y="5550924"/>
            <a:ext cx="194818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32</a:t>
            </a:r>
          </a:p>
        </p:txBody>
      </p:sp>
      <p:sp>
        <p:nvSpPr>
          <p:cNvPr id="33" name="TextBox 32"/>
          <p:cNvSpPr txBox="1"/>
          <p:nvPr/>
        </p:nvSpPr>
        <p:spPr>
          <a:xfrm>
            <a:off x="7152640" y="5550924"/>
            <a:ext cx="4061460" cy="267041"/>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9 of 32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Result — the model looks more, not less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Attention per token on violating names sits above compliant names in every model.</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50</a:t>
            </a:r>
          </a:p>
        </p:txBody>
      </p:sp>
      <p:sp>
        <p:nvSpPr>
          <p:cNvPr id="8" name="Rounded Rectangle 7"/>
          <p:cNvSpPr/>
          <p:nvPr/>
        </p:nvSpPr>
        <p:spPr>
          <a:xfrm>
            <a:off x="6350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12800" y="2268193"/>
            <a:ext cx="2260600" cy="1673914"/>
          </a:xfrm>
          <a:prstGeom prst="roundRect">
            <a:avLst>
              <a:gd name="adj" fmla="val 4552"/>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2__attention_qwen.png"/>
          <p:cNvPicPr>
            <a:picLocks noChangeAspect="1"/>
          </p:cNvPicPr>
          <p:nvPr/>
        </p:nvPicPr>
        <p:blipFill>
          <a:blip r:embed="rId2"/>
          <a:stretch>
            <a:fillRect/>
          </a:stretch>
        </p:blipFill>
        <p:spPr>
          <a:xfrm>
            <a:off x="889000" y="2344393"/>
            <a:ext cx="2108200" cy="1521514"/>
          </a:xfrm>
          <a:prstGeom prst="rect">
            <a:avLst/>
          </a:prstGeom>
        </p:spPr>
      </p:pic>
      <p:sp>
        <p:nvSpPr>
          <p:cNvPr id="12" name="Rounded Rectangle 11"/>
          <p:cNvSpPr/>
          <p:nvPr/>
        </p:nvSpPr>
        <p:spPr>
          <a:xfrm>
            <a:off x="34036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581400" y="2268193"/>
            <a:ext cx="2260600" cy="1673914"/>
          </a:xfrm>
          <a:prstGeom prst="roundRect">
            <a:avLst>
              <a:gd name="adj" fmla="val 4552"/>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2__attention_deepseek.png"/>
          <p:cNvPicPr>
            <a:picLocks noChangeAspect="1"/>
          </p:cNvPicPr>
          <p:nvPr/>
        </p:nvPicPr>
        <p:blipFill>
          <a:blip r:embed="rId3"/>
          <a:stretch>
            <a:fillRect/>
          </a:stretch>
        </p:blipFill>
        <p:spPr>
          <a:xfrm>
            <a:off x="3657600" y="2344393"/>
            <a:ext cx="2108200" cy="1521514"/>
          </a:xfrm>
          <a:prstGeom prst="rect">
            <a:avLst/>
          </a:prstGeom>
        </p:spPr>
      </p:pic>
      <p:sp>
        <p:nvSpPr>
          <p:cNvPr id="16" name="Rounded Rectangle 15"/>
          <p:cNvSpPr/>
          <p:nvPr/>
        </p:nvSpPr>
        <p:spPr>
          <a:xfrm>
            <a:off x="61722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350000" y="2268193"/>
            <a:ext cx="2260600" cy="1673914"/>
          </a:xfrm>
          <a:prstGeom prst="roundRect">
            <a:avLst>
              <a:gd name="adj" fmla="val 4552"/>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2__attention_llama.png"/>
          <p:cNvPicPr>
            <a:picLocks noChangeAspect="1"/>
          </p:cNvPicPr>
          <p:nvPr/>
        </p:nvPicPr>
        <p:blipFill>
          <a:blip r:embed="rId4"/>
          <a:stretch>
            <a:fillRect/>
          </a:stretch>
        </p:blipFill>
        <p:spPr>
          <a:xfrm>
            <a:off x="6426200" y="2344393"/>
            <a:ext cx="2108200" cy="1521514"/>
          </a:xfrm>
          <a:prstGeom prst="rect">
            <a:avLst/>
          </a:prstGeom>
        </p:spPr>
      </p:pic>
      <p:sp>
        <p:nvSpPr>
          <p:cNvPr id="20" name="Rounded Rectangle 19"/>
          <p:cNvSpPr/>
          <p:nvPr/>
        </p:nvSpPr>
        <p:spPr>
          <a:xfrm>
            <a:off x="89408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18600" y="2268193"/>
            <a:ext cx="2260600" cy="1673914"/>
          </a:xfrm>
          <a:prstGeom prst="roundRect">
            <a:avLst>
              <a:gd name="adj" fmla="val 4552"/>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2__attention_stability.png"/>
          <p:cNvPicPr>
            <a:picLocks noChangeAspect="1"/>
          </p:cNvPicPr>
          <p:nvPr/>
        </p:nvPicPr>
        <p:blipFill>
          <a:blip r:embed="rId5"/>
          <a:stretch>
            <a:fillRect/>
          </a:stretch>
        </p:blipFill>
        <p:spPr>
          <a:xfrm>
            <a:off x="9194800" y="2344393"/>
            <a:ext cx="2108200" cy="1521514"/>
          </a:xfrm>
          <a:prstGeom prst="rect">
            <a:avLst/>
          </a:prstGeom>
        </p:spPr>
      </p:pic>
      <p:sp>
        <p:nvSpPr>
          <p:cNvPr id="24" name="TextBox 23"/>
          <p:cNvSpPr txBox="1"/>
          <p:nvPr/>
        </p:nvSpPr>
        <p:spPr>
          <a:xfrm>
            <a:off x="635000" y="43307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Attention per token, by layer. Violating names above compliant names.</a:t>
            </a:r>
          </a:p>
        </p:txBody>
      </p:sp>
      <p:sp>
        <p:nvSpPr>
          <p:cNvPr id="25" name="Rounded Rectangle 24"/>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THIS RULES OUT</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attention-deficit account predicted the opposite sign. It does not survive this measurement.</a:t>
            </a:r>
          </a:p>
        </p:txBody>
      </p:sp>
      <p:sp>
        <p:nvSpPr>
          <p:cNvPr id="28" name="TextBox 27"/>
          <p:cNvSpPr txBox="1"/>
          <p:nvPr/>
        </p:nvSpPr>
        <p:spPr>
          <a:xfrm>
            <a:off x="812800" y="5003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the model were failing because it does not look at the offending material, violating names would receive less attention than compliant ones. They receive more. Whatever is going wrong, it is not that the model is failing to attend.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Result — the same spans, seen together</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All five spans on one axis, so the instruction and the code can be compared directly.</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51</a:t>
            </a:r>
          </a:p>
        </p:txBody>
      </p:sp>
      <p:sp>
        <p:nvSpPr>
          <p:cNvPr id="8" name="Rounded Rectangle 7"/>
          <p:cNvSpPr/>
          <p:nvPr/>
        </p:nvSpPr>
        <p:spPr>
          <a:xfrm>
            <a:off x="6350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12800" y="2147458"/>
            <a:ext cx="2260600" cy="1915385"/>
          </a:xfrm>
          <a:prstGeom prst="roundRect">
            <a:avLst>
              <a:gd name="adj" fmla="val 3978"/>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2__spans_qwen.png"/>
          <p:cNvPicPr>
            <a:picLocks noChangeAspect="1"/>
          </p:cNvPicPr>
          <p:nvPr/>
        </p:nvPicPr>
        <p:blipFill>
          <a:blip r:embed="rId2"/>
          <a:stretch>
            <a:fillRect/>
          </a:stretch>
        </p:blipFill>
        <p:spPr>
          <a:xfrm>
            <a:off x="889000" y="2223658"/>
            <a:ext cx="2108200" cy="1762985"/>
          </a:xfrm>
          <a:prstGeom prst="rect">
            <a:avLst/>
          </a:prstGeom>
        </p:spPr>
      </p:pic>
      <p:sp>
        <p:nvSpPr>
          <p:cNvPr id="12" name="Rounded Rectangle 11"/>
          <p:cNvSpPr/>
          <p:nvPr/>
        </p:nvSpPr>
        <p:spPr>
          <a:xfrm>
            <a:off x="34036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581400" y="2147458"/>
            <a:ext cx="2260600" cy="1915385"/>
          </a:xfrm>
          <a:prstGeom prst="roundRect">
            <a:avLst>
              <a:gd name="adj" fmla="val 3978"/>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2__spans_deepseek.png"/>
          <p:cNvPicPr>
            <a:picLocks noChangeAspect="1"/>
          </p:cNvPicPr>
          <p:nvPr/>
        </p:nvPicPr>
        <p:blipFill>
          <a:blip r:embed="rId3"/>
          <a:stretch>
            <a:fillRect/>
          </a:stretch>
        </p:blipFill>
        <p:spPr>
          <a:xfrm>
            <a:off x="3657600" y="2223658"/>
            <a:ext cx="2108200" cy="1762985"/>
          </a:xfrm>
          <a:prstGeom prst="rect">
            <a:avLst/>
          </a:prstGeom>
        </p:spPr>
      </p:pic>
      <p:sp>
        <p:nvSpPr>
          <p:cNvPr id="16" name="Rounded Rectangle 15"/>
          <p:cNvSpPr/>
          <p:nvPr/>
        </p:nvSpPr>
        <p:spPr>
          <a:xfrm>
            <a:off x="61722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350000" y="2147458"/>
            <a:ext cx="2260600" cy="1915385"/>
          </a:xfrm>
          <a:prstGeom prst="roundRect">
            <a:avLst>
              <a:gd name="adj" fmla="val 3978"/>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2__spans_llama.png"/>
          <p:cNvPicPr>
            <a:picLocks noChangeAspect="1"/>
          </p:cNvPicPr>
          <p:nvPr/>
        </p:nvPicPr>
        <p:blipFill>
          <a:blip r:embed="rId4"/>
          <a:stretch>
            <a:fillRect/>
          </a:stretch>
        </p:blipFill>
        <p:spPr>
          <a:xfrm>
            <a:off x="6426200" y="2223658"/>
            <a:ext cx="2108200" cy="1762985"/>
          </a:xfrm>
          <a:prstGeom prst="rect">
            <a:avLst/>
          </a:prstGeom>
        </p:spPr>
      </p:pic>
      <p:sp>
        <p:nvSpPr>
          <p:cNvPr id="20" name="Rounded Rectangle 19"/>
          <p:cNvSpPr/>
          <p:nvPr/>
        </p:nvSpPr>
        <p:spPr>
          <a:xfrm>
            <a:off x="89408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18600" y="2147458"/>
            <a:ext cx="2260600" cy="1915385"/>
          </a:xfrm>
          <a:prstGeom prst="roundRect">
            <a:avLst>
              <a:gd name="adj" fmla="val 3978"/>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2__spans_stability.png"/>
          <p:cNvPicPr>
            <a:picLocks noChangeAspect="1"/>
          </p:cNvPicPr>
          <p:nvPr/>
        </p:nvPicPr>
        <p:blipFill>
          <a:blip r:embed="rId5"/>
          <a:stretch>
            <a:fillRect/>
          </a:stretch>
        </p:blipFill>
        <p:spPr>
          <a:xfrm>
            <a:off x="9194800" y="2223658"/>
            <a:ext cx="2108200" cy="1762985"/>
          </a:xfrm>
          <a:prstGeom prst="rect">
            <a:avLst/>
          </a:prstGeom>
        </p:spPr>
      </p:pic>
      <p:sp>
        <p:nvSpPr>
          <p:cNvPr id="24" name="TextBox 23"/>
          <p:cNvSpPr txBox="1"/>
          <p:nvPr/>
        </p:nvSpPr>
        <p:spPr>
          <a:xfrm>
            <a:off x="635000" y="43307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All five spans, attention per token, by layer.</a:t>
            </a:r>
          </a:p>
        </p:txBody>
      </p:sp>
      <p:sp>
        <p:nvSpPr>
          <p:cNvPr id="25" name="Rounded Rectangle 24"/>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 CAUTION ABOUT THE INSTRUCTION SPAN HERE</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role-separated version of this comparison is step 4; this step's instruction keys are the initial ones.</a:t>
            </a:r>
          </a:p>
        </p:txBody>
      </p:sp>
      <p:sp>
        <p:nvSpPr>
          <p:cNvPr id="28" name="TextBox 27"/>
          <p:cNvSpPr txBox="1"/>
          <p:nvPr/>
        </p:nvSpPr>
        <p:spPr>
          <a:xfrm>
            <a:off x="812800" y="5003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In this step the instruction's notation word is counted wherever it appears, which includes the candidate list as well as the rule sentence. That inflates it by construction, and is exactly the defect step 4 was built to fix.</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Result — value norms and the upper bound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Attention share is not the only thing that differs between spans; the vectors themselves differ in length.</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52</a:t>
            </a:r>
          </a:p>
        </p:txBody>
      </p:sp>
      <p:sp>
        <p:nvSpPr>
          <p:cNvPr id="8" name="Rounded Rectangle 7"/>
          <p:cNvSpPr/>
          <p:nvPr/>
        </p:nvSpPr>
        <p:spPr>
          <a:xfrm>
            <a:off x="6350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12800" y="2170609"/>
            <a:ext cx="2260600" cy="1678582"/>
          </a:xfrm>
          <a:prstGeom prst="roundRect">
            <a:avLst>
              <a:gd name="adj" fmla="val 4539"/>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2__av_qwen.png"/>
          <p:cNvPicPr>
            <a:picLocks noChangeAspect="1"/>
          </p:cNvPicPr>
          <p:nvPr/>
        </p:nvPicPr>
        <p:blipFill>
          <a:blip r:embed="rId2"/>
          <a:stretch>
            <a:fillRect/>
          </a:stretch>
        </p:blipFill>
        <p:spPr>
          <a:xfrm>
            <a:off x="889000" y="2246809"/>
            <a:ext cx="2108200" cy="1526182"/>
          </a:xfrm>
          <a:prstGeom prst="rect">
            <a:avLst/>
          </a:prstGeom>
        </p:spPr>
      </p:pic>
      <p:sp>
        <p:nvSpPr>
          <p:cNvPr id="12" name="Rounded Rectangle 11"/>
          <p:cNvSpPr/>
          <p:nvPr/>
        </p:nvSpPr>
        <p:spPr>
          <a:xfrm>
            <a:off x="34036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581400" y="2170609"/>
            <a:ext cx="2260600" cy="1678582"/>
          </a:xfrm>
          <a:prstGeom prst="roundRect">
            <a:avLst>
              <a:gd name="adj" fmla="val 4539"/>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2__av_deepseek.png"/>
          <p:cNvPicPr>
            <a:picLocks noChangeAspect="1"/>
          </p:cNvPicPr>
          <p:nvPr/>
        </p:nvPicPr>
        <p:blipFill>
          <a:blip r:embed="rId3"/>
          <a:stretch>
            <a:fillRect/>
          </a:stretch>
        </p:blipFill>
        <p:spPr>
          <a:xfrm>
            <a:off x="3657600" y="2246809"/>
            <a:ext cx="2108200" cy="1526182"/>
          </a:xfrm>
          <a:prstGeom prst="rect">
            <a:avLst/>
          </a:prstGeom>
        </p:spPr>
      </p:pic>
      <p:sp>
        <p:nvSpPr>
          <p:cNvPr id="16" name="Rounded Rectangle 15"/>
          <p:cNvSpPr/>
          <p:nvPr/>
        </p:nvSpPr>
        <p:spPr>
          <a:xfrm>
            <a:off x="61722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350000" y="2170609"/>
            <a:ext cx="2260600" cy="1678582"/>
          </a:xfrm>
          <a:prstGeom prst="roundRect">
            <a:avLst>
              <a:gd name="adj" fmla="val 4539"/>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2__av_llama.png"/>
          <p:cNvPicPr>
            <a:picLocks noChangeAspect="1"/>
          </p:cNvPicPr>
          <p:nvPr/>
        </p:nvPicPr>
        <p:blipFill>
          <a:blip r:embed="rId4"/>
          <a:stretch>
            <a:fillRect/>
          </a:stretch>
        </p:blipFill>
        <p:spPr>
          <a:xfrm>
            <a:off x="6426200" y="2246809"/>
            <a:ext cx="2108200" cy="1526182"/>
          </a:xfrm>
          <a:prstGeom prst="rect">
            <a:avLst/>
          </a:prstGeom>
        </p:spPr>
      </p:pic>
      <p:sp>
        <p:nvSpPr>
          <p:cNvPr id="20" name="Rounded Rectangle 19"/>
          <p:cNvSpPr/>
          <p:nvPr/>
        </p:nvSpPr>
        <p:spPr>
          <a:xfrm>
            <a:off x="89408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18600" y="2170609"/>
            <a:ext cx="2260600" cy="1678582"/>
          </a:xfrm>
          <a:prstGeom prst="roundRect">
            <a:avLst>
              <a:gd name="adj" fmla="val 4539"/>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2__av_stability.png"/>
          <p:cNvPicPr>
            <a:picLocks noChangeAspect="1"/>
          </p:cNvPicPr>
          <p:nvPr/>
        </p:nvPicPr>
        <p:blipFill>
          <a:blip r:embed="rId5"/>
          <a:stretch>
            <a:fillRect/>
          </a:stretch>
        </p:blipFill>
        <p:spPr>
          <a:xfrm>
            <a:off x="9194800" y="2246809"/>
            <a:ext cx="2108200" cy="1526182"/>
          </a:xfrm>
          <a:prstGeom prst="rect">
            <a:avLst/>
          </a:prstGeom>
        </p:spPr>
      </p:pic>
      <p:sp>
        <p:nvSpPr>
          <p:cNvPr id="24" name="TextBox 23"/>
          <p:cNvSpPr txBox="1"/>
          <p:nvPr/>
        </p:nvSpPr>
        <p:spPr>
          <a:xfrm>
            <a:off x="635000" y="41402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Attention times value norm, per token — an upper bound on contribution.</a:t>
            </a:r>
          </a:p>
        </p:txBody>
      </p:sp>
      <p:sp>
        <p:nvSpPr>
          <p:cNvPr id="25" name="Rounded Rectangle 24"/>
          <p:cNvSpPr/>
          <p:nvPr/>
        </p:nvSpPr>
        <p:spPr>
          <a:xfrm>
            <a:off x="635000" y="4445000"/>
            <a:ext cx="6858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6228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IS REPORTED AT ALL</a:t>
            </a:r>
          </a:p>
        </p:txBody>
      </p:sp>
      <p:sp>
        <p:nvSpPr>
          <p:cNvPr id="27" name="TextBox 26"/>
          <p:cNvSpPr txBox="1"/>
          <p:nvPr/>
        </p:nvSpPr>
        <p:spPr>
          <a:xfrm>
            <a:off x="812800" y="5868765"/>
            <a:ext cx="650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It is the first hint that the two roads carry different amounts of signal.</a:t>
            </a:r>
          </a:p>
        </p:txBody>
      </p:sp>
      <p:sp>
        <p:nvSpPr>
          <p:cNvPr id="28" name="TextBox 27"/>
          <p:cNvSpPr txBox="1"/>
          <p:nvPr/>
        </p:nvSpPr>
        <p:spPr>
          <a:xfrm>
            <a:off x="812800" y="4813300"/>
            <a:ext cx="6502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violating names attracted more attention but carried shorter value vectors, the extra attention might deliver no extra content. The upper bound shows that is not what happens.</a:t>
            </a:r>
          </a:p>
        </p:txBody>
      </p:sp>
      <p:sp>
        <p:nvSpPr>
          <p:cNvPr id="29" name="Rounded Rectangle 28"/>
          <p:cNvSpPr/>
          <p:nvPr/>
        </p:nvSpPr>
        <p:spPr>
          <a:xfrm>
            <a:off x="7645400" y="4445000"/>
            <a:ext cx="39116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823200" y="46228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AND WHY IT IS NOT A CONTRIBUTION</a:t>
            </a:r>
          </a:p>
        </p:txBody>
      </p:sp>
      <p:sp>
        <p:nvSpPr>
          <p:cNvPr id="31" name="TextBox 30"/>
          <p:cNvSpPr txBox="1"/>
          <p:nvPr/>
        </p:nvSpPr>
        <p:spPr>
          <a:xfrm>
            <a:off x="7823200" y="4813300"/>
            <a:ext cx="3556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true contribution is the norm of the weighted sum, after the output projection. Vectors can cancel; this quantity cannot see that.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Result — the gap, and where it peaks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difference between violating and compliant attention, layer by layer.</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53</a:t>
            </a:r>
          </a:p>
        </p:txBody>
      </p:sp>
      <p:sp>
        <p:nvSpPr>
          <p:cNvPr id="8" name="Rounded Rectangle 7"/>
          <p:cNvSpPr/>
          <p:nvPr/>
        </p:nvSpPr>
        <p:spPr>
          <a:xfrm>
            <a:off x="6350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12800" y="2263511"/>
            <a:ext cx="2260600" cy="1683278"/>
          </a:xfrm>
          <a:prstGeom prst="roundRect">
            <a:avLst>
              <a:gd name="adj" fmla="val 452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2__gap_qwen.png"/>
          <p:cNvPicPr>
            <a:picLocks noChangeAspect="1"/>
          </p:cNvPicPr>
          <p:nvPr/>
        </p:nvPicPr>
        <p:blipFill>
          <a:blip r:embed="rId2"/>
          <a:stretch>
            <a:fillRect/>
          </a:stretch>
        </p:blipFill>
        <p:spPr>
          <a:xfrm>
            <a:off x="889000" y="2339711"/>
            <a:ext cx="2108200" cy="1530878"/>
          </a:xfrm>
          <a:prstGeom prst="rect">
            <a:avLst/>
          </a:prstGeom>
        </p:spPr>
      </p:pic>
      <p:sp>
        <p:nvSpPr>
          <p:cNvPr id="12" name="Rounded Rectangle 11"/>
          <p:cNvSpPr/>
          <p:nvPr/>
        </p:nvSpPr>
        <p:spPr>
          <a:xfrm>
            <a:off x="34036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581400" y="2263511"/>
            <a:ext cx="2260600" cy="1683278"/>
          </a:xfrm>
          <a:prstGeom prst="roundRect">
            <a:avLst>
              <a:gd name="adj" fmla="val 452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2__gap_deepseek.png"/>
          <p:cNvPicPr>
            <a:picLocks noChangeAspect="1"/>
          </p:cNvPicPr>
          <p:nvPr/>
        </p:nvPicPr>
        <p:blipFill>
          <a:blip r:embed="rId3"/>
          <a:stretch>
            <a:fillRect/>
          </a:stretch>
        </p:blipFill>
        <p:spPr>
          <a:xfrm>
            <a:off x="3657600" y="2339711"/>
            <a:ext cx="2108200" cy="1530878"/>
          </a:xfrm>
          <a:prstGeom prst="rect">
            <a:avLst/>
          </a:prstGeom>
        </p:spPr>
      </p:pic>
      <p:sp>
        <p:nvSpPr>
          <p:cNvPr id="16" name="Rounded Rectangle 15"/>
          <p:cNvSpPr/>
          <p:nvPr/>
        </p:nvSpPr>
        <p:spPr>
          <a:xfrm>
            <a:off x="61722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350000" y="2263511"/>
            <a:ext cx="2260600" cy="1683278"/>
          </a:xfrm>
          <a:prstGeom prst="roundRect">
            <a:avLst>
              <a:gd name="adj" fmla="val 452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2__gap_llama.png"/>
          <p:cNvPicPr>
            <a:picLocks noChangeAspect="1"/>
          </p:cNvPicPr>
          <p:nvPr/>
        </p:nvPicPr>
        <p:blipFill>
          <a:blip r:embed="rId4"/>
          <a:stretch>
            <a:fillRect/>
          </a:stretch>
        </p:blipFill>
        <p:spPr>
          <a:xfrm>
            <a:off x="6426200" y="2339711"/>
            <a:ext cx="2108200" cy="1530878"/>
          </a:xfrm>
          <a:prstGeom prst="rect">
            <a:avLst/>
          </a:prstGeom>
        </p:spPr>
      </p:pic>
      <p:sp>
        <p:nvSpPr>
          <p:cNvPr id="20" name="Rounded Rectangle 19"/>
          <p:cNvSpPr/>
          <p:nvPr/>
        </p:nvSpPr>
        <p:spPr>
          <a:xfrm>
            <a:off x="8940800" y="1752600"/>
            <a:ext cx="2616200" cy="2514600"/>
          </a:xfrm>
          <a:prstGeom prst="roundRect">
            <a:avLst>
              <a:gd name="adj" fmla="val 303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18600" y="2263511"/>
            <a:ext cx="2260600" cy="1683278"/>
          </a:xfrm>
          <a:prstGeom prst="roundRect">
            <a:avLst>
              <a:gd name="adj" fmla="val 452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2__gap_stability.png"/>
          <p:cNvPicPr>
            <a:picLocks noChangeAspect="1"/>
          </p:cNvPicPr>
          <p:nvPr/>
        </p:nvPicPr>
        <p:blipFill>
          <a:blip r:embed="rId5"/>
          <a:stretch>
            <a:fillRect/>
          </a:stretch>
        </p:blipFill>
        <p:spPr>
          <a:xfrm>
            <a:off x="9194800" y="2339711"/>
            <a:ext cx="2108200" cy="1530878"/>
          </a:xfrm>
          <a:prstGeom prst="rect">
            <a:avLst/>
          </a:prstGeom>
        </p:spPr>
      </p:pic>
      <p:sp>
        <p:nvSpPr>
          <p:cNvPr id="24" name="TextBox 23"/>
          <p:cNvSpPr txBox="1"/>
          <p:nvPr/>
        </p:nvSpPr>
        <p:spPr>
          <a:xfrm>
            <a:off x="635000" y="43307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Violating minus compliant, attention per token, by layer.</a:t>
            </a:r>
          </a:p>
        </p:txBody>
      </p:sp>
      <p:sp>
        <p:nvSpPr>
          <p:cNvPr id="25" name="Rounded Rectangle 24"/>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PEAK LAYERS THIS STEP NOMINATES</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These are observation peaks. Whether they are the layers that matter causally is step 3's question, not this one's.</a:t>
            </a:r>
          </a:p>
        </p:txBody>
      </p:sp>
      <p:sp>
        <p:nvSpPr>
          <p:cNvPr id="28" name="TextBox 27"/>
          <p:cNvSpPr txBox="1"/>
          <p:nvPr/>
        </p:nvSpPr>
        <p:spPr>
          <a:xfrm>
            <a:off x="8128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L25</a:t>
            </a:r>
          </a:p>
        </p:txBody>
      </p:sp>
      <p:sp>
        <p:nvSpPr>
          <p:cNvPr id="29" name="TextBox 28"/>
          <p:cNvSpPr txBox="1"/>
          <p:nvPr/>
        </p:nvSpPr>
        <p:spPr>
          <a:xfrm>
            <a:off x="8128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QWEN2.5-CODER-3B · OF 36 LAYERS</a:t>
            </a:r>
          </a:p>
        </p:txBody>
      </p:sp>
      <p:sp>
        <p:nvSpPr>
          <p:cNvPr id="30" name="TextBox 29"/>
          <p:cNvSpPr txBox="1"/>
          <p:nvPr/>
        </p:nvSpPr>
        <p:spPr>
          <a:xfrm>
            <a:off x="34925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L0</a:t>
            </a:r>
          </a:p>
        </p:txBody>
      </p:sp>
      <p:sp>
        <p:nvSpPr>
          <p:cNvPr id="31" name="TextBox 30"/>
          <p:cNvSpPr txBox="1"/>
          <p:nvPr/>
        </p:nvSpPr>
        <p:spPr>
          <a:xfrm>
            <a:off x="34925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DEEPSEEK-CODER-6.7B · OF 32 LAYERS</a:t>
            </a:r>
          </a:p>
        </p:txBody>
      </p:sp>
      <p:sp>
        <p:nvSpPr>
          <p:cNvPr id="32" name="TextBox 31"/>
          <p:cNvSpPr txBox="1"/>
          <p:nvPr/>
        </p:nvSpPr>
        <p:spPr>
          <a:xfrm>
            <a:off x="61722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L12</a:t>
            </a:r>
          </a:p>
        </p:txBody>
      </p:sp>
      <p:sp>
        <p:nvSpPr>
          <p:cNvPr id="33" name="TextBox 32"/>
          <p:cNvSpPr txBox="1"/>
          <p:nvPr/>
        </p:nvSpPr>
        <p:spPr>
          <a:xfrm>
            <a:off x="61722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LLAMA-3.2-3B · OF 28 LAYERS</a:t>
            </a:r>
          </a:p>
        </p:txBody>
      </p:sp>
      <p:sp>
        <p:nvSpPr>
          <p:cNvPr id="34" name="TextBox 33"/>
          <p:cNvSpPr txBox="1"/>
          <p:nvPr/>
        </p:nvSpPr>
        <p:spPr>
          <a:xfrm>
            <a:off x="8851900" y="50038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L15</a:t>
            </a:r>
          </a:p>
        </p:txBody>
      </p:sp>
      <p:sp>
        <p:nvSpPr>
          <p:cNvPr id="35" name="TextBox 34"/>
          <p:cNvSpPr txBox="1"/>
          <p:nvPr/>
        </p:nvSpPr>
        <p:spPr>
          <a:xfrm>
            <a:off x="8851900" y="54673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STABLECODE-3B · OF 32 LAYERS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What this step does not settle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It is one direction, one language, one estimand choice, and no causation.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54</a:t>
            </a:r>
          </a:p>
        </p:txBody>
      </p:sp>
      <p:sp>
        <p:nvSpPr>
          <p:cNvPr id="8" name="Rounded Rectangle 7"/>
          <p:cNvSpPr/>
          <p:nvPr/>
        </p:nvSpPr>
        <p:spPr>
          <a:xfrm>
            <a:off x="6350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1</a:t>
            </a:r>
          </a:p>
        </p:txBody>
      </p:sp>
      <p:sp>
        <p:nvSpPr>
          <p:cNvPr id="10" name="TextBox 9"/>
          <p:cNvSpPr txBox="1"/>
          <p:nvPr/>
        </p:nvSpPr>
        <p:spPr>
          <a:xfrm>
            <a:off x="8128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Not causal</a:t>
            </a:r>
          </a:p>
        </p:txBody>
      </p:sp>
      <p:sp>
        <p:nvSpPr>
          <p:cNvPr id="11" name="TextBox 10"/>
          <p:cNvSpPr txBox="1"/>
          <p:nvPr/>
        </p:nvSpPr>
        <p:spPr>
          <a:xfrm>
            <a:off x="812800" y="2336800"/>
            <a:ext cx="22606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Attention is observed, never manipulated. Step 3 supplies the intervention that this step cannot.</a:t>
            </a:r>
          </a:p>
        </p:txBody>
      </p:sp>
      <p:sp>
        <p:nvSpPr>
          <p:cNvPr id="12" name="Rounded Rectangle 11"/>
          <p:cNvSpPr/>
          <p:nvPr/>
        </p:nvSpPr>
        <p:spPr>
          <a:xfrm>
            <a:off x="34036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2</a:t>
            </a:r>
          </a:p>
        </p:txBody>
      </p:sp>
      <p:sp>
        <p:nvSpPr>
          <p:cNvPr id="14" name="TextBox 13"/>
          <p:cNvSpPr txBox="1"/>
          <p:nvPr/>
        </p:nvSpPr>
        <p:spPr>
          <a:xfrm>
            <a:off x="35814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One direction</a:t>
            </a:r>
          </a:p>
        </p:txBody>
      </p:sp>
      <p:sp>
        <p:nvSpPr>
          <p:cNvPr id="15" name="TextBox 14"/>
          <p:cNvSpPr txBox="1"/>
          <p:nvPr/>
        </p:nvSpPr>
        <p:spPr>
          <a:xfrm>
            <a:off x="35814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Only camelCase-required conditions were run, so “violating” is always snake_case here. Step 4 runs both.</a:t>
            </a:r>
          </a:p>
        </p:txBody>
      </p:sp>
      <p:sp>
        <p:nvSpPr>
          <p:cNvPr id="16" name="Rounded Rectangle 15"/>
          <p:cNvSpPr/>
          <p:nvPr/>
        </p:nvSpPr>
        <p:spPr>
          <a:xfrm>
            <a:off x="61722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3</a:t>
            </a:r>
          </a:p>
        </p:txBody>
      </p:sp>
      <p:sp>
        <p:nvSpPr>
          <p:cNvPr id="18" name="TextBox 17"/>
          <p:cNvSpPr txBox="1"/>
          <p:nvPr/>
        </p:nvSpPr>
        <p:spPr>
          <a:xfrm>
            <a:off x="63500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Head-averaged</a:t>
            </a:r>
          </a:p>
        </p:txBody>
      </p:sp>
      <p:sp>
        <p:nvSpPr>
          <p:cNvPr id="19" name="TextBox 18"/>
          <p:cNvSpPr txBox="1"/>
          <p:nvPr/>
        </p:nvSpPr>
        <p:spPr>
          <a:xfrm>
            <a:off x="6350000" y="2336800"/>
            <a:ext cx="22606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 single specialised head would be invisible. Claims are made at the layer level only.</a:t>
            </a:r>
          </a:p>
        </p:txBody>
      </p:sp>
      <p:sp>
        <p:nvSpPr>
          <p:cNvPr id="20" name="Rounded Rectangle 19"/>
          <p:cNvSpPr/>
          <p:nvPr/>
        </p:nvSpPr>
        <p:spPr>
          <a:xfrm>
            <a:off x="89408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4</a:t>
            </a:r>
          </a:p>
        </p:txBody>
      </p:sp>
      <p:sp>
        <p:nvSpPr>
          <p:cNvPr id="22" name="TextBox 21"/>
          <p:cNvSpPr txBox="1"/>
          <p:nvPr/>
        </p:nvSpPr>
        <p:spPr>
          <a:xfrm>
            <a:off x="91186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Upper bound</a:t>
            </a:r>
          </a:p>
        </p:txBody>
      </p:sp>
      <p:sp>
        <p:nvSpPr>
          <p:cNvPr id="23" name="TextBox 22"/>
          <p:cNvSpPr txBox="1"/>
          <p:nvPr/>
        </p:nvSpPr>
        <p:spPr>
          <a:xfrm>
            <a:off x="9118600" y="2336800"/>
            <a:ext cx="22606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contribution proxy ignores cancellation and precedes the output projection.</a:t>
            </a:r>
          </a:p>
        </p:txBody>
      </p:sp>
      <p:sp>
        <p:nvSpPr>
          <p:cNvPr id="24" name="Rounded Rectangle 23"/>
          <p:cNvSpPr/>
          <p:nvPr/>
        </p:nvSpPr>
        <p:spPr>
          <a:xfrm>
            <a:off x="635000" y="4318000"/>
            <a:ext cx="10922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4495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ONE THAT MATTERS MOST</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This is why the study does not stop after step 2, and why the headline claim is stated causally only after step 3.</a:t>
            </a:r>
          </a:p>
        </p:txBody>
      </p:sp>
      <p:sp>
        <p:nvSpPr>
          <p:cNvPr id="27" name="TextBox 26"/>
          <p:cNvSpPr txBox="1"/>
          <p:nvPr/>
        </p:nvSpPr>
        <p:spPr>
          <a:xfrm>
            <a:off x="812800" y="4686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Because only one instruction direction was run, this step cannot separate “the model attends more to violations” from “the model attends more to snake_case”. Step 4 runs both directions and finds the same ordering, which is what licenses the general reading.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2 · Reading the result file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Layer-keyed attention values, and the one field without which none of them are comparable.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55</a:t>
            </a:r>
          </a:p>
        </p:txBody>
      </p:sp>
      <p:sp>
        <p:nvSpPr>
          <p:cNvPr id="8" name="Rounded Rectangle 7"/>
          <p:cNvSpPr/>
          <p:nvPr/>
        </p:nvSpPr>
        <p:spPr>
          <a:xfrm>
            <a:off x="635000" y="1752600"/>
            <a:ext cx="7493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RESULTS/STEP2_CODE-OBSERVE/&lt;SLUG&gt;.JSON</a:t>
            </a:r>
          </a:p>
        </p:txBody>
      </p:sp>
      <p:sp>
        <p:nvSpPr>
          <p:cNvPr id="10" name="Rounded Rectangle 9"/>
          <p:cNvSpPr/>
          <p:nvPr/>
        </p:nvSpPr>
        <p:spPr>
          <a:xfrm>
            <a:off x="812800" y="2120900"/>
            <a:ext cx="7137400" cy="2438400"/>
          </a:xfrm>
          <a:prstGeom prst="roundRect">
            <a:avLst>
              <a:gd name="adj" fmla="val 1562"/>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"metrics": {</a:t>
            </a:r>
          </a:p>
        </p:txBody>
      </p:sp>
      <p:sp>
        <p:nvSpPr>
          <p:cNvPr id="12" name="TextBox 11"/>
          <p:cNvSpPr txBox="1"/>
          <p:nvPr/>
        </p:nvSpPr>
        <p:spPr>
          <a:xfrm>
            <a:off x="927100" y="237553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"per_layer": {</a:t>
            </a:r>
          </a:p>
        </p:txBody>
      </p:sp>
      <p:sp>
        <p:nvSpPr>
          <p:cNvPr id="13" name="TextBox 12"/>
          <p:cNvSpPr txBox="1"/>
          <p:nvPr/>
        </p:nvSpPr>
        <p:spPr>
          <a:xfrm>
            <a:off x="927100" y="254127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"27": {</a:t>
            </a:r>
          </a:p>
        </p:txBody>
      </p:sp>
      <p:sp>
        <p:nvSpPr>
          <p:cNvPr id="14" name="TextBox 13"/>
          <p:cNvSpPr txBox="1"/>
          <p:nvPr/>
        </p:nvSpPr>
        <p:spPr>
          <a:xfrm>
            <a:off x="927100" y="270700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"code_camel__attention_weight": 0.0184,   # span SUM, heads averaged</a:t>
            </a:r>
          </a:p>
        </p:txBody>
      </p:sp>
      <p:sp>
        <p:nvSpPr>
          <p:cNvPr id="15" name="TextBox 14"/>
          <p:cNvSpPr txBox="1"/>
          <p:nvPr/>
        </p:nvSpPr>
        <p:spPr>
          <a:xfrm>
            <a:off x="927100" y="287274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"code_camel__av_norm":          0.412,    # upper bound, not contribution</a:t>
            </a:r>
          </a:p>
        </p:txBody>
      </p:sp>
      <p:sp>
        <p:nvSpPr>
          <p:cNvPr id="16" name="TextBox 15"/>
          <p:cNvSpPr txBox="1"/>
          <p:nvPr/>
        </p:nvSpPr>
        <p:spPr>
          <a:xfrm>
            <a:off x="927100" y="303847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"code_camel__v_norm":           22.4,</a:t>
            </a:r>
          </a:p>
        </p:txBody>
      </p:sp>
      <p:sp>
        <p:nvSpPr>
          <p:cNvPr id="17" name="TextBox 16"/>
          <p:cNvSpPr txBox="1"/>
          <p:nvPr/>
        </p:nvSpPr>
        <p:spPr>
          <a:xfrm>
            <a:off x="927100" y="320421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"code_snake__attention_weight": 0.0231, … } },</a:t>
            </a:r>
          </a:p>
        </p:txBody>
      </p:sp>
      <p:sp>
        <p:nvSpPr>
          <p:cNvPr id="18" name="TextBox 17"/>
          <p:cNvSpPr txBox="1"/>
          <p:nvPr/>
        </p:nvSpPr>
        <p:spPr>
          <a:xfrm>
            <a:off x="927100" y="336994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"extra": {</a:t>
            </a:r>
          </a:p>
        </p:txBody>
      </p:sp>
      <p:sp>
        <p:nvSpPr>
          <p:cNvPr id="19" name="TextBox 18"/>
          <p:cNvSpPr txBox="1"/>
          <p:nvPr/>
        </p:nvSpPr>
        <p:spPr>
          <a:xfrm>
            <a:off x="927100" y="3535680"/>
            <a:ext cx="6908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"span_token_counts": {"code_camel": 12, "code_snake": 15, …},</a:t>
            </a:r>
          </a:p>
        </p:txBody>
      </p:sp>
      <p:sp>
        <p:nvSpPr>
          <p:cNvPr id="20" name="TextBox 19"/>
          <p:cNvSpPr txBox="1"/>
          <p:nvPr/>
        </p:nvSpPr>
        <p:spPr>
          <a:xfrm>
            <a:off x="927100" y="370141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"gqa": {"num_attention_heads": 16, "num_key_value_heads": 2,</a:t>
            </a:r>
          </a:p>
        </p:txBody>
      </p:sp>
      <p:sp>
        <p:nvSpPr>
          <p:cNvPr id="21" name="TextBox 20"/>
          <p:cNvSpPr txBox="1"/>
          <p:nvPr/>
        </p:nvSpPr>
        <p:spPr>
          <a:xfrm>
            <a:off x="927100" y="386715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"group_size": 8},</a:t>
            </a:r>
          </a:p>
        </p:txBody>
      </p:sp>
      <p:sp>
        <p:nvSpPr>
          <p:cNvPr id="22" name="TextBox 21"/>
          <p:cNvSpPr txBox="1"/>
          <p:nvPr/>
        </p:nvSpPr>
        <p:spPr>
          <a:xfrm>
            <a:off x="927100" y="403288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"seq_len": 512, "token_detail": {…} } }</a:t>
            </a:r>
          </a:p>
        </p:txBody>
      </p:sp>
      <p:sp>
        <p:nvSpPr>
          <p:cNvPr id="23" name="Rounded Rectangle 22"/>
          <p:cNvSpPr/>
          <p:nvPr/>
        </p:nvSpPr>
        <p:spPr>
          <a:xfrm>
            <a:off x="8280400" y="1752600"/>
            <a:ext cx="3276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TO READ IT</a:t>
            </a:r>
          </a:p>
        </p:txBody>
      </p:sp>
      <p:sp>
        <p:nvSpPr>
          <p:cNvPr id="25" name="TextBox 24"/>
          <p:cNvSpPr txBox="1"/>
          <p:nvPr/>
        </p:nvSpPr>
        <p:spPr>
          <a:xfrm>
            <a:off x="8458200" y="2120900"/>
            <a:ext cx="2921000" cy="939800"/>
          </a:xfrm>
          <a:prstGeom prst="rect">
            <a:avLst/>
          </a:prstGeom>
          <a:noFill/>
        </p:spPr>
        <p:txBody>
          <a:bodyPr wrap="square" lIns="0" rIns="0" tIns="0" bIns="0">
            <a:spAutoFit/>
          </a:bodyPr>
          <a:lstStyle/>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Read first:</a:t>
            </a:r>
            <a:r>
              <a:rPr sz="1050" b="0">
                <a:solidFill>
                  <a:srgbClr val="B9B9B9"/>
                </a:solidFill>
                <a:latin typeface="Inter"/>
                <a:cs typeface="Inter"/>
                <a:ea typeface="Inter"/>
              </a:rPr>
              <a:t> span_token_counts — attention_weight is a span sum, so comparing two spans without dividing by their counts compares lengths</a:t>
            </a:r>
          </a:p>
          <a:p>
            <a:pPr marL="312039" indent="-31203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Then:</a:t>
            </a:r>
            <a:r>
              <a:rPr sz="1050" b="0">
                <a:solidFill>
                  <a:srgbClr val="B9B9B9"/>
                </a:solidFill>
                <a:latin typeface="Inter"/>
                <a:cs typeface="Inter"/>
                <a:ea typeface="Inter"/>
              </a:rPr>
              <a:t> per_layer, keyed by layer index as a string</a:t>
            </a:r>
          </a:p>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Check:</a:t>
            </a:r>
            <a:r>
              <a:rPr sz="1050" b="0">
                <a:solidFill>
                  <a:srgbClr val="B9B9B9"/>
                </a:solidFill>
                <a:latin typeface="Inter"/>
                <a:cs typeface="Inter"/>
                <a:ea typeface="Inter"/>
              </a:rPr>
              <a:t> gqa records the group layout that was actually used for this model</a:t>
            </a:r>
          </a:p>
        </p:txBody>
      </p:sp>
      <p:sp>
        <p:nvSpPr>
          <p:cNvPr id="26" name="Rounded Rectangle 25"/>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AGGREGATION</a:t>
            </a:r>
          </a:p>
        </p:txBody>
      </p:sp>
      <p:sp>
        <p:nvSpPr>
          <p:cNvPr id="28" name="TextBox 2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Prints both estimands side by side so the choice is visible rather than assumed.</a:t>
            </a:r>
          </a:p>
        </p:txBody>
      </p:sp>
      <p:sp>
        <p:nvSpPr>
          <p:cNvPr id="29" name="Rounded Rectangle 28"/>
          <p:cNvSpPr/>
          <p:nvPr/>
        </p:nvSpPr>
        <p:spPr>
          <a:xfrm>
            <a:off x="812800" y="5257800"/>
            <a:ext cx="10566400" cy="534765"/>
          </a:xfrm>
          <a:prstGeom prst="roundRect">
            <a:avLst>
              <a:gd name="adj" fmla="val 712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7100" y="5346700"/>
            <a:ext cx="10337800" cy="184150"/>
          </a:xfrm>
          <a:prstGeom prst="rect">
            <a:avLst/>
          </a:prstGeom>
          <a:noFill/>
        </p:spPr>
        <p:txBody>
          <a:bodyPr wrap="square" lIns="0" rIns="0" tIns="0" bIns="0" anchor="t">
            <a:spAutoFit/>
          </a:bodyPr>
          <a:lstStyle/>
          <a:p>
            <a:pPr algn="l"/>
            <a:r>
              <a:rPr sz="1000" b="0">
                <a:solidFill>
                  <a:srgbClr val="B9B9B9"/>
                </a:solidFill>
                <a:latin typeface="IBM Plex Mono"/>
                <a:cs typeface="IBM Plex Mono"/>
                <a:ea typeface="IBM Plex Mono"/>
              </a:rPr>
              <a:t>python scripts/observe_per_token.py results/step2_code-observe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The question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Attention sits on the violations. Does the content it carries actually drive the behaviour — and which road carries it?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56</a:t>
            </a:r>
          </a:p>
        </p:txBody>
      </p:sp>
      <p:sp>
        <p:nvSpPr>
          <p:cNvPr id="8" name="Rounded Rectangle 7"/>
          <p:cNvSpPr/>
          <p:nvPr/>
        </p:nvSpPr>
        <p:spPr>
          <a:xfrm>
            <a:off x="635000" y="1752600"/>
            <a:ext cx="5715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FROM CORRELATION TO CAUSE</a:t>
            </a:r>
          </a:p>
        </p:txBody>
      </p:sp>
      <p:sp>
        <p:nvSpPr>
          <p:cNvPr id="10" name="TextBox 9"/>
          <p:cNvSpPr txBox="1"/>
          <p:nvPr/>
        </p:nvSpPr>
        <p:spPr>
          <a:xfrm>
            <a:off x="812800" y="2120900"/>
            <a:ext cx="5359400" cy="1231900"/>
          </a:xfrm>
          <a:prstGeom prst="rect">
            <a:avLst/>
          </a:prstGeom>
          <a:noFill/>
        </p:spPr>
        <p:txBody>
          <a:bodyPr wrap="square" lIns="0" rIns="0" tIns="0" bIns="0">
            <a:spAutoFit/>
          </a:bodyPr>
          <a:lstStyle/>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Manipulate:</a:t>
            </a:r>
            <a:r>
              <a:rPr sz="1050" b="0">
                <a:solidFill>
                  <a:srgbClr val="B9B9B9"/>
                </a:solidFill>
                <a:latin typeface="Inter"/>
                <a:cs typeface="Inter"/>
                <a:ea typeface="Inter"/>
              </a:rPr>
              <a:t> the cached vectors at the violating names' positions</a:t>
            </a:r>
          </a:p>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Separately:</a:t>
            </a:r>
            <a:r>
              <a:rPr sz="1050" b="0">
                <a:solidFill>
                  <a:srgbClr val="B9B9B9"/>
                </a:solidFill>
                <a:latin typeface="Inter"/>
                <a:cs typeface="Inter"/>
                <a:ea typeface="Inter"/>
              </a:rPr>
              <a:t> Key only, Value only, and both together</a:t>
            </a:r>
          </a:p>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At each layer:</a:t>
            </a:r>
            <a:r>
              <a:rPr sz="1050" b="0">
                <a:solidFill>
                  <a:srgbClr val="B9B9B9"/>
                </a:solidFill>
                <a:latin typeface="Inter"/>
                <a:cs typeface="Inter"/>
                <a:ea typeface="Inter"/>
              </a:rPr>
              <a:t> one layer at a time, swept across the whole stack</a:t>
            </a:r>
          </a:p>
          <a:p>
            <a:pPr marL="728091" indent="-72809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Against controls:</a:t>
            </a:r>
            <a:r>
              <a:rPr sz="1050" b="0">
                <a:solidFill>
                  <a:srgbClr val="B9B9B9"/>
                </a:solidFill>
                <a:latin typeface="Inter"/>
                <a:cs typeface="Inter"/>
                <a:ea typeface="Inter"/>
              </a:rPr>
              <a:t> so the disturbance of overwriting is subtracted</a:t>
            </a:r>
          </a:p>
        </p:txBody>
      </p:sp>
      <p:sp>
        <p:nvSpPr>
          <p:cNvPr id="11" name="Rounded Rectangle 10"/>
          <p:cNvSpPr/>
          <p:nvPr/>
        </p:nvSpPr>
        <p:spPr>
          <a:xfrm>
            <a:off x="6502400" y="1752600"/>
            <a:ext cx="50546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0200" y="19304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OUTCOME WOULD HAVE MEANT</a:t>
            </a:r>
          </a:p>
        </p:txBody>
      </p:sp>
      <p:sp>
        <p:nvSpPr>
          <p:cNvPr id="13" name="TextBox 12"/>
          <p:cNvSpPr txBox="1"/>
          <p:nvPr/>
        </p:nvSpPr>
        <p:spPr>
          <a:xfrm>
            <a:off x="6680200" y="3906615"/>
            <a:ext cx="4699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observed outcome is the first row.</a:t>
            </a:r>
          </a:p>
        </p:txBody>
      </p:sp>
      <p:sp>
        <p:nvSpPr>
          <p:cNvPr id="14" name="TextBox 13"/>
          <p:cNvSpPr txBox="1"/>
          <p:nvPr/>
        </p:nvSpPr>
        <p:spPr>
          <a:xfrm>
            <a:off x="6680200" y="2184400"/>
            <a:ext cx="18796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IF WE HAD SEEN</a:t>
            </a:r>
          </a:p>
        </p:txBody>
      </p:sp>
      <p:sp>
        <p:nvSpPr>
          <p:cNvPr id="15" name="TextBox 14"/>
          <p:cNvSpPr txBox="1"/>
          <p:nvPr/>
        </p:nvSpPr>
        <p:spPr>
          <a:xfrm>
            <a:off x="8559800" y="2184400"/>
            <a:ext cx="28194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READING</a:t>
            </a:r>
          </a:p>
        </p:txBody>
      </p:sp>
      <p:sp>
        <p:nvSpPr>
          <p:cNvPr id="16" name="Rectangle 15"/>
          <p:cNvSpPr/>
          <p:nvPr/>
        </p:nvSpPr>
        <p:spPr>
          <a:xfrm>
            <a:off x="6680200" y="2336800"/>
            <a:ext cx="4699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0200" y="2438400"/>
            <a:ext cx="1714500" cy="472472"/>
          </a:xfrm>
          <a:prstGeom prst="rect">
            <a:avLst/>
          </a:prstGeom>
          <a:noFill/>
        </p:spPr>
        <p:txBody>
          <a:bodyPr wrap="square" lIns="0" rIns="0" tIns="0" bIns="0" anchor="t">
            <a:spAutoFit/>
          </a:bodyPr>
          <a:lstStyle/>
          <a:p>
            <a:pPr algn="l">
              <a:lnSpc>
                <a:spcPct val="130000"/>
              </a:lnSpc>
            </a:pPr>
            <a:r>
              <a:rPr sz="1000" b="0">
                <a:solidFill>
                  <a:srgbClr val="D97757"/>
                </a:solidFill>
                <a:latin typeface="Inter"/>
                <a:cs typeface="Inter"/>
                <a:ea typeface="Inter"/>
              </a:rPr>
              <a:t>Value moves, Key does not</a:t>
            </a:r>
          </a:p>
        </p:txBody>
      </p:sp>
      <p:sp>
        <p:nvSpPr>
          <p:cNvPr id="18" name="TextBox 17"/>
          <p:cNvSpPr txBox="1"/>
          <p:nvPr/>
        </p:nvSpPr>
        <p:spPr>
          <a:xfrm>
            <a:off x="8559800" y="2438400"/>
            <a:ext cx="2654300" cy="47247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notation signal travels as content, not as attention share</a:t>
            </a:r>
          </a:p>
        </p:txBody>
      </p:sp>
      <p:sp>
        <p:nvSpPr>
          <p:cNvPr id="19" name="Rectangle 18"/>
          <p:cNvSpPr/>
          <p:nvPr/>
        </p:nvSpPr>
        <p:spPr>
          <a:xfrm>
            <a:off x="6680200" y="2847372"/>
            <a:ext cx="4699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0200" y="2910872"/>
            <a:ext cx="1714500" cy="47247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Key moves, Value does not</a:t>
            </a:r>
          </a:p>
        </p:txBody>
      </p:sp>
      <p:sp>
        <p:nvSpPr>
          <p:cNvPr id="21" name="TextBox 20"/>
          <p:cNvSpPr txBox="1"/>
          <p:nvPr/>
        </p:nvSpPr>
        <p:spPr>
          <a:xfrm>
            <a:off x="8559800" y="2910872"/>
            <a:ext cx="2654300" cy="47247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attention share carries the signal; attention remedies are the right family</a:t>
            </a:r>
          </a:p>
        </p:txBody>
      </p:sp>
      <p:sp>
        <p:nvSpPr>
          <p:cNvPr id="22" name="Rectangle 21"/>
          <p:cNvSpPr/>
          <p:nvPr/>
        </p:nvSpPr>
        <p:spPr>
          <a:xfrm>
            <a:off x="6680200" y="3319844"/>
            <a:ext cx="4699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80200" y="3383344"/>
            <a:ext cx="1714500" cy="472472"/>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both move equally</a:t>
            </a:r>
          </a:p>
        </p:txBody>
      </p:sp>
      <p:sp>
        <p:nvSpPr>
          <p:cNvPr id="24" name="TextBox 23"/>
          <p:cNvSpPr txBox="1"/>
          <p:nvPr/>
        </p:nvSpPr>
        <p:spPr>
          <a:xfrm>
            <a:off x="8559800" y="3383344"/>
            <a:ext cx="2654300" cy="472472"/>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two roads are not separable by this instrument</a:t>
            </a:r>
          </a:p>
        </p:txBody>
      </p:sp>
      <p:sp>
        <p:nvSpPr>
          <p:cNvPr id="25" name="Rounded Rectangle 24"/>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IS THE PIVOTAL STEP</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Everything after it — RQ3's framing and step 6's prescription — depends on this answer.</a:t>
            </a:r>
          </a:p>
        </p:txBody>
      </p:sp>
      <p:sp>
        <p:nvSpPr>
          <p:cNvPr id="28" name="TextBox 27"/>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This is the first point in the study where a claim about mechanism becomes possible. If the Key road had moved behaviour, the attention-raising family of remedies would still be live and the prescription in step 6 would be the wrong one to test.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What is touched, and what is not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Six name positions, one layer, one KV group. The prompt and its length are identical to the baseline.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57</a:t>
            </a:r>
          </a:p>
        </p:txBody>
      </p:sp>
      <p:sp>
        <p:nvSpPr>
          <p:cNvPr id="8" name="Rounded Rectangle 7"/>
          <p:cNvSpPr/>
          <p:nvPr/>
        </p:nvSpPr>
        <p:spPr>
          <a:xfrm>
            <a:off x="635000" y="1752600"/>
            <a:ext cx="10922000" cy="2286000"/>
          </a:xfrm>
          <a:prstGeom prst="roundRect">
            <a:avLst>
              <a:gd name="adj" fmla="val 3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SCOPE OF THE EDIT</a:t>
            </a:r>
          </a:p>
        </p:txBody>
      </p:sp>
      <p:sp>
        <p:nvSpPr>
          <p:cNvPr id="10" name="TextBox 9"/>
          <p:cNvSpPr txBox="1"/>
          <p:nvPr/>
        </p:nvSpPr>
        <p:spPr>
          <a:xfrm>
            <a:off x="812800" y="3652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Three intervention kinds are measured on one forward pass, so they share every other condition exactly.</a:t>
            </a:r>
          </a:p>
        </p:txBody>
      </p:sp>
      <p:pic>
        <p:nvPicPr>
          <p:cNvPr id="11" name="Picture 10" descr="s3_what.png"/>
          <p:cNvPicPr>
            <a:picLocks noChangeAspect="1"/>
          </p:cNvPicPr>
          <p:nvPr/>
        </p:nvPicPr>
        <p:blipFill>
          <a:blip r:embed="rId2"/>
          <a:stretch>
            <a:fillRect/>
          </a:stretch>
        </p:blipFill>
        <p:spPr>
          <a:xfrm>
            <a:off x="812800" y="2120900"/>
            <a:ext cx="4042451" cy="1455515"/>
          </a:xfrm>
          <a:prstGeom prst="rect">
            <a:avLst/>
          </a:prstGeom>
        </p:spPr>
      </p:pic>
      <p:sp>
        <p:nvSpPr>
          <p:cNvPr id="12" name="Rounded Rectangle 11"/>
          <p:cNvSpPr/>
          <p:nvPr/>
        </p:nvSpPr>
        <p:spPr>
          <a:xfrm>
            <a:off x="635000" y="4191000"/>
            <a:ext cx="66040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368800"/>
            <a:ext cx="6248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THREE REFERENCE RUNS</a:t>
            </a:r>
          </a:p>
        </p:txBody>
      </p:sp>
      <p:sp>
        <p:nvSpPr>
          <p:cNvPr id="14" name="TextBox 13"/>
          <p:cNvSpPr txBox="1"/>
          <p:nvPr/>
        </p:nvSpPr>
        <p:spPr>
          <a:xfrm>
            <a:off x="812800" y="5868765"/>
            <a:ext cx="6248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All three are stored, so the transfer rate can be recomputed later under a different threshold.</a:t>
            </a:r>
          </a:p>
        </p:txBody>
      </p:sp>
      <p:sp>
        <p:nvSpPr>
          <p:cNvPr id="15" name="TextBox 14"/>
          <p:cNvSpPr txBox="1"/>
          <p:nvPr/>
        </p:nvSpPr>
        <p:spPr>
          <a:xfrm>
            <a:off x="812800" y="4559300"/>
            <a:ext cx="652760"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S_clean</a:t>
            </a:r>
          </a:p>
        </p:txBody>
      </p:sp>
      <p:sp>
        <p:nvSpPr>
          <p:cNvPr id="16" name="TextBox 15"/>
          <p:cNvSpPr txBox="1"/>
          <p:nvPr/>
        </p:nvSpPr>
        <p:spPr>
          <a:xfrm>
            <a:off x="1465560" y="4559300"/>
            <a:ext cx="5595640"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the same block with all twelve names compliant — the ceiling</a:t>
            </a:r>
          </a:p>
        </p:txBody>
      </p:sp>
      <p:sp>
        <p:nvSpPr>
          <p:cNvPr id="17" name="TextBox 16"/>
          <p:cNvSpPr txBox="1"/>
          <p:nvPr/>
        </p:nvSpPr>
        <p:spPr>
          <a:xfrm>
            <a:off x="812800" y="4813300"/>
            <a:ext cx="652760"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S_base</a:t>
            </a:r>
          </a:p>
        </p:txBody>
      </p:sp>
      <p:sp>
        <p:nvSpPr>
          <p:cNvPr id="18" name="TextBox 17"/>
          <p:cNvSpPr txBox="1"/>
          <p:nvPr/>
        </p:nvSpPr>
        <p:spPr>
          <a:xfrm>
            <a:off x="1465560" y="4813300"/>
            <a:ext cx="5595640"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six names violating, nothing touched — the floor</a:t>
            </a:r>
          </a:p>
        </p:txBody>
      </p:sp>
      <p:sp>
        <p:nvSpPr>
          <p:cNvPr id="19" name="TextBox 18"/>
          <p:cNvSpPr txBox="1"/>
          <p:nvPr/>
        </p:nvSpPr>
        <p:spPr>
          <a:xfrm>
            <a:off x="812800" y="5067300"/>
            <a:ext cx="652760" cy="2540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S_int</a:t>
            </a:r>
          </a:p>
        </p:txBody>
      </p:sp>
      <p:sp>
        <p:nvSpPr>
          <p:cNvPr id="20" name="TextBox 19"/>
          <p:cNvSpPr txBox="1"/>
          <p:nvPr/>
        </p:nvSpPr>
        <p:spPr>
          <a:xfrm>
            <a:off x="1465560" y="5067300"/>
            <a:ext cx="5595640" cy="254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six names violating, cache overwritten — the measurement</a:t>
            </a:r>
          </a:p>
        </p:txBody>
      </p:sp>
      <p:sp>
        <p:nvSpPr>
          <p:cNvPr id="21" name="Rounded Rectangle 20"/>
          <p:cNvSpPr/>
          <p:nvPr/>
        </p:nvSpPr>
        <p:spPr>
          <a:xfrm>
            <a:off x="7391400" y="4191000"/>
            <a:ext cx="41656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69200" y="4368800"/>
            <a:ext cx="3810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A RATIO AND NOT A DIFFERENCE</a:t>
            </a:r>
          </a:p>
        </p:txBody>
      </p:sp>
      <p:sp>
        <p:nvSpPr>
          <p:cNvPr id="23" name="TextBox 22"/>
          <p:cNvSpPr txBox="1"/>
          <p:nvPr/>
        </p:nvSpPr>
        <p:spPr>
          <a:xfrm>
            <a:off x="7569200" y="5868765"/>
            <a:ext cx="3810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Models differ in how strongly they prefer either notation.</a:t>
            </a:r>
          </a:p>
        </p:txBody>
      </p:sp>
      <p:sp>
        <p:nvSpPr>
          <p:cNvPr id="24" name="TextBox 23"/>
          <p:cNvSpPr txBox="1"/>
          <p:nvPr/>
        </p:nvSpPr>
        <p:spPr>
          <a:xfrm>
            <a:off x="7569200" y="4559300"/>
            <a:ext cx="38100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Expressing the effect as a fraction of the clean-to-base distance makes the four models comparable. The cost is that the ratio is unstable when that distance is small — which is what the undecidable rule handles.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Three donors, one clean comparison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reported estimand compares two donors whose contexts are identical in everything but notation.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58</a:t>
            </a:r>
          </a:p>
        </p:txBody>
      </p:sp>
      <p:sp>
        <p:nvSpPr>
          <p:cNvPr id="8" name="Rounded Rectangle 7"/>
          <p:cNvSpPr/>
          <p:nvPr/>
        </p:nvSpPr>
        <p:spPr>
          <a:xfrm>
            <a:off x="635000" y="1752600"/>
            <a:ext cx="10922000" cy="2159000"/>
          </a:xfrm>
          <a:prstGeom prst="roundRect">
            <a:avLst>
              <a:gd name="adj" fmla="val 3529"/>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DONOR DEFINITIONS</a:t>
            </a:r>
          </a:p>
        </p:txBody>
      </p:sp>
      <p:sp>
        <p:nvSpPr>
          <p:cNvPr id="10" name="TextBox 9"/>
          <p:cNvSpPr txBox="1"/>
          <p:nvPr/>
        </p:nvSpPr>
        <p:spPr>
          <a:xfrm>
            <a:off x="812800" y="3525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compliant donor is kept as a secondary reading: it is the natural treatment but its context differs from the control's.</a:t>
            </a:r>
          </a:p>
        </p:txBody>
      </p:sp>
      <p:pic>
        <p:nvPicPr>
          <p:cNvPr id="11" name="Picture 10" descr="s3_donors.png"/>
          <p:cNvPicPr>
            <a:picLocks noChangeAspect="1"/>
          </p:cNvPicPr>
          <p:nvPr/>
        </p:nvPicPr>
        <p:blipFill>
          <a:blip r:embed="rId2"/>
          <a:stretch>
            <a:fillRect/>
          </a:stretch>
        </p:blipFill>
        <p:spPr>
          <a:xfrm>
            <a:off x="812800" y="2120900"/>
            <a:ext cx="3322086" cy="1328515"/>
          </a:xfrm>
          <a:prstGeom prst="rect">
            <a:avLst/>
          </a:prstGeom>
        </p:spPr>
      </p:pic>
      <p:sp>
        <p:nvSpPr>
          <p:cNvPr id="12" name="Rounded Rectangle 11"/>
          <p:cNvSpPr/>
          <p:nvPr/>
        </p:nvSpPr>
        <p:spPr>
          <a:xfrm>
            <a:off x="635000" y="4064000"/>
            <a:ext cx="10922000" cy="2190750"/>
          </a:xfrm>
          <a:prstGeom prst="roundRect">
            <a:avLst>
              <a:gd name="adj" fmla="val 34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241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UNRELATED-CAMEL MINUS UNRELATED-SNAKE</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Both donors are six functions from a separate module written in a single notation, so length and structure cancel exactly.</a:t>
            </a:r>
          </a:p>
        </p:txBody>
      </p:sp>
      <p:sp>
        <p:nvSpPr>
          <p:cNvPr id="15" name="TextBox 14"/>
          <p:cNvSpPr txBox="1"/>
          <p:nvPr/>
        </p:nvSpPr>
        <p:spPr>
          <a:xfrm>
            <a:off x="812800" y="4432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Using the compliant donor against the unrelated-snake control would leave a second difference in play: the treatment's donor comes from a twelve-function context and the control's from a six-function one. The paired estimand removes that; the compliant reading is reported beside it and the two agree within their intervals.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The intervention, in code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Read the cache, mean-pool the donor, write it into the target positions, continue the forward pass.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59</a:t>
            </a:r>
          </a:p>
        </p:txBody>
      </p:sp>
      <p:sp>
        <p:nvSpPr>
          <p:cNvPr id="8" name="Rounded Rectangle 7"/>
          <p:cNvSpPr/>
          <p:nvPr/>
        </p:nvSpPr>
        <p:spPr>
          <a:xfrm>
            <a:off x="635000" y="1752600"/>
            <a:ext cx="73660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010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ONE CONDITION, ONE LAYER</a:t>
            </a:r>
          </a:p>
        </p:txBody>
      </p:sp>
      <p:sp>
        <p:nvSpPr>
          <p:cNvPr id="10" name="Rounded Rectangle 9"/>
          <p:cNvSpPr/>
          <p:nvPr/>
        </p:nvSpPr>
        <p:spPr>
          <a:xfrm>
            <a:off x="812800" y="2120900"/>
            <a:ext cx="7010400" cy="2374900"/>
          </a:xfrm>
          <a:prstGeom prst="roundRect">
            <a:avLst>
              <a:gd name="adj" fmla="val 160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past = model(prompt_ids, use_cache=True).past_key_values</a:t>
            </a:r>
          </a:p>
        </p:txBody>
      </p:sp>
      <p:sp>
        <p:nvSpPr>
          <p:cNvPr id="12" name="TextBox 11"/>
          <p:cNvSpPr txBox="1"/>
          <p:nvPr/>
        </p:nvSpPr>
        <p:spPr>
          <a:xfrm>
            <a:off x="927100" y="237553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3" name="TextBox 12"/>
          <p:cNvSpPr txBox="1"/>
          <p:nvPr/>
        </p:nvSpPr>
        <p:spPr>
          <a:xfrm>
            <a:off x="927100" y="254127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k, v = past[layer]                      # [b, kv_heads, seq, d_head]</a:t>
            </a:r>
          </a:p>
        </p:txBody>
      </p:sp>
      <p:sp>
        <p:nvSpPr>
          <p:cNvPr id="14" name="TextBox 13"/>
          <p:cNvSpPr txBox="1"/>
          <p:nvPr/>
        </p:nvSpPr>
        <p:spPr>
          <a:xfrm>
            <a:off x="927100" y="270700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donor = v[:, :, donor_pos, :].mean(dim=2, keepdim=True)</a:t>
            </a:r>
          </a:p>
        </p:txBody>
      </p:sp>
      <p:sp>
        <p:nvSpPr>
          <p:cNvPr id="15" name="TextBox 14"/>
          <p:cNvSpPr txBox="1"/>
          <p:nvPr/>
        </p:nvSpPr>
        <p:spPr>
          <a:xfrm>
            <a:off x="927100" y="2872740"/>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v[:, :, target_pos, :] = donor          # Value road only</a:t>
            </a:r>
          </a:p>
        </p:txBody>
      </p:sp>
      <p:sp>
        <p:nvSpPr>
          <p:cNvPr id="16" name="TextBox 15"/>
          <p:cNvSpPr txBox="1"/>
          <p:nvPr/>
        </p:nvSpPr>
        <p:spPr>
          <a:xfrm>
            <a:off x="927100" y="303847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7" name="TextBox 16"/>
          <p:cNvSpPr txBox="1"/>
          <p:nvPr/>
        </p:nvSpPr>
        <p:spPr>
          <a:xfrm>
            <a:off x="927100" y="320421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S_int = score(model, past, forced_prefix='def ')</a:t>
            </a:r>
          </a:p>
        </p:txBody>
      </p:sp>
      <p:sp>
        <p:nvSpPr>
          <p:cNvPr id="18" name="TextBox 17"/>
          <p:cNvSpPr txBox="1"/>
          <p:nvPr/>
        </p:nvSpPr>
        <p:spPr>
          <a:xfrm>
            <a:off x="927100" y="3369945"/>
            <a:ext cx="6781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R     = (S_int - S_base) / (S_clean - S_base)</a:t>
            </a:r>
          </a:p>
        </p:txBody>
      </p:sp>
      <p:sp>
        <p:nvSpPr>
          <p:cNvPr id="19" name="TextBox 18"/>
          <p:cNvSpPr txBox="1"/>
          <p:nvPr/>
        </p:nvSpPr>
        <p:spPr>
          <a:xfrm>
            <a:off x="927100" y="3535680"/>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20" name="TextBox 19"/>
          <p:cNvSpPr txBox="1"/>
          <p:nvPr/>
        </p:nvSpPr>
        <p:spPr>
          <a:xfrm>
            <a:off x="927100" y="3701415"/>
            <a:ext cx="6781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record['per_layer'][layer]['value__recovery'] = R</a:t>
            </a:r>
          </a:p>
        </p:txBody>
      </p:sp>
      <p:sp>
        <p:nvSpPr>
          <p:cNvPr id="21" name="Rounded Rectangle 20"/>
          <p:cNvSpPr/>
          <p:nvPr/>
        </p:nvSpPr>
        <p:spPr>
          <a:xfrm>
            <a:off x="8153400" y="1752600"/>
            <a:ext cx="34036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31200" y="1930400"/>
            <a:ext cx="3048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SWEEP PRODUCES</a:t>
            </a:r>
          </a:p>
        </p:txBody>
      </p:sp>
      <p:sp>
        <p:nvSpPr>
          <p:cNvPr id="23" name="TextBox 22"/>
          <p:cNvSpPr txBox="1"/>
          <p:nvPr/>
        </p:nvSpPr>
        <p:spPr>
          <a:xfrm>
            <a:off x="8331200" y="2120900"/>
            <a:ext cx="3048000" cy="939800"/>
          </a:xfrm>
          <a:prstGeom prst="rect">
            <a:avLst/>
          </a:prstGeom>
          <a:noFill/>
        </p:spPr>
        <p:txBody>
          <a:bodyPr wrap="square" lIns="0" rIns="0" tIns="0" bIns="0">
            <a:spAutoFit/>
          </a:bodyPr>
          <a:lstStyle/>
          <a:p>
            <a:pPr marL="485394" indent="-485394">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Per layer:</a:t>
            </a:r>
            <a:r>
              <a:rPr sz="1050" b="0">
                <a:solidFill>
                  <a:srgbClr val="B9B9B9"/>
                </a:solidFill>
                <a:latin typeface="Inter"/>
                <a:cs typeface="Inter"/>
                <a:ea typeface="Inter"/>
              </a:rPr>
              <a:t> one transfer rate for each of the three intervention kinds</a:t>
            </a:r>
          </a:p>
          <a:p>
            <a:pPr marL="485394" indent="-485394">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Per block:</a:t>
            </a:r>
            <a:r>
              <a:rPr sz="1050" b="0">
                <a:solidFill>
                  <a:srgbClr val="B9B9B9"/>
                </a:solidFill>
                <a:latin typeface="Inter"/>
                <a:cs typeface="Inter"/>
                <a:ea typeface="Inter"/>
              </a:rPr>
              <a:t> one record per name block, so differences can be paired</a:t>
            </a:r>
          </a:p>
          <a:p>
            <a:pPr marL="485394" indent="-485394">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Per donor:</a:t>
            </a:r>
            <a:r>
              <a:rPr sz="1050" b="0">
                <a:solidFill>
                  <a:srgbClr val="B9B9B9"/>
                </a:solidFill>
                <a:latin typeface="Inter"/>
                <a:cs typeface="Inter"/>
                <a:ea typeface="Inter"/>
              </a:rPr>
              <a:t> three donors, each a separate condition and a separate file</a:t>
            </a:r>
          </a:p>
        </p:txBody>
      </p:sp>
      <p:sp>
        <p:nvSpPr>
          <p:cNvPr id="24" name="Rounded Rectangle 23"/>
          <p:cNvSpPr/>
          <p:nvPr/>
        </p:nvSpPr>
        <p:spPr>
          <a:xfrm>
            <a:off x="635000" y="4826000"/>
            <a:ext cx="10922000" cy="1428750"/>
          </a:xfrm>
          <a:prstGeom prst="roundRect">
            <a:avLst>
              <a:gd name="adj" fmla="val 5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5003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504 FILES, AND WHAT THEY COVER</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42 blocks × 3 donors × 4 models, each sweeping every layer of its model.</a:t>
            </a:r>
          </a:p>
        </p:txBody>
      </p:sp>
      <p:sp>
        <p:nvSpPr>
          <p:cNvPr id="27" name="TextBox 26"/>
          <p:cNvSpPr txBox="1"/>
          <p:nvPr/>
        </p:nvSpPr>
        <p:spPr>
          <a:xfrm>
            <a:off x="812800" y="5194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 donor is run on every block on every model, so the paired difference is always between two runs that share the same names, the same seed and the same prompt.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Result — the raw curves, by donor</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Before any subtraction: all three donors move the score, including the one that carries no notation signal.</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60</a:t>
            </a:r>
          </a:p>
        </p:txBody>
      </p:sp>
      <p:sp>
        <p:nvSpPr>
          <p:cNvPr id="8" name="Rounded Rectangle 7"/>
          <p:cNvSpPr/>
          <p:nvPr/>
        </p:nvSpPr>
        <p:spPr>
          <a:xfrm>
            <a:off x="6350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939354" y="2120900"/>
            <a:ext cx="2007491"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3__donors_qwen.png"/>
          <p:cNvPicPr>
            <a:picLocks noChangeAspect="1"/>
          </p:cNvPicPr>
          <p:nvPr/>
        </p:nvPicPr>
        <p:blipFill>
          <a:blip r:embed="rId2"/>
          <a:stretch>
            <a:fillRect/>
          </a:stretch>
        </p:blipFill>
        <p:spPr>
          <a:xfrm>
            <a:off x="1015554" y="2197100"/>
            <a:ext cx="1855091" cy="1752600"/>
          </a:xfrm>
          <a:prstGeom prst="rect">
            <a:avLst/>
          </a:prstGeom>
        </p:spPr>
      </p:pic>
      <p:sp>
        <p:nvSpPr>
          <p:cNvPr id="12" name="Rounded Rectangle 11"/>
          <p:cNvSpPr/>
          <p:nvPr/>
        </p:nvSpPr>
        <p:spPr>
          <a:xfrm>
            <a:off x="34036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664908" y="2120900"/>
            <a:ext cx="2093584"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3__donors_deepseek.png"/>
          <p:cNvPicPr>
            <a:picLocks noChangeAspect="1"/>
          </p:cNvPicPr>
          <p:nvPr/>
        </p:nvPicPr>
        <p:blipFill>
          <a:blip r:embed="rId3"/>
          <a:stretch>
            <a:fillRect/>
          </a:stretch>
        </p:blipFill>
        <p:spPr>
          <a:xfrm>
            <a:off x="3741108" y="2197100"/>
            <a:ext cx="1941184" cy="1752600"/>
          </a:xfrm>
          <a:prstGeom prst="rect">
            <a:avLst/>
          </a:prstGeom>
        </p:spPr>
      </p:pic>
      <p:sp>
        <p:nvSpPr>
          <p:cNvPr id="16" name="Rounded Rectangle 15"/>
          <p:cNvSpPr/>
          <p:nvPr/>
        </p:nvSpPr>
        <p:spPr>
          <a:xfrm>
            <a:off x="61722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476554" y="2120900"/>
            <a:ext cx="2007491"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3__donors_llama.png"/>
          <p:cNvPicPr>
            <a:picLocks noChangeAspect="1"/>
          </p:cNvPicPr>
          <p:nvPr/>
        </p:nvPicPr>
        <p:blipFill>
          <a:blip r:embed="rId4"/>
          <a:stretch>
            <a:fillRect/>
          </a:stretch>
        </p:blipFill>
        <p:spPr>
          <a:xfrm>
            <a:off x="6552754" y="2197100"/>
            <a:ext cx="1855091" cy="1752600"/>
          </a:xfrm>
          <a:prstGeom prst="rect">
            <a:avLst/>
          </a:prstGeom>
        </p:spPr>
      </p:pic>
      <p:sp>
        <p:nvSpPr>
          <p:cNvPr id="20" name="Rounded Rectangle 19"/>
          <p:cNvSpPr/>
          <p:nvPr/>
        </p:nvSpPr>
        <p:spPr>
          <a:xfrm>
            <a:off x="89408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220556" y="2120900"/>
            <a:ext cx="2056687"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3__donors_stability.png"/>
          <p:cNvPicPr>
            <a:picLocks noChangeAspect="1"/>
          </p:cNvPicPr>
          <p:nvPr/>
        </p:nvPicPr>
        <p:blipFill>
          <a:blip r:embed="rId5"/>
          <a:stretch>
            <a:fillRect/>
          </a:stretch>
        </p:blipFill>
        <p:spPr>
          <a:xfrm>
            <a:off x="9296756" y="2197100"/>
            <a:ext cx="1904287" cy="1752600"/>
          </a:xfrm>
          <a:prstGeom prst="rect">
            <a:avLst/>
          </a:prstGeom>
        </p:spPr>
      </p:pic>
      <p:sp>
        <p:nvSpPr>
          <p:cNvPr id="24" name="TextBox 23"/>
          <p:cNvSpPr txBox="1"/>
          <p:nvPr/>
        </p:nvSpPr>
        <p:spPr>
          <a:xfrm>
            <a:off x="635000" y="42672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Transfer rate by layer, Value road, three donors. The control curve is not flat — that is the bubble.</a:t>
            </a:r>
          </a:p>
        </p:txBody>
      </p:sp>
      <p:sp>
        <p:nvSpPr>
          <p:cNvPr id="25" name="Rounded Rectangle 24"/>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FINDING THAT FORCES THE CONTROL</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study that reported only the treatment curve would be reporting roughly twice the true effect.</a:t>
            </a:r>
          </a:p>
        </p:txBody>
      </p:sp>
      <p:sp>
        <p:nvSpPr>
          <p:cNvPr id="28" name="TextBox 27"/>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unrelated-snake donor contains no camelCase information at all, yet overwriting with it moves the preference substantially. That movement is the cost of destroying the original vectors, and it has to be subtracted before anything is claimed.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Result — raw, bubble and net side by side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same curves, decomposed. The blue line is the only one that appears in any claim.</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61</a:t>
            </a:r>
          </a:p>
        </p:txBody>
      </p:sp>
      <p:sp>
        <p:nvSpPr>
          <p:cNvPr id="8" name="Rounded Rectangle 7"/>
          <p:cNvSpPr/>
          <p:nvPr/>
        </p:nvSpPr>
        <p:spPr>
          <a:xfrm>
            <a:off x="6350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940379" y="2120900"/>
            <a:ext cx="2005441"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3__bubble_qwen.png"/>
          <p:cNvPicPr>
            <a:picLocks noChangeAspect="1"/>
          </p:cNvPicPr>
          <p:nvPr/>
        </p:nvPicPr>
        <p:blipFill>
          <a:blip r:embed="rId2"/>
          <a:stretch>
            <a:fillRect/>
          </a:stretch>
        </p:blipFill>
        <p:spPr>
          <a:xfrm>
            <a:off x="1016579" y="2197100"/>
            <a:ext cx="1853041" cy="1752600"/>
          </a:xfrm>
          <a:prstGeom prst="rect">
            <a:avLst/>
          </a:prstGeom>
        </p:spPr>
      </p:pic>
      <p:sp>
        <p:nvSpPr>
          <p:cNvPr id="12" name="Rounded Rectangle 11"/>
          <p:cNvSpPr/>
          <p:nvPr/>
        </p:nvSpPr>
        <p:spPr>
          <a:xfrm>
            <a:off x="34036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665933" y="2120900"/>
            <a:ext cx="2091534"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3__bubble_deepseek.png"/>
          <p:cNvPicPr>
            <a:picLocks noChangeAspect="1"/>
          </p:cNvPicPr>
          <p:nvPr/>
        </p:nvPicPr>
        <p:blipFill>
          <a:blip r:embed="rId3"/>
          <a:stretch>
            <a:fillRect/>
          </a:stretch>
        </p:blipFill>
        <p:spPr>
          <a:xfrm>
            <a:off x="3742133" y="2197100"/>
            <a:ext cx="1939134" cy="1752600"/>
          </a:xfrm>
          <a:prstGeom prst="rect">
            <a:avLst/>
          </a:prstGeom>
        </p:spPr>
      </p:pic>
      <p:sp>
        <p:nvSpPr>
          <p:cNvPr id="16" name="Rounded Rectangle 15"/>
          <p:cNvSpPr/>
          <p:nvPr/>
        </p:nvSpPr>
        <p:spPr>
          <a:xfrm>
            <a:off x="61722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477579" y="2120900"/>
            <a:ext cx="2005441"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3__bubble_llama.png"/>
          <p:cNvPicPr>
            <a:picLocks noChangeAspect="1"/>
          </p:cNvPicPr>
          <p:nvPr/>
        </p:nvPicPr>
        <p:blipFill>
          <a:blip r:embed="rId4"/>
          <a:stretch>
            <a:fillRect/>
          </a:stretch>
        </p:blipFill>
        <p:spPr>
          <a:xfrm>
            <a:off x="6553779" y="2197100"/>
            <a:ext cx="1853041" cy="1752600"/>
          </a:xfrm>
          <a:prstGeom prst="rect">
            <a:avLst/>
          </a:prstGeom>
        </p:spPr>
      </p:pic>
      <p:sp>
        <p:nvSpPr>
          <p:cNvPr id="20" name="Rounded Rectangle 19"/>
          <p:cNvSpPr/>
          <p:nvPr/>
        </p:nvSpPr>
        <p:spPr>
          <a:xfrm>
            <a:off x="8940800" y="1752600"/>
            <a:ext cx="2616200" cy="2451100"/>
          </a:xfrm>
          <a:prstGeom prst="roundRect">
            <a:avLst>
              <a:gd name="adj" fmla="val 31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203133" y="2120900"/>
            <a:ext cx="2091534" cy="1905000"/>
          </a:xfrm>
          <a:prstGeom prst="roundRect">
            <a:avLst>
              <a:gd name="adj" fmla="val 400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3__bubble_stability.png"/>
          <p:cNvPicPr>
            <a:picLocks noChangeAspect="1"/>
          </p:cNvPicPr>
          <p:nvPr/>
        </p:nvPicPr>
        <p:blipFill>
          <a:blip r:embed="rId5"/>
          <a:stretch>
            <a:fillRect/>
          </a:stretch>
        </p:blipFill>
        <p:spPr>
          <a:xfrm>
            <a:off x="9279333" y="2197100"/>
            <a:ext cx="1939134" cy="1752600"/>
          </a:xfrm>
          <a:prstGeom prst="rect">
            <a:avLst/>
          </a:prstGeom>
        </p:spPr>
      </p:pic>
      <p:sp>
        <p:nvSpPr>
          <p:cNvPr id="24" name="TextBox 23"/>
          <p:cNvSpPr txBox="1"/>
          <p:nvPr/>
        </p:nvSpPr>
        <p:spPr>
          <a:xfrm>
            <a:off x="635000" y="42672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Raw treatment, control-only bubble, and the paired net effect, by layer.</a:t>
            </a:r>
          </a:p>
        </p:txBody>
      </p:sp>
      <p:sp>
        <p:nvSpPr>
          <p:cNvPr id="25" name="Rounded Rectangle 24"/>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BUBBLE SHARE AT EACH MODEL'S PEAK LAYER</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Between a third and a half of the raw effect is attributable to the act of overwriting rather than to notation.</a:t>
            </a:r>
          </a:p>
        </p:txBody>
      </p:sp>
      <p:sp>
        <p:nvSpPr>
          <p:cNvPr id="28" name="TextBox 27"/>
          <p:cNvSpPr txBox="1"/>
          <p:nvPr/>
        </p:nvSpPr>
        <p:spPr>
          <a:xfrm>
            <a:off x="812800" y="4940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49%</a:t>
            </a:r>
          </a:p>
        </p:txBody>
      </p:sp>
      <p:sp>
        <p:nvSpPr>
          <p:cNvPr id="29" name="TextBox 28"/>
          <p:cNvSpPr txBox="1"/>
          <p:nvPr/>
        </p:nvSpPr>
        <p:spPr>
          <a:xfrm>
            <a:off x="812800" y="5403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QWEN2.5-CODER-3B · L25</a:t>
            </a:r>
          </a:p>
        </p:txBody>
      </p:sp>
      <p:sp>
        <p:nvSpPr>
          <p:cNvPr id="30" name="TextBox 29"/>
          <p:cNvSpPr txBox="1"/>
          <p:nvPr/>
        </p:nvSpPr>
        <p:spPr>
          <a:xfrm>
            <a:off x="3492500" y="4940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42%</a:t>
            </a:r>
          </a:p>
        </p:txBody>
      </p:sp>
      <p:sp>
        <p:nvSpPr>
          <p:cNvPr id="31" name="TextBox 30"/>
          <p:cNvSpPr txBox="1"/>
          <p:nvPr/>
        </p:nvSpPr>
        <p:spPr>
          <a:xfrm>
            <a:off x="3492500" y="5403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DEEPSEEK-CODER-6.7B · L20</a:t>
            </a:r>
          </a:p>
        </p:txBody>
      </p:sp>
      <p:sp>
        <p:nvSpPr>
          <p:cNvPr id="32" name="TextBox 31"/>
          <p:cNvSpPr txBox="1"/>
          <p:nvPr/>
        </p:nvSpPr>
        <p:spPr>
          <a:xfrm>
            <a:off x="6172200" y="4940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40%</a:t>
            </a:r>
          </a:p>
        </p:txBody>
      </p:sp>
      <p:sp>
        <p:nvSpPr>
          <p:cNvPr id="33" name="TextBox 32"/>
          <p:cNvSpPr txBox="1"/>
          <p:nvPr/>
        </p:nvSpPr>
        <p:spPr>
          <a:xfrm>
            <a:off x="6172200" y="5403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LLAMA-3.2-3B · L15</a:t>
            </a:r>
          </a:p>
        </p:txBody>
      </p:sp>
      <p:sp>
        <p:nvSpPr>
          <p:cNvPr id="34" name="TextBox 33"/>
          <p:cNvSpPr txBox="1"/>
          <p:nvPr/>
        </p:nvSpPr>
        <p:spPr>
          <a:xfrm>
            <a:off x="8851900" y="4940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34%</a:t>
            </a:r>
          </a:p>
        </p:txBody>
      </p:sp>
      <p:sp>
        <p:nvSpPr>
          <p:cNvPr id="35" name="TextBox 34"/>
          <p:cNvSpPr txBox="1"/>
          <p:nvPr/>
        </p:nvSpPr>
        <p:spPr>
          <a:xfrm>
            <a:off x="8851900" y="5403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STABLECODE-3B · L18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Result — which road carries the effect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Value moves behaviour. Key barely moves it. The two are measured on the same forward pass.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62</a:t>
            </a:r>
          </a:p>
        </p:txBody>
      </p:sp>
      <p:sp>
        <p:nvSpPr>
          <p:cNvPr id="8" name="Rounded Rectangle 7"/>
          <p:cNvSpPr/>
          <p:nvPr/>
        </p:nvSpPr>
        <p:spPr>
          <a:xfrm>
            <a:off x="635000" y="1752600"/>
            <a:ext cx="109220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NET EFFECT AT EACH MODEL'S PEAK LAYER</a:t>
            </a:r>
          </a:p>
        </p:txBody>
      </p:sp>
      <p:sp>
        <p:nvSpPr>
          <p:cNvPr id="10" name="TextBox 9"/>
          <p:cNvSpPr txBox="1"/>
          <p:nvPr/>
        </p:nvSpPr>
        <p:spPr>
          <a:xfrm>
            <a:off x="812800" y="3779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Paired within block, then averaged over 42 blocks; intervals are 95% normal approximations.</a:t>
            </a:r>
          </a:p>
        </p:txBody>
      </p:sp>
      <p:sp>
        <p:nvSpPr>
          <p:cNvPr id="11" name="TextBox 10"/>
          <p:cNvSpPr txBox="1"/>
          <p:nvPr/>
        </p:nvSpPr>
        <p:spPr>
          <a:xfrm>
            <a:off x="812800" y="2184400"/>
            <a:ext cx="2497513"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12" name="TextBox 11"/>
          <p:cNvSpPr txBox="1"/>
          <p:nvPr/>
        </p:nvSpPr>
        <p:spPr>
          <a:xfrm>
            <a:off x="3310313" y="2184400"/>
            <a:ext cx="1344815"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PEAK LAYER</a:t>
            </a:r>
          </a:p>
        </p:txBody>
      </p:sp>
      <p:sp>
        <p:nvSpPr>
          <p:cNvPr id="13" name="TextBox 12"/>
          <p:cNvSpPr txBox="1"/>
          <p:nvPr/>
        </p:nvSpPr>
        <p:spPr>
          <a:xfrm>
            <a:off x="4655127" y="2184400"/>
            <a:ext cx="1921164"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VALUE NET</a:t>
            </a:r>
          </a:p>
        </p:txBody>
      </p:sp>
      <p:sp>
        <p:nvSpPr>
          <p:cNvPr id="14" name="TextBox 13"/>
          <p:cNvSpPr txBox="1"/>
          <p:nvPr/>
        </p:nvSpPr>
        <p:spPr>
          <a:xfrm>
            <a:off x="6576291" y="2184400"/>
            <a:ext cx="1729047"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KEY NET</a:t>
            </a:r>
          </a:p>
        </p:txBody>
      </p:sp>
      <p:sp>
        <p:nvSpPr>
          <p:cNvPr id="15" name="TextBox 14"/>
          <p:cNvSpPr txBox="1"/>
          <p:nvPr/>
        </p:nvSpPr>
        <p:spPr>
          <a:xfrm>
            <a:off x="8305338" y="2184400"/>
            <a:ext cx="1729047"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K+V NET</a:t>
            </a:r>
          </a:p>
        </p:txBody>
      </p:sp>
      <p:sp>
        <p:nvSpPr>
          <p:cNvPr id="16" name="TextBox 15"/>
          <p:cNvSpPr txBox="1"/>
          <p:nvPr/>
        </p:nvSpPr>
        <p:spPr>
          <a:xfrm>
            <a:off x="10034385" y="2184400"/>
            <a:ext cx="1344815"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KEY ÷ VALUE</a:t>
            </a:r>
          </a:p>
        </p:txBody>
      </p:sp>
      <p:sp>
        <p:nvSpPr>
          <p:cNvPr id="17" name="Rectangle 16"/>
          <p:cNvSpPr/>
          <p:nvPr/>
        </p:nvSpPr>
        <p:spPr>
          <a:xfrm>
            <a:off x="812800" y="23368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800" y="2438400"/>
            <a:ext cx="2332413" cy="32260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Qwen2.5-Coder-3B</a:t>
            </a:r>
          </a:p>
        </p:txBody>
      </p:sp>
      <p:sp>
        <p:nvSpPr>
          <p:cNvPr id="19" name="TextBox 18"/>
          <p:cNvSpPr txBox="1"/>
          <p:nvPr/>
        </p:nvSpPr>
        <p:spPr>
          <a:xfrm>
            <a:off x="3310313" y="2438400"/>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L25</a:t>
            </a:r>
          </a:p>
        </p:txBody>
      </p:sp>
      <p:sp>
        <p:nvSpPr>
          <p:cNvPr id="20" name="TextBox 19"/>
          <p:cNvSpPr txBox="1"/>
          <p:nvPr/>
        </p:nvSpPr>
        <p:spPr>
          <a:xfrm>
            <a:off x="4655127" y="2438400"/>
            <a:ext cx="1756064"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0.253 ± 0.008</a:t>
            </a:r>
          </a:p>
        </p:txBody>
      </p:sp>
      <p:sp>
        <p:nvSpPr>
          <p:cNvPr id="21" name="TextBox 20"/>
          <p:cNvSpPr txBox="1"/>
          <p:nvPr/>
        </p:nvSpPr>
        <p:spPr>
          <a:xfrm>
            <a:off x="6576291" y="2438400"/>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-0.005 ± 0.001</a:t>
            </a:r>
          </a:p>
        </p:txBody>
      </p:sp>
      <p:sp>
        <p:nvSpPr>
          <p:cNvPr id="22" name="TextBox 21"/>
          <p:cNvSpPr txBox="1"/>
          <p:nvPr/>
        </p:nvSpPr>
        <p:spPr>
          <a:xfrm>
            <a:off x="8305338" y="2438400"/>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0.117 ± 0.006</a:t>
            </a:r>
          </a:p>
        </p:txBody>
      </p:sp>
      <p:sp>
        <p:nvSpPr>
          <p:cNvPr id="23" name="TextBox 22"/>
          <p:cNvSpPr txBox="1"/>
          <p:nvPr/>
        </p:nvSpPr>
        <p:spPr>
          <a:xfrm>
            <a:off x="10034385" y="2438400"/>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2%</a:t>
            </a:r>
          </a:p>
        </p:txBody>
      </p:sp>
      <p:sp>
        <p:nvSpPr>
          <p:cNvPr id="24" name="Rectangle 23"/>
          <p:cNvSpPr/>
          <p:nvPr/>
        </p:nvSpPr>
        <p:spPr>
          <a:xfrm>
            <a:off x="812800" y="2697504"/>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800" y="2761004"/>
            <a:ext cx="2332413" cy="32260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DeepSeek-Coder-6.7B</a:t>
            </a:r>
          </a:p>
        </p:txBody>
      </p:sp>
      <p:sp>
        <p:nvSpPr>
          <p:cNvPr id="26" name="TextBox 25"/>
          <p:cNvSpPr txBox="1"/>
          <p:nvPr/>
        </p:nvSpPr>
        <p:spPr>
          <a:xfrm>
            <a:off x="3310313" y="2761004"/>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L20</a:t>
            </a:r>
          </a:p>
        </p:txBody>
      </p:sp>
      <p:sp>
        <p:nvSpPr>
          <p:cNvPr id="27" name="TextBox 26"/>
          <p:cNvSpPr txBox="1"/>
          <p:nvPr/>
        </p:nvSpPr>
        <p:spPr>
          <a:xfrm>
            <a:off x="4655127" y="2761004"/>
            <a:ext cx="1756064"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0.125 ± 0.008</a:t>
            </a:r>
          </a:p>
        </p:txBody>
      </p:sp>
      <p:sp>
        <p:nvSpPr>
          <p:cNvPr id="28" name="TextBox 27"/>
          <p:cNvSpPr txBox="1"/>
          <p:nvPr/>
        </p:nvSpPr>
        <p:spPr>
          <a:xfrm>
            <a:off x="6576291" y="2761004"/>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0.004 ± 0.002</a:t>
            </a:r>
          </a:p>
        </p:txBody>
      </p:sp>
      <p:sp>
        <p:nvSpPr>
          <p:cNvPr id="29" name="TextBox 28"/>
          <p:cNvSpPr txBox="1"/>
          <p:nvPr/>
        </p:nvSpPr>
        <p:spPr>
          <a:xfrm>
            <a:off x="8305338" y="2761004"/>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0.055 ± 0.005</a:t>
            </a:r>
          </a:p>
        </p:txBody>
      </p:sp>
      <p:sp>
        <p:nvSpPr>
          <p:cNvPr id="30" name="TextBox 29"/>
          <p:cNvSpPr txBox="1"/>
          <p:nvPr/>
        </p:nvSpPr>
        <p:spPr>
          <a:xfrm>
            <a:off x="10034385" y="2761004"/>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4%</a:t>
            </a:r>
          </a:p>
        </p:txBody>
      </p:sp>
      <p:sp>
        <p:nvSpPr>
          <p:cNvPr id="31" name="Rectangle 30"/>
          <p:cNvSpPr/>
          <p:nvPr/>
        </p:nvSpPr>
        <p:spPr>
          <a:xfrm>
            <a:off x="812800" y="3020108"/>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2800" y="3083608"/>
            <a:ext cx="2332413" cy="32260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Llama-3.2-3B</a:t>
            </a:r>
          </a:p>
        </p:txBody>
      </p:sp>
      <p:sp>
        <p:nvSpPr>
          <p:cNvPr id="33" name="TextBox 32"/>
          <p:cNvSpPr txBox="1"/>
          <p:nvPr/>
        </p:nvSpPr>
        <p:spPr>
          <a:xfrm>
            <a:off x="3310313" y="3083608"/>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L15</a:t>
            </a:r>
          </a:p>
        </p:txBody>
      </p:sp>
      <p:sp>
        <p:nvSpPr>
          <p:cNvPr id="34" name="TextBox 33"/>
          <p:cNvSpPr txBox="1"/>
          <p:nvPr/>
        </p:nvSpPr>
        <p:spPr>
          <a:xfrm>
            <a:off x="4655127" y="3083608"/>
            <a:ext cx="1756064"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0.358 ± 0.018</a:t>
            </a:r>
          </a:p>
        </p:txBody>
      </p:sp>
      <p:sp>
        <p:nvSpPr>
          <p:cNvPr id="35" name="TextBox 34"/>
          <p:cNvSpPr txBox="1"/>
          <p:nvPr/>
        </p:nvSpPr>
        <p:spPr>
          <a:xfrm>
            <a:off x="6576291" y="3083608"/>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0.003 ± 0.001</a:t>
            </a:r>
          </a:p>
        </p:txBody>
      </p:sp>
      <p:sp>
        <p:nvSpPr>
          <p:cNvPr id="36" name="TextBox 35"/>
          <p:cNvSpPr txBox="1"/>
          <p:nvPr/>
        </p:nvSpPr>
        <p:spPr>
          <a:xfrm>
            <a:off x="8305338" y="3083608"/>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0.102 ± 0.008</a:t>
            </a:r>
          </a:p>
        </p:txBody>
      </p:sp>
      <p:sp>
        <p:nvSpPr>
          <p:cNvPr id="37" name="TextBox 36"/>
          <p:cNvSpPr txBox="1"/>
          <p:nvPr/>
        </p:nvSpPr>
        <p:spPr>
          <a:xfrm>
            <a:off x="10034385" y="3083608"/>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1%</a:t>
            </a:r>
          </a:p>
        </p:txBody>
      </p:sp>
      <p:sp>
        <p:nvSpPr>
          <p:cNvPr id="38" name="Rectangle 37"/>
          <p:cNvSpPr/>
          <p:nvPr/>
        </p:nvSpPr>
        <p:spPr>
          <a:xfrm>
            <a:off x="812800" y="3342711"/>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2800" y="3406211"/>
            <a:ext cx="2332413" cy="32260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StableCode-3B</a:t>
            </a:r>
          </a:p>
        </p:txBody>
      </p:sp>
      <p:sp>
        <p:nvSpPr>
          <p:cNvPr id="40" name="TextBox 39"/>
          <p:cNvSpPr txBox="1"/>
          <p:nvPr/>
        </p:nvSpPr>
        <p:spPr>
          <a:xfrm>
            <a:off x="3310313" y="3406211"/>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L18</a:t>
            </a:r>
          </a:p>
        </p:txBody>
      </p:sp>
      <p:sp>
        <p:nvSpPr>
          <p:cNvPr id="41" name="TextBox 40"/>
          <p:cNvSpPr txBox="1"/>
          <p:nvPr/>
        </p:nvSpPr>
        <p:spPr>
          <a:xfrm>
            <a:off x="4655127" y="3406211"/>
            <a:ext cx="1756064"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0.189 ± 0.012</a:t>
            </a:r>
          </a:p>
        </p:txBody>
      </p:sp>
      <p:sp>
        <p:nvSpPr>
          <p:cNvPr id="42" name="TextBox 41"/>
          <p:cNvSpPr txBox="1"/>
          <p:nvPr/>
        </p:nvSpPr>
        <p:spPr>
          <a:xfrm>
            <a:off x="6576291" y="3406211"/>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0.021 ± 0.003</a:t>
            </a:r>
          </a:p>
        </p:txBody>
      </p:sp>
      <p:sp>
        <p:nvSpPr>
          <p:cNvPr id="43" name="TextBox 42"/>
          <p:cNvSpPr txBox="1"/>
          <p:nvPr/>
        </p:nvSpPr>
        <p:spPr>
          <a:xfrm>
            <a:off x="8305338" y="3406211"/>
            <a:ext cx="1563947"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0.080 ± 0.006</a:t>
            </a:r>
          </a:p>
        </p:txBody>
      </p:sp>
      <p:sp>
        <p:nvSpPr>
          <p:cNvPr id="44" name="TextBox 43"/>
          <p:cNvSpPr txBox="1"/>
          <p:nvPr/>
        </p:nvSpPr>
        <p:spPr>
          <a:xfrm>
            <a:off x="10034385" y="3406211"/>
            <a:ext cx="1179715" cy="32260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11%</a:t>
            </a:r>
          </a:p>
        </p:txBody>
      </p:sp>
      <p:sp>
        <p:nvSpPr>
          <p:cNvPr id="45" name="Rounded Rectangle 44"/>
          <p:cNvSpPr/>
          <p:nvPr/>
        </p:nvSpPr>
        <p:spPr>
          <a:xfrm>
            <a:off x="635000" y="4318000"/>
            <a:ext cx="6858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12800" y="44958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CAREFUL VERSION OF THE KEY CLAIM</a:t>
            </a:r>
          </a:p>
        </p:txBody>
      </p:sp>
      <p:sp>
        <p:nvSpPr>
          <p:cNvPr id="47" name="TextBox 46"/>
          <p:cNvSpPr txBox="1"/>
          <p:nvPr/>
        </p:nvSpPr>
        <p:spPr>
          <a:xfrm>
            <a:off x="812800" y="5868765"/>
            <a:ext cx="650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“Zero” would be wrong; “negligible” is what the numbers support.</a:t>
            </a:r>
          </a:p>
        </p:txBody>
      </p:sp>
      <p:sp>
        <p:nvSpPr>
          <p:cNvPr id="48" name="TextBox 47"/>
          <p:cNvSpPr txBox="1"/>
          <p:nvPr/>
        </p:nvSpPr>
        <p:spPr>
          <a:xfrm>
            <a:off x="812800" y="4686300"/>
            <a:ext cx="65024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Key intervals do not contain zero in three of the four models. The honest statement is that the Key net effect is 2–11% of the Value net effect — small enough to be practically irrelevant, not small enough to call absent.</a:t>
            </a:r>
          </a:p>
        </p:txBody>
      </p:sp>
      <p:sp>
        <p:nvSpPr>
          <p:cNvPr id="49" name="Rounded Rectangle 48"/>
          <p:cNvSpPr/>
          <p:nvPr/>
        </p:nvSpPr>
        <p:spPr>
          <a:xfrm>
            <a:off x="7645400" y="4318000"/>
            <a:ext cx="39116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823200" y="44958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AND THE COMBINED ROAD</a:t>
            </a:r>
          </a:p>
        </p:txBody>
      </p:sp>
      <p:sp>
        <p:nvSpPr>
          <p:cNvPr id="51" name="TextBox 50"/>
          <p:cNvSpPr txBox="1"/>
          <p:nvPr/>
        </p:nvSpPr>
        <p:spPr>
          <a:xfrm>
            <a:off x="7823200" y="5868765"/>
            <a:ext cx="3556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Editing both is worse than editing content alone.</a:t>
            </a:r>
          </a:p>
        </p:txBody>
      </p:sp>
      <p:sp>
        <p:nvSpPr>
          <p:cNvPr id="52" name="TextBox 51"/>
          <p:cNvSpPr txBox="1"/>
          <p:nvPr/>
        </p:nvSpPr>
        <p:spPr>
          <a:xfrm>
            <a:off x="7823200" y="4686300"/>
            <a:ext cx="3556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K+V lands below Value alone in every model, which is consistent with the transplanted key carrying a rotation that belongs to another position.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Result — the layer profile, net of control</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effect is not spread evenly across the stack; it concentrates in a band of late-middle layers.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63</a:t>
            </a:r>
          </a:p>
        </p:txBody>
      </p:sp>
      <p:sp>
        <p:nvSpPr>
          <p:cNvPr id="8" name="Rounded Rectangle 7"/>
          <p:cNvSpPr/>
          <p:nvPr/>
        </p:nvSpPr>
        <p:spPr>
          <a:xfrm>
            <a:off x="6350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920656" y="2120900"/>
            <a:ext cx="2044888"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3__code_causality_qwen.png"/>
          <p:cNvPicPr>
            <a:picLocks noChangeAspect="1"/>
          </p:cNvPicPr>
          <p:nvPr/>
        </p:nvPicPr>
        <p:blipFill>
          <a:blip r:embed="rId2"/>
          <a:stretch>
            <a:fillRect/>
          </a:stretch>
        </p:blipFill>
        <p:spPr>
          <a:xfrm>
            <a:off x="996856" y="2197100"/>
            <a:ext cx="1892488" cy="1308100"/>
          </a:xfrm>
          <a:prstGeom prst="rect">
            <a:avLst/>
          </a:prstGeom>
        </p:spPr>
      </p:pic>
      <p:sp>
        <p:nvSpPr>
          <p:cNvPr id="12" name="Rounded Rectangle 11"/>
          <p:cNvSpPr/>
          <p:nvPr/>
        </p:nvSpPr>
        <p:spPr>
          <a:xfrm>
            <a:off x="34036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689256" y="2120900"/>
            <a:ext cx="2044888"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3__code_causality_deepseek.png"/>
          <p:cNvPicPr>
            <a:picLocks noChangeAspect="1"/>
          </p:cNvPicPr>
          <p:nvPr/>
        </p:nvPicPr>
        <p:blipFill>
          <a:blip r:embed="rId3"/>
          <a:stretch>
            <a:fillRect/>
          </a:stretch>
        </p:blipFill>
        <p:spPr>
          <a:xfrm>
            <a:off x="3765456" y="2197100"/>
            <a:ext cx="1892488" cy="1308100"/>
          </a:xfrm>
          <a:prstGeom prst="rect">
            <a:avLst/>
          </a:prstGeom>
        </p:spPr>
      </p:pic>
      <p:sp>
        <p:nvSpPr>
          <p:cNvPr id="16" name="Rounded Rectangle 15"/>
          <p:cNvSpPr/>
          <p:nvPr/>
        </p:nvSpPr>
        <p:spPr>
          <a:xfrm>
            <a:off x="61722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457856" y="2120900"/>
            <a:ext cx="2044888"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3__code_causality_llama.png"/>
          <p:cNvPicPr>
            <a:picLocks noChangeAspect="1"/>
          </p:cNvPicPr>
          <p:nvPr/>
        </p:nvPicPr>
        <p:blipFill>
          <a:blip r:embed="rId4"/>
          <a:stretch>
            <a:fillRect/>
          </a:stretch>
        </p:blipFill>
        <p:spPr>
          <a:xfrm>
            <a:off x="6534056" y="2197100"/>
            <a:ext cx="1892488" cy="1308100"/>
          </a:xfrm>
          <a:prstGeom prst="rect">
            <a:avLst/>
          </a:prstGeom>
        </p:spPr>
      </p:pic>
      <p:sp>
        <p:nvSpPr>
          <p:cNvPr id="20" name="Rounded Rectangle 19"/>
          <p:cNvSpPr/>
          <p:nvPr/>
        </p:nvSpPr>
        <p:spPr>
          <a:xfrm>
            <a:off x="89408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223648" y="2120900"/>
            <a:ext cx="2050504"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3__code_causality_stability.png"/>
          <p:cNvPicPr>
            <a:picLocks noChangeAspect="1"/>
          </p:cNvPicPr>
          <p:nvPr/>
        </p:nvPicPr>
        <p:blipFill>
          <a:blip r:embed="rId5"/>
          <a:stretch>
            <a:fillRect/>
          </a:stretch>
        </p:blipFill>
        <p:spPr>
          <a:xfrm>
            <a:off x="9299848" y="2197100"/>
            <a:ext cx="1898104" cy="1308100"/>
          </a:xfrm>
          <a:prstGeom prst="rect">
            <a:avLst/>
          </a:prstGeom>
        </p:spPr>
      </p:pic>
      <p:sp>
        <p:nvSpPr>
          <p:cNvPr id="24" name="TextBox 23"/>
          <p:cNvSpPr txBox="1"/>
          <p:nvPr/>
        </p:nvSpPr>
        <p:spPr>
          <a:xfrm>
            <a:off x="635000" y="38227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Net transfer rate by layer, Value and Key. This is the figure the paper's causality claim rests on.</a:t>
            </a:r>
          </a:p>
        </p:txBody>
      </p:sp>
      <p:sp>
        <p:nvSpPr>
          <p:cNvPr id="25" name="Rounded Rectangle 24"/>
          <p:cNvSpPr/>
          <p:nvPr/>
        </p:nvSpPr>
        <p:spPr>
          <a:xfrm>
            <a:off x="635000" y="4127500"/>
            <a:ext cx="10922000" cy="2127250"/>
          </a:xfrm>
          <a:prstGeom prst="roundRect">
            <a:avLst>
              <a:gd name="adj" fmla="val 358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305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SPLIT-HALF VALIDATION</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Choosing the peak layer on half the blocks and measuring it on the other half — so the peak is not selected on the data it is reported from.</a:t>
            </a:r>
          </a:p>
        </p:txBody>
      </p:sp>
      <p:sp>
        <p:nvSpPr>
          <p:cNvPr id="28" name="TextBox 27"/>
          <p:cNvSpPr txBox="1"/>
          <p:nvPr/>
        </p:nvSpPr>
        <p:spPr>
          <a:xfrm>
            <a:off x="812800" y="4559300"/>
            <a:ext cx="30480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29" name="TextBox 28"/>
          <p:cNvSpPr txBox="1"/>
          <p:nvPr/>
        </p:nvSpPr>
        <p:spPr>
          <a:xfrm>
            <a:off x="3860800" y="4559300"/>
            <a:ext cx="26416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LAYER CHOSEN ON BLOCKS 1–21</a:t>
            </a:r>
          </a:p>
        </p:txBody>
      </p:sp>
      <p:sp>
        <p:nvSpPr>
          <p:cNvPr id="30" name="TextBox 29"/>
          <p:cNvSpPr txBox="1"/>
          <p:nvPr/>
        </p:nvSpPr>
        <p:spPr>
          <a:xfrm>
            <a:off x="6502400" y="4559300"/>
            <a:ext cx="24384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NET ON HELD-OUT 22–42</a:t>
            </a:r>
          </a:p>
        </p:txBody>
      </p:sp>
      <p:sp>
        <p:nvSpPr>
          <p:cNvPr id="31" name="TextBox 30"/>
          <p:cNvSpPr txBox="1"/>
          <p:nvPr/>
        </p:nvSpPr>
        <p:spPr>
          <a:xfrm>
            <a:off x="8940800" y="4559300"/>
            <a:ext cx="24384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NET AT THAT LAYER, ALL 42</a:t>
            </a:r>
          </a:p>
        </p:txBody>
      </p:sp>
      <p:sp>
        <p:nvSpPr>
          <p:cNvPr id="32" name="Rectangle 31"/>
          <p:cNvSpPr/>
          <p:nvPr/>
        </p:nvSpPr>
        <p:spPr>
          <a:xfrm>
            <a:off x="812800" y="47117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2800" y="4813300"/>
            <a:ext cx="288290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Qwen2.5-Coder-3B</a:t>
            </a:r>
          </a:p>
        </p:txBody>
      </p:sp>
      <p:sp>
        <p:nvSpPr>
          <p:cNvPr id="34" name="TextBox 33"/>
          <p:cNvSpPr txBox="1"/>
          <p:nvPr/>
        </p:nvSpPr>
        <p:spPr>
          <a:xfrm>
            <a:off x="3860800" y="4813300"/>
            <a:ext cx="24765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L25</a:t>
            </a:r>
          </a:p>
        </p:txBody>
      </p:sp>
      <p:sp>
        <p:nvSpPr>
          <p:cNvPr id="35" name="TextBox 34"/>
          <p:cNvSpPr txBox="1"/>
          <p:nvPr/>
        </p:nvSpPr>
        <p:spPr>
          <a:xfrm>
            <a:off x="6502400" y="4813300"/>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0.261</a:t>
            </a:r>
          </a:p>
        </p:txBody>
      </p:sp>
      <p:sp>
        <p:nvSpPr>
          <p:cNvPr id="36" name="TextBox 35"/>
          <p:cNvSpPr txBox="1"/>
          <p:nvPr/>
        </p:nvSpPr>
        <p:spPr>
          <a:xfrm>
            <a:off x="8940800" y="4813300"/>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0.253</a:t>
            </a:r>
          </a:p>
        </p:txBody>
      </p:sp>
      <p:sp>
        <p:nvSpPr>
          <p:cNvPr id="37" name="Rectangle 36"/>
          <p:cNvSpPr/>
          <p:nvPr/>
        </p:nvSpPr>
        <p:spPr>
          <a:xfrm>
            <a:off x="812800" y="5000966"/>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2800" y="5064466"/>
            <a:ext cx="288290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DeepSeek-Coder-6.7B</a:t>
            </a:r>
          </a:p>
        </p:txBody>
      </p:sp>
      <p:sp>
        <p:nvSpPr>
          <p:cNvPr id="39" name="TextBox 38"/>
          <p:cNvSpPr txBox="1"/>
          <p:nvPr/>
        </p:nvSpPr>
        <p:spPr>
          <a:xfrm>
            <a:off x="3860800" y="5064466"/>
            <a:ext cx="24765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L20</a:t>
            </a:r>
          </a:p>
        </p:txBody>
      </p:sp>
      <p:sp>
        <p:nvSpPr>
          <p:cNvPr id="40" name="TextBox 39"/>
          <p:cNvSpPr txBox="1"/>
          <p:nvPr/>
        </p:nvSpPr>
        <p:spPr>
          <a:xfrm>
            <a:off x="6502400" y="5064466"/>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0.139</a:t>
            </a:r>
          </a:p>
        </p:txBody>
      </p:sp>
      <p:sp>
        <p:nvSpPr>
          <p:cNvPr id="41" name="TextBox 40"/>
          <p:cNvSpPr txBox="1"/>
          <p:nvPr/>
        </p:nvSpPr>
        <p:spPr>
          <a:xfrm>
            <a:off x="8940800" y="5064466"/>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0.125</a:t>
            </a:r>
          </a:p>
        </p:txBody>
      </p:sp>
      <p:sp>
        <p:nvSpPr>
          <p:cNvPr id="42" name="Rectangle 41"/>
          <p:cNvSpPr/>
          <p:nvPr/>
        </p:nvSpPr>
        <p:spPr>
          <a:xfrm>
            <a:off x="812800" y="525213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2800" y="5315633"/>
            <a:ext cx="288290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Llama-3.2-3B</a:t>
            </a:r>
          </a:p>
        </p:txBody>
      </p:sp>
      <p:sp>
        <p:nvSpPr>
          <p:cNvPr id="44" name="TextBox 43"/>
          <p:cNvSpPr txBox="1"/>
          <p:nvPr/>
        </p:nvSpPr>
        <p:spPr>
          <a:xfrm>
            <a:off x="3860800" y="5315633"/>
            <a:ext cx="24765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L15</a:t>
            </a:r>
          </a:p>
        </p:txBody>
      </p:sp>
      <p:sp>
        <p:nvSpPr>
          <p:cNvPr id="45" name="TextBox 44"/>
          <p:cNvSpPr txBox="1"/>
          <p:nvPr/>
        </p:nvSpPr>
        <p:spPr>
          <a:xfrm>
            <a:off x="6502400" y="5315633"/>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0.365</a:t>
            </a:r>
          </a:p>
        </p:txBody>
      </p:sp>
      <p:sp>
        <p:nvSpPr>
          <p:cNvPr id="46" name="TextBox 45"/>
          <p:cNvSpPr txBox="1"/>
          <p:nvPr/>
        </p:nvSpPr>
        <p:spPr>
          <a:xfrm>
            <a:off x="8940800" y="5315633"/>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0.358</a:t>
            </a:r>
          </a:p>
        </p:txBody>
      </p:sp>
      <p:sp>
        <p:nvSpPr>
          <p:cNvPr id="47" name="Rectangle 46"/>
          <p:cNvSpPr/>
          <p:nvPr/>
        </p:nvSpPr>
        <p:spPr>
          <a:xfrm>
            <a:off x="812800" y="5503299"/>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2800" y="5566799"/>
            <a:ext cx="288290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StableCode-3B</a:t>
            </a:r>
          </a:p>
        </p:txBody>
      </p:sp>
      <p:sp>
        <p:nvSpPr>
          <p:cNvPr id="49" name="TextBox 48"/>
          <p:cNvSpPr txBox="1"/>
          <p:nvPr/>
        </p:nvSpPr>
        <p:spPr>
          <a:xfrm>
            <a:off x="3860800" y="5566799"/>
            <a:ext cx="24765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L18</a:t>
            </a:r>
          </a:p>
        </p:txBody>
      </p:sp>
      <p:sp>
        <p:nvSpPr>
          <p:cNvPr id="50" name="TextBox 49"/>
          <p:cNvSpPr txBox="1"/>
          <p:nvPr/>
        </p:nvSpPr>
        <p:spPr>
          <a:xfrm>
            <a:off x="6502400" y="5566799"/>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0.193</a:t>
            </a:r>
          </a:p>
        </p:txBody>
      </p:sp>
      <p:sp>
        <p:nvSpPr>
          <p:cNvPr id="51" name="TextBox 50"/>
          <p:cNvSpPr txBox="1"/>
          <p:nvPr/>
        </p:nvSpPr>
        <p:spPr>
          <a:xfrm>
            <a:off x="8940800" y="5566799"/>
            <a:ext cx="2273300"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0.189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What this step does not settle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direction, one signal, one instrument — and an instrument whose asymmetry is measured but not fully characterised.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64</a:t>
            </a:r>
          </a:p>
        </p:txBody>
      </p:sp>
      <p:sp>
        <p:nvSpPr>
          <p:cNvPr id="8" name="Rounded Rectangle 7"/>
          <p:cNvSpPr/>
          <p:nvPr/>
        </p:nvSpPr>
        <p:spPr>
          <a:xfrm>
            <a:off x="6350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1</a:t>
            </a:r>
          </a:p>
        </p:txBody>
      </p:sp>
      <p:sp>
        <p:nvSpPr>
          <p:cNvPr id="10" name="TextBox 9"/>
          <p:cNvSpPr txBox="1"/>
          <p:nvPr/>
        </p:nvSpPr>
        <p:spPr>
          <a:xfrm>
            <a:off x="8128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One direction</a:t>
            </a:r>
          </a:p>
        </p:txBody>
      </p:sp>
      <p:sp>
        <p:nvSpPr>
          <p:cNvPr id="11" name="TextBox 10"/>
          <p:cNvSpPr txBox="1"/>
          <p:nvPr/>
        </p:nvSpPr>
        <p:spPr>
          <a:xfrm>
            <a:off x="8128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camelCase-required only. Whether the same layers carry the signal in the other direction is not tested here.</a:t>
            </a:r>
          </a:p>
        </p:txBody>
      </p:sp>
      <p:sp>
        <p:nvSpPr>
          <p:cNvPr id="12" name="Rounded Rectangle 11"/>
          <p:cNvSpPr/>
          <p:nvPr/>
        </p:nvSpPr>
        <p:spPr>
          <a:xfrm>
            <a:off x="34036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2</a:t>
            </a:r>
          </a:p>
        </p:txBody>
      </p:sp>
      <p:sp>
        <p:nvSpPr>
          <p:cNvPr id="14" name="TextBox 13"/>
          <p:cNvSpPr txBox="1"/>
          <p:nvPr/>
        </p:nvSpPr>
        <p:spPr>
          <a:xfrm>
            <a:off x="35814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Code, not instruction</a:t>
            </a:r>
          </a:p>
        </p:txBody>
      </p:sp>
      <p:sp>
        <p:nvSpPr>
          <p:cNvPr id="15" name="TextBox 14"/>
          <p:cNvSpPr txBox="1"/>
          <p:nvPr/>
        </p:nvSpPr>
        <p:spPr>
          <a:xfrm>
            <a:off x="3581400" y="2336800"/>
            <a:ext cx="22606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This step localises the code signal. Whether the instruction travels the same road is RQ3's question.</a:t>
            </a:r>
          </a:p>
        </p:txBody>
      </p:sp>
      <p:sp>
        <p:nvSpPr>
          <p:cNvPr id="16" name="Rounded Rectangle 15"/>
          <p:cNvSpPr/>
          <p:nvPr/>
        </p:nvSpPr>
        <p:spPr>
          <a:xfrm>
            <a:off x="61722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3</a:t>
            </a:r>
          </a:p>
        </p:txBody>
      </p:sp>
      <p:sp>
        <p:nvSpPr>
          <p:cNvPr id="18" name="TextBox 17"/>
          <p:cNvSpPr txBox="1"/>
          <p:nvPr/>
        </p:nvSpPr>
        <p:spPr>
          <a:xfrm>
            <a:off x="63500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Instrument asymmetry</a:t>
            </a:r>
          </a:p>
        </p:txBody>
      </p:sp>
      <p:sp>
        <p:nvSpPr>
          <p:cNvPr id="19" name="TextBox 18"/>
          <p:cNvSpPr txBox="1"/>
          <p:nvPr/>
        </p:nvSpPr>
        <p:spPr>
          <a:xfrm>
            <a:off x="6350000" y="2336800"/>
            <a:ext cx="22606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Mean-pool substitution damages Keys and Values differently; the diagnostic step measures norm, not phase.</a:t>
            </a:r>
          </a:p>
        </p:txBody>
      </p:sp>
      <p:sp>
        <p:nvSpPr>
          <p:cNvPr id="20" name="Rounded Rectangle 19"/>
          <p:cNvSpPr/>
          <p:nvPr/>
        </p:nvSpPr>
        <p:spPr>
          <a:xfrm>
            <a:off x="8940800" y="1752600"/>
            <a:ext cx="26162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 4</a:t>
            </a:r>
          </a:p>
        </p:txBody>
      </p:sp>
      <p:sp>
        <p:nvSpPr>
          <p:cNvPr id="22" name="TextBox 21"/>
          <p:cNvSpPr txBox="1"/>
          <p:nvPr/>
        </p:nvSpPr>
        <p:spPr>
          <a:xfrm>
            <a:off x="9118600" y="2120900"/>
            <a:ext cx="22606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Layer, not head</a:t>
            </a:r>
          </a:p>
        </p:txBody>
      </p:sp>
      <p:sp>
        <p:nvSpPr>
          <p:cNvPr id="23" name="TextBox 22"/>
          <p:cNvSpPr txBox="1"/>
          <p:nvPr/>
        </p:nvSpPr>
        <p:spPr>
          <a:xfrm>
            <a:off x="9118600" y="2336800"/>
            <a:ext cx="22606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peak is a layer. Which heads within it carry the signal is not resolved.</a:t>
            </a:r>
          </a:p>
        </p:txBody>
      </p:sp>
      <p:sp>
        <p:nvSpPr>
          <p:cNvPr id="24" name="Rounded Rectangle 23"/>
          <p:cNvSpPr/>
          <p:nvPr/>
        </p:nvSpPr>
        <p:spPr>
          <a:xfrm>
            <a:off x="635000" y="4318000"/>
            <a:ext cx="10922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4495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STRONGEST THING THIS STEP LICENSES</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Stated in the form the evidence supports, with the instrument caveat attached rather than dropped.</a:t>
            </a:r>
          </a:p>
        </p:txBody>
      </p:sp>
      <p:sp>
        <p:nvSpPr>
          <p:cNvPr id="27" name="TextBox 26"/>
          <p:cNvSpPr txBox="1"/>
          <p:nvPr/>
        </p:nvSpPr>
        <p:spPr>
          <a:xfrm>
            <a:off x="812800" y="4686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Under mean-pool substitution with paired controls, the notation signal from preceding code acts through the attended content at a narrow band of late-middle layers, and not through the attention share. The qualifier about the instrument is part of the claim, not a footnote to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3 · Reading the result file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Transfer rates live under per_layer, not under extra — a distinction that once produced an empty table.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65</a:t>
            </a:r>
          </a:p>
        </p:txBody>
      </p:sp>
      <p:sp>
        <p:nvSpPr>
          <p:cNvPr id="8" name="Rounded Rectangle 7"/>
          <p:cNvSpPr/>
          <p:nvPr/>
        </p:nvSpPr>
        <p:spPr>
          <a:xfrm>
            <a:off x="635000" y="1752600"/>
            <a:ext cx="71120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75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RESULTS/STEP3_CODE-CAUSE/&lt;SLUG&gt;.JSON</a:t>
            </a:r>
          </a:p>
        </p:txBody>
      </p:sp>
      <p:sp>
        <p:nvSpPr>
          <p:cNvPr id="10" name="Rounded Rectangle 9"/>
          <p:cNvSpPr/>
          <p:nvPr/>
        </p:nvSpPr>
        <p:spPr>
          <a:xfrm>
            <a:off x="812800" y="2120900"/>
            <a:ext cx="6756400" cy="2374900"/>
          </a:xfrm>
          <a:prstGeom prst="roundRect">
            <a:avLst>
              <a:gd name="adj" fmla="val 160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"metrics": {</a:t>
            </a:r>
          </a:p>
        </p:txBody>
      </p:sp>
      <p:sp>
        <p:nvSpPr>
          <p:cNvPr id="12" name="TextBox 11"/>
          <p:cNvSpPr txBox="1"/>
          <p:nvPr/>
        </p:nvSpPr>
        <p:spPr>
          <a:xfrm>
            <a:off x="927100" y="237553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"per_layer": {</a:t>
            </a:r>
          </a:p>
        </p:txBody>
      </p:sp>
      <p:sp>
        <p:nvSpPr>
          <p:cNvPr id="13" name="TextBox 12"/>
          <p:cNvSpPr txBox="1"/>
          <p:nvPr/>
        </p:nvSpPr>
        <p:spPr>
          <a:xfrm>
            <a:off x="927100" y="254127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"27": {</a:t>
            </a:r>
          </a:p>
        </p:txBody>
      </p:sp>
      <p:sp>
        <p:nvSpPr>
          <p:cNvPr id="14" name="TextBox 13"/>
          <p:cNvSpPr txBox="1"/>
          <p:nvPr/>
        </p:nvSpPr>
        <p:spPr>
          <a:xfrm>
            <a:off x="927100" y="2707005"/>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"value__recovery":     0.42,   # the headline number</a:t>
            </a:r>
          </a:p>
        </p:txBody>
      </p:sp>
      <p:sp>
        <p:nvSpPr>
          <p:cNvPr id="15" name="TextBox 14"/>
          <p:cNvSpPr txBox="1"/>
          <p:nvPr/>
        </p:nvSpPr>
        <p:spPr>
          <a:xfrm>
            <a:off x="927100" y="287274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"key__recovery":       0.02,</a:t>
            </a:r>
          </a:p>
        </p:txBody>
      </p:sp>
      <p:sp>
        <p:nvSpPr>
          <p:cNvPr id="16" name="TextBox 15"/>
          <p:cNvSpPr txBox="1"/>
          <p:nvPr/>
        </p:nvSpPr>
        <p:spPr>
          <a:xfrm>
            <a:off x="927100" y="303847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"key_value__recovery": 0.45,</a:t>
            </a:r>
          </a:p>
        </p:txBody>
      </p:sp>
      <p:sp>
        <p:nvSpPr>
          <p:cNvPr id="17" name="TextBox 16"/>
          <p:cNvSpPr txBox="1"/>
          <p:nvPr/>
        </p:nvSpPr>
        <p:spPr>
          <a:xfrm>
            <a:off x="927100" y="320421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"value__S_int": -1.24, … } },</a:t>
            </a:r>
          </a:p>
        </p:txBody>
      </p:sp>
      <p:sp>
        <p:nvSpPr>
          <p:cNvPr id="18" name="TextBox 17"/>
          <p:cNvSpPr txBox="1"/>
          <p:nvPr/>
        </p:nvSpPr>
        <p:spPr>
          <a:xfrm>
            <a:off x="927100" y="336994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"extra": {</a:t>
            </a:r>
          </a:p>
        </p:txBody>
      </p:sp>
      <p:sp>
        <p:nvSpPr>
          <p:cNvPr id="19" name="TextBox 18"/>
          <p:cNvSpPr txBox="1"/>
          <p:nvPr/>
        </p:nvSpPr>
        <p:spPr>
          <a:xfrm>
            <a:off x="927100" y="353568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"mode": "intervene_sweep",</a:t>
            </a:r>
          </a:p>
        </p:txBody>
      </p:sp>
      <p:sp>
        <p:nvSpPr>
          <p:cNvPr id="20" name="TextBox 19"/>
          <p:cNvSpPr txBox="1"/>
          <p:nvPr/>
        </p:nvSpPr>
        <p:spPr>
          <a:xfrm>
            <a:off x="927100" y="3701415"/>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"donor": "compliant",            # or unrelated_camel | unrelated_snake</a:t>
            </a:r>
          </a:p>
        </p:txBody>
      </p:sp>
      <p:sp>
        <p:nvSpPr>
          <p:cNvPr id="21" name="TextBox 20"/>
          <p:cNvSpPr txBox="1"/>
          <p:nvPr/>
        </p:nvSpPr>
        <p:spPr>
          <a:xfrm>
            <a:off x="927100" y="386715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"S_clean": 1.83, "S_base": -3.21,</a:t>
            </a:r>
          </a:p>
        </p:txBody>
      </p:sp>
      <p:sp>
        <p:nvSpPr>
          <p:cNvPr id="22" name="TextBox 21"/>
          <p:cNvSpPr txBox="1"/>
          <p:nvPr/>
        </p:nvSpPr>
        <p:spPr>
          <a:xfrm>
            <a:off x="927100" y="4032885"/>
            <a:ext cx="6527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"n_substituted_tokens": 31,      # 0 would have raised</a:t>
            </a:r>
          </a:p>
        </p:txBody>
      </p:sp>
      <p:sp>
        <p:nvSpPr>
          <p:cNvPr id="23" name="TextBox 22"/>
          <p:cNvSpPr txBox="1"/>
          <p:nvPr/>
        </p:nvSpPr>
        <p:spPr>
          <a:xfrm>
            <a:off x="927100" y="4198620"/>
            <a:ext cx="6527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"skipped_names": [] } }</a:t>
            </a:r>
          </a:p>
        </p:txBody>
      </p:sp>
      <p:sp>
        <p:nvSpPr>
          <p:cNvPr id="24" name="Rounded Rectangle 23"/>
          <p:cNvSpPr/>
          <p:nvPr/>
        </p:nvSpPr>
        <p:spPr>
          <a:xfrm>
            <a:off x="7899400" y="1752600"/>
            <a:ext cx="36576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77200" y="1930400"/>
            <a:ext cx="330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TWO TRAPS IN THIS STEP'S FILES</a:t>
            </a:r>
          </a:p>
        </p:txBody>
      </p:sp>
      <p:sp>
        <p:nvSpPr>
          <p:cNvPr id="26" name="TextBox 25"/>
          <p:cNvSpPr txBox="1"/>
          <p:nvPr/>
        </p:nvSpPr>
        <p:spPr>
          <a:xfrm>
            <a:off x="8077200" y="2120900"/>
            <a:ext cx="3302000" cy="939800"/>
          </a:xfrm>
          <a:prstGeom prst="rect">
            <a:avLst/>
          </a:prstGeom>
          <a:noFill/>
        </p:spPr>
        <p:txBody>
          <a:bodyPr wrap="square" lIns="0" rIns="0" tIns="0" bIns="0">
            <a:spAutoFit/>
          </a:bodyPr>
          <a:lstStyle/>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No gap field:</a:t>
            </a:r>
            <a:r>
              <a:rPr sz="1050" b="0">
                <a:solidFill>
                  <a:srgbClr val="B9B9B9"/>
                </a:solidFill>
                <a:latin typeface="Inter"/>
                <a:cs typeface="Inter"/>
                <a:ea typeface="Inter"/>
              </a:rPr>
              <a:t> these 504 files predate it; compute it from S_clean and S_base — the value is identical</a:t>
            </a:r>
          </a:p>
          <a:p>
            <a:pPr marL="762762" indent="-76276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No extra.recovery:</a:t>
            </a:r>
            <a:r>
              <a:rPr sz="1050" b="0">
                <a:solidFill>
                  <a:srgbClr val="B9B9B9"/>
                </a:solidFill>
                <a:latin typeface="Inter"/>
                <a:cs typeface="Inter"/>
                <a:ea typeface="Inter"/>
              </a:rPr>
              <a:t> sweep runs store rates per layer only; extra.recovery exists on single-layer runs</a:t>
            </a:r>
          </a:p>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Always paired:</a:t>
            </a:r>
            <a:r>
              <a:rPr sz="1050" b="0">
                <a:solidFill>
                  <a:srgbClr val="B9B9B9"/>
                </a:solidFill>
                <a:latin typeface="Inter"/>
                <a:cs typeface="Inter"/>
                <a:ea typeface="Inter"/>
              </a:rPr>
              <a:t> the reported number is a difference between two donors on the same block, never a raw rate</a:t>
            </a:r>
          </a:p>
        </p:txBody>
      </p:sp>
      <p:sp>
        <p:nvSpPr>
          <p:cNvPr id="27" name="Rounded Rectangle 26"/>
          <p:cNvSpPr/>
          <p:nvPr/>
        </p:nvSpPr>
        <p:spPr>
          <a:xfrm>
            <a:off x="635000" y="4826000"/>
            <a:ext cx="10922000" cy="1428750"/>
          </a:xfrm>
          <a:prstGeom prst="roundRect">
            <a:avLst>
              <a:gd name="adj" fmla="val 5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2800" y="5003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AGGREGATION</a:t>
            </a:r>
          </a:p>
        </p:txBody>
      </p:sp>
      <p:sp>
        <p:nvSpPr>
          <p:cNvPr id="29" name="TextBox 28"/>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Computes the paired net effect and its interval — this is the script the paper's numbers come from.</a:t>
            </a:r>
          </a:p>
        </p:txBody>
      </p:sp>
      <p:sp>
        <p:nvSpPr>
          <p:cNvPr id="30" name="Rounded Rectangle 29"/>
          <p:cNvSpPr/>
          <p:nvPr/>
        </p:nvSpPr>
        <p:spPr>
          <a:xfrm>
            <a:off x="812800" y="5194300"/>
            <a:ext cx="10566400" cy="598265"/>
          </a:xfrm>
          <a:prstGeom prst="roundRect">
            <a:avLst>
              <a:gd name="adj" fmla="val 6368"/>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27100" y="5283200"/>
            <a:ext cx="10337800" cy="184150"/>
          </a:xfrm>
          <a:prstGeom prst="rect">
            <a:avLst/>
          </a:prstGeom>
          <a:noFill/>
        </p:spPr>
        <p:txBody>
          <a:bodyPr wrap="square" lIns="0" rIns="0" tIns="0" bIns="0" anchor="t">
            <a:spAutoFit/>
          </a:bodyPr>
          <a:lstStyle/>
          <a:p>
            <a:pPr algn="l"/>
            <a:r>
              <a:rPr sz="1000" b="0">
                <a:solidFill>
                  <a:srgbClr val="B9B9B9"/>
                </a:solidFill>
                <a:latin typeface="IBM Plex Mono"/>
                <a:cs typeface="IBM Plex Mono"/>
                <a:ea typeface="IBM Plex Mono"/>
              </a:rPr>
              <a:t>python scripts/step3_net_effect.py results/step3_code-cause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The question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code signal is content at a late layer. Does the instruction get read the same way — and is it even competitive with the code?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66</a:t>
            </a:r>
          </a:p>
        </p:txBody>
      </p:sp>
      <p:sp>
        <p:nvSpPr>
          <p:cNvPr id="8" name="Rounded Rectangle 7"/>
          <p:cNvSpPr/>
          <p:nvPr/>
        </p:nvSpPr>
        <p:spPr>
          <a:xfrm>
            <a:off x="635000" y="1752600"/>
            <a:ext cx="584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48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CHANGES FROM STEP 2</a:t>
            </a:r>
          </a:p>
        </p:txBody>
      </p:sp>
      <p:sp>
        <p:nvSpPr>
          <p:cNvPr id="10" name="TextBox 9"/>
          <p:cNvSpPr txBox="1"/>
          <p:nvPr/>
        </p:nvSpPr>
        <p:spPr>
          <a:xfrm>
            <a:off x="812800" y="2120900"/>
            <a:ext cx="5486400" cy="1231900"/>
          </a:xfrm>
          <a:prstGeom prst="rect">
            <a:avLst/>
          </a:prstGeom>
          <a:noFill/>
        </p:spPr>
        <p:txBody>
          <a:bodyPr wrap="square" lIns="0" rIns="0" tIns="0" bIns="0">
            <a:spAutoFit/>
          </a:bodyPr>
          <a:lstStyle/>
          <a:p>
            <a:pPr marL="693420" indent="-69342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Both directions:</a:t>
            </a:r>
            <a:r>
              <a:rPr sz="1050" b="0">
                <a:solidFill>
                  <a:srgbClr val="B9B9B9"/>
                </a:solidFill>
                <a:latin typeface="Inter"/>
                <a:cs typeface="Inter"/>
                <a:ea typeface="Inter"/>
              </a:rPr>
              <a:t> camelCase-required and snake_case-required, 42 blocks each</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Eight spans:</a:t>
            </a:r>
            <a:r>
              <a:rPr sz="1050" b="0">
                <a:solidFill>
                  <a:srgbClr val="B9B9B9"/>
                </a:solidFill>
                <a:latin typeface="Inter"/>
                <a:cs typeface="Inter"/>
                <a:ea typeface="Inter"/>
              </a:rPr>
              <a:t> the instruction's notation words separated by role</a:t>
            </a:r>
          </a:p>
          <a:p>
            <a:pPr marL="693420" indent="-69342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All four models:</a:t>
            </a:r>
            <a:r>
              <a:rPr sz="1050" b="0">
                <a:solidFill>
                  <a:srgbClr val="B9B9B9"/>
                </a:solidFill>
                <a:latin typeface="Inter"/>
                <a:cs typeface="Inter"/>
                <a:ea typeface="Inter"/>
              </a:rPr>
              <a:t> the same four as steps 2, 3 and 6</a:t>
            </a:r>
          </a:p>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Same read-out:</a:t>
            </a:r>
            <a:r>
              <a:rPr sz="1050" b="0">
                <a:solidFill>
                  <a:srgbClr val="B9B9B9"/>
                </a:solidFill>
                <a:latin typeface="Inter"/>
                <a:cs typeface="Inter"/>
                <a:ea typeface="Inter"/>
              </a:rPr>
              <a:t> one query row, head-averaged, per token</a:t>
            </a:r>
          </a:p>
        </p:txBody>
      </p:sp>
      <p:sp>
        <p:nvSpPr>
          <p:cNvPr id="11" name="Rounded Rectangle 10"/>
          <p:cNvSpPr/>
          <p:nvPr/>
        </p:nvSpPr>
        <p:spPr>
          <a:xfrm>
            <a:off x="6629400" y="1752600"/>
            <a:ext cx="49276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07200" y="1930400"/>
            <a:ext cx="4572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EACH OUTCOME WOULD HAVE MEANT</a:t>
            </a:r>
          </a:p>
        </p:txBody>
      </p:sp>
      <p:sp>
        <p:nvSpPr>
          <p:cNvPr id="13" name="TextBox 12"/>
          <p:cNvSpPr txBox="1"/>
          <p:nvPr/>
        </p:nvSpPr>
        <p:spPr>
          <a:xfrm>
            <a:off x="6807200" y="2184400"/>
            <a:ext cx="18288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IF WE HAD SEEN</a:t>
            </a:r>
          </a:p>
        </p:txBody>
      </p:sp>
      <p:sp>
        <p:nvSpPr>
          <p:cNvPr id="14" name="TextBox 13"/>
          <p:cNvSpPr txBox="1"/>
          <p:nvPr/>
        </p:nvSpPr>
        <p:spPr>
          <a:xfrm>
            <a:off x="8636000" y="2184400"/>
            <a:ext cx="27432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READING</a:t>
            </a:r>
          </a:p>
        </p:txBody>
      </p:sp>
      <p:sp>
        <p:nvSpPr>
          <p:cNvPr id="15" name="Rectangle 14"/>
          <p:cNvSpPr/>
          <p:nvPr/>
        </p:nvSpPr>
        <p:spPr>
          <a:xfrm>
            <a:off x="6807200" y="2336800"/>
            <a:ext cx="457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07200" y="2438400"/>
            <a:ext cx="1663700" cy="567267"/>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instruction attended far less than code</a:t>
            </a:r>
          </a:p>
        </p:txBody>
      </p:sp>
      <p:sp>
        <p:nvSpPr>
          <p:cNvPr id="17" name="TextBox 16"/>
          <p:cNvSpPr txBox="1"/>
          <p:nvPr/>
        </p:nvSpPr>
        <p:spPr>
          <a:xfrm>
            <a:off x="8636000" y="2438400"/>
            <a:ext cx="2578100" cy="567267"/>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instruction is drowned out; an attention remedy is plausible</a:t>
            </a:r>
          </a:p>
        </p:txBody>
      </p:sp>
      <p:sp>
        <p:nvSpPr>
          <p:cNvPr id="18" name="Rectangle 17"/>
          <p:cNvSpPr/>
          <p:nvPr/>
        </p:nvSpPr>
        <p:spPr>
          <a:xfrm>
            <a:off x="6807200" y="2942167"/>
            <a:ext cx="4572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7200" y="3005667"/>
            <a:ext cx="1663700" cy="567267"/>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instruction competitive per token</a:t>
            </a:r>
          </a:p>
        </p:txBody>
      </p:sp>
      <p:sp>
        <p:nvSpPr>
          <p:cNvPr id="20" name="TextBox 19"/>
          <p:cNvSpPr txBox="1"/>
          <p:nvPr/>
        </p:nvSpPr>
        <p:spPr>
          <a:xfrm>
            <a:off x="8636000" y="3005667"/>
            <a:ext cx="2578100" cy="567267"/>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instruction is being read; the failure is downstream of looking</a:t>
            </a:r>
          </a:p>
        </p:txBody>
      </p:sp>
      <p:sp>
        <p:nvSpPr>
          <p:cNvPr id="21" name="Rectangle 20"/>
          <p:cNvSpPr/>
          <p:nvPr/>
        </p:nvSpPr>
        <p:spPr>
          <a:xfrm>
            <a:off x="6807200" y="3509433"/>
            <a:ext cx="4572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07200" y="3572933"/>
            <a:ext cx="1663700" cy="567267"/>
          </a:xfrm>
          <a:prstGeom prst="rect">
            <a:avLst/>
          </a:prstGeom>
          <a:noFill/>
        </p:spPr>
        <p:txBody>
          <a:bodyPr wrap="square" lIns="0" rIns="0" tIns="0" bIns="0" anchor="t">
            <a:spAutoFit/>
          </a:bodyPr>
          <a:lstStyle/>
          <a:p>
            <a:pPr algn="l">
              <a:lnSpc>
                <a:spcPct val="130000"/>
              </a:lnSpc>
            </a:pPr>
            <a:r>
              <a:rPr sz="1000" b="0">
                <a:solidFill>
                  <a:srgbClr val="FFFFFF"/>
                </a:solidFill>
                <a:latin typeface="Inter"/>
                <a:cs typeface="Inter"/>
                <a:ea typeface="Inter"/>
              </a:rPr>
              <a:t>result depends on the estimand</a:t>
            </a:r>
          </a:p>
        </p:txBody>
      </p:sp>
      <p:sp>
        <p:nvSpPr>
          <p:cNvPr id="23" name="TextBox 22"/>
          <p:cNvSpPr txBox="1"/>
          <p:nvPr/>
        </p:nvSpPr>
        <p:spPr>
          <a:xfrm>
            <a:off x="8636000" y="3572933"/>
            <a:ext cx="2578100" cy="567267"/>
          </a:xfrm>
          <a:prstGeom prst="rect">
            <a:avLst/>
          </a:prstGeom>
          <a:noFill/>
        </p:spPr>
        <p:txBody>
          <a:bodyPr wrap="square" lIns="0" rIns="0" tIns="0" bIns="0" anchor="t">
            <a:spAutoFit/>
          </a:bodyPr>
          <a:lstStyle/>
          <a:p>
            <a:pPr algn="l">
              <a:lnSpc>
                <a:spcPct val="130000"/>
              </a:lnSpc>
            </a:pPr>
            <a:r>
              <a:rPr sz="1000" b="0">
                <a:solidFill>
                  <a:srgbClr val="B9B9B9"/>
                </a:solidFill>
                <a:latin typeface="Inter"/>
                <a:cs typeface="Inter"/>
                <a:ea typeface="Inter"/>
              </a:rPr>
              <a:t>the honest answer is that the comparison is estimand-dependent</a:t>
            </a:r>
          </a:p>
        </p:txBody>
      </p:sp>
      <p:sp>
        <p:nvSpPr>
          <p:cNvPr id="24" name="Rounded Rectangle 23"/>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THIRD OUTCOME IS THE ONE WE GOT, AND IT IS REPORTED AS SUCH</a:t>
            </a:r>
          </a:p>
        </p:txBody>
      </p:sp>
      <p:sp>
        <p:nvSpPr>
          <p:cNvPr id="26" name="TextBox 2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Per token the instruction leads in most layers; by span sum it rarely does. Both are shown.</a:t>
            </a:r>
          </a:p>
        </p:txBody>
      </p:sp>
      <p:sp>
        <p:nvSpPr>
          <p:cNvPr id="27" name="TextBox 26"/>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This is the clearest case in the study where the answer depends on how a span is summarised. Reporting only the estimand that favours our reading would be the easiest way to overstate the result, so both are plotted on the same axis with the crossover line drawn 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The role split, and why it was necessary</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required notation word appears twice, in two different roles. Summing them builds a 2 : 1 advantage into the measurement.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67</a:t>
            </a:r>
          </a:p>
        </p:txBody>
      </p:sp>
      <p:sp>
        <p:nvSpPr>
          <p:cNvPr id="8" name="Rounded Rectangle 7"/>
          <p:cNvSpPr/>
          <p:nvPr/>
        </p:nvSpPr>
        <p:spPr>
          <a:xfrm>
            <a:off x="635000" y="1752600"/>
            <a:ext cx="109220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INSTRUCTION ANATOMY AND THE EIGHT SPAN KEYS</a:t>
            </a:r>
          </a:p>
        </p:txBody>
      </p:sp>
      <p:sp>
        <p:nvSpPr>
          <p:cNvPr id="10" name="TextBox 9"/>
          <p:cNvSpPr txBox="1"/>
          <p:nvPr/>
        </p:nvSpPr>
        <p:spPr>
          <a:xfrm>
            <a:off x="812800" y="4160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inflated keys are kept in the stored results for transparency, and interpreted nowhere.</a:t>
            </a:r>
          </a:p>
        </p:txBody>
      </p:sp>
      <p:pic>
        <p:nvPicPr>
          <p:cNvPr id="11" name="Picture 10" descr="s4_split.png"/>
          <p:cNvPicPr>
            <a:picLocks noChangeAspect="1"/>
          </p:cNvPicPr>
          <p:nvPr/>
        </p:nvPicPr>
        <p:blipFill>
          <a:blip r:embed="rId2"/>
          <a:stretch>
            <a:fillRect/>
          </a:stretch>
        </p:blipFill>
        <p:spPr>
          <a:xfrm>
            <a:off x="812800" y="2120900"/>
            <a:ext cx="4674288" cy="1963515"/>
          </a:xfrm>
          <a:prstGeom prst="rect">
            <a:avLst/>
          </a:prstGeom>
        </p:spPr>
      </p:pic>
      <p:sp>
        <p:nvSpPr>
          <p:cNvPr id="12" name="Rounded Rectangle 11"/>
          <p:cNvSpPr/>
          <p:nvPr/>
        </p:nvSpPr>
        <p:spPr>
          <a:xfrm>
            <a:off x="635000" y="4699000"/>
            <a:ext cx="10922000" cy="1555750"/>
          </a:xfrm>
          <a:prstGeom prst="roundRect">
            <a:avLst>
              <a:gd name="adj" fmla="val 48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876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CANDIDATE LIST IS A SYMMETRIC CONTROL</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Both notation words appear there in identical roles, so any difference between them is not about which notation is required.</a:t>
            </a:r>
          </a:p>
        </p:txBody>
      </p:sp>
      <p:sp>
        <p:nvSpPr>
          <p:cNvPr id="15" name="TextBox 14"/>
          <p:cNvSpPr txBox="1"/>
          <p:nvPr/>
        </p:nvSpPr>
        <p:spPr>
          <a:xfrm>
            <a:off x="812800" y="5067300"/>
            <a:ext cx="10566400" cy="256287"/>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That symmetry is what makes the rule-sentence word interpretable: it is the only place where the two directions differ in what the text actually demands.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Result — the instruction, by role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Five spans on one axis: the rule word, both candidate words, and both code groups.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68</a:t>
            </a:r>
          </a:p>
        </p:txBody>
      </p:sp>
      <p:sp>
        <p:nvSpPr>
          <p:cNvPr id="8" name="Rounded Rectangle 7"/>
          <p:cNvSpPr/>
          <p:nvPr/>
        </p:nvSpPr>
        <p:spPr>
          <a:xfrm>
            <a:off x="6350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92941" y="2120900"/>
            <a:ext cx="2100317" cy="1778000"/>
          </a:xfrm>
          <a:prstGeom prst="roundRect">
            <a:avLst>
              <a:gd name="adj" fmla="val 4285"/>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4__spans_qwen.png"/>
          <p:cNvPicPr>
            <a:picLocks noChangeAspect="1"/>
          </p:cNvPicPr>
          <p:nvPr/>
        </p:nvPicPr>
        <p:blipFill>
          <a:blip r:embed="rId2"/>
          <a:stretch>
            <a:fillRect/>
          </a:stretch>
        </p:blipFill>
        <p:spPr>
          <a:xfrm>
            <a:off x="969141" y="2197100"/>
            <a:ext cx="1947917" cy="1625600"/>
          </a:xfrm>
          <a:prstGeom prst="rect">
            <a:avLst/>
          </a:prstGeom>
        </p:spPr>
      </p:pic>
      <p:sp>
        <p:nvSpPr>
          <p:cNvPr id="12" name="Rounded Rectangle 11"/>
          <p:cNvSpPr/>
          <p:nvPr/>
        </p:nvSpPr>
        <p:spPr>
          <a:xfrm>
            <a:off x="34036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661541" y="2120900"/>
            <a:ext cx="2100317" cy="1778000"/>
          </a:xfrm>
          <a:prstGeom prst="roundRect">
            <a:avLst>
              <a:gd name="adj" fmla="val 4285"/>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4__spans_deepseek.png"/>
          <p:cNvPicPr>
            <a:picLocks noChangeAspect="1"/>
          </p:cNvPicPr>
          <p:nvPr/>
        </p:nvPicPr>
        <p:blipFill>
          <a:blip r:embed="rId3"/>
          <a:stretch>
            <a:fillRect/>
          </a:stretch>
        </p:blipFill>
        <p:spPr>
          <a:xfrm>
            <a:off x="3737741" y="2197100"/>
            <a:ext cx="1947917" cy="1625600"/>
          </a:xfrm>
          <a:prstGeom prst="rect">
            <a:avLst/>
          </a:prstGeom>
        </p:spPr>
      </p:pic>
      <p:sp>
        <p:nvSpPr>
          <p:cNvPr id="16" name="Rounded Rectangle 15"/>
          <p:cNvSpPr/>
          <p:nvPr/>
        </p:nvSpPr>
        <p:spPr>
          <a:xfrm>
            <a:off x="61722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430141" y="2120900"/>
            <a:ext cx="2100317" cy="1778000"/>
          </a:xfrm>
          <a:prstGeom prst="roundRect">
            <a:avLst>
              <a:gd name="adj" fmla="val 4285"/>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4__spans_llama.png"/>
          <p:cNvPicPr>
            <a:picLocks noChangeAspect="1"/>
          </p:cNvPicPr>
          <p:nvPr/>
        </p:nvPicPr>
        <p:blipFill>
          <a:blip r:embed="rId4"/>
          <a:stretch>
            <a:fillRect/>
          </a:stretch>
        </p:blipFill>
        <p:spPr>
          <a:xfrm>
            <a:off x="6506341" y="2197100"/>
            <a:ext cx="1947917" cy="1625600"/>
          </a:xfrm>
          <a:prstGeom prst="rect">
            <a:avLst/>
          </a:prstGeom>
        </p:spPr>
      </p:pic>
      <p:sp>
        <p:nvSpPr>
          <p:cNvPr id="20" name="Rounded Rectangle 19"/>
          <p:cNvSpPr/>
          <p:nvPr/>
        </p:nvSpPr>
        <p:spPr>
          <a:xfrm>
            <a:off x="89408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98741" y="2120900"/>
            <a:ext cx="2100317" cy="1778000"/>
          </a:xfrm>
          <a:prstGeom prst="roundRect">
            <a:avLst>
              <a:gd name="adj" fmla="val 4285"/>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4__spans_stability.png"/>
          <p:cNvPicPr>
            <a:picLocks noChangeAspect="1"/>
          </p:cNvPicPr>
          <p:nvPr/>
        </p:nvPicPr>
        <p:blipFill>
          <a:blip r:embed="rId5"/>
          <a:stretch>
            <a:fillRect/>
          </a:stretch>
        </p:blipFill>
        <p:spPr>
          <a:xfrm>
            <a:off x="9274941" y="2197100"/>
            <a:ext cx="1947917" cy="1625600"/>
          </a:xfrm>
          <a:prstGeom prst="rect">
            <a:avLst/>
          </a:prstGeom>
        </p:spPr>
      </p:pic>
      <p:sp>
        <p:nvSpPr>
          <p:cNvPr id="24" name="TextBox 23"/>
          <p:cNvSpPr txBox="1"/>
          <p:nvPr/>
        </p:nvSpPr>
        <p:spPr>
          <a:xfrm>
            <a:off x="635000" y="41402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Attention per token by layer, averaged over both instruction directions.</a:t>
            </a:r>
          </a:p>
        </p:txBody>
      </p:sp>
      <p:sp>
        <p:nvSpPr>
          <p:cNvPr id="25" name="Rounded Rectangle 24"/>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PEAK LAYER OF THE RULE WORD, PER MODEL</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These land close to the causal peaks from step 3, which is the alignment the next slide examines.</a:t>
            </a:r>
          </a:p>
        </p:txBody>
      </p:sp>
      <p:sp>
        <p:nvSpPr>
          <p:cNvPr id="28" name="TextBox 27"/>
          <p:cNvSpPr txBox="1"/>
          <p:nvPr/>
        </p:nvSpPr>
        <p:spPr>
          <a:xfrm>
            <a:off x="812800" y="4813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L27</a:t>
            </a:r>
          </a:p>
        </p:txBody>
      </p:sp>
      <p:sp>
        <p:nvSpPr>
          <p:cNvPr id="29" name="TextBox 28"/>
          <p:cNvSpPr txBox="1"/>
          <p:nvPr/>
        </p:nvSpPr>
        <p:spPr>
          <a:xfrm>
            <a:off x="812800" y="5276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QWEN2.5-CODER-3B · OF 36</a:t>
            </a:r>
          </a:p>
        </p:txBody>
      </p:sp>
      <p:sp>
        <p:nvSpPr>
          <p:cNvPr id="30" name="TextBox 29"/>
          <p:cNvSpPr txBox="1"/>
          <p:nvPr/>
        </p:nvSpPr>
        <p:spPr>
          <a:xfrm>
            <a:off x="3492500" y="4813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L17</a:t>
            </a:r>
          </a:p>
        </p:txBody>
      </p:sp>
      <p:sp>
        <p:nvSpPr>
          <p:cNvPr id="31" name="TextBox 30"/>
          <p:cNvSpPr txBox="1"/>
          <p:nvPr/>
        </p:nvSpPr>
        <p:spPr>
          <a:xfrm>
            <a:off x="3492500" y="5276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DEEPSEEK-CODER-6.7B · OF 32</a:t>
            </a:r>
          </a:p>
        </p:txBody>
      </p:sp>
      <p:sp>
        <p:nvSpPr>
          <p:cNvPr id="32" name="TextBox 31"/>
          <p:cNvSpPr txBox="1"/>
          <p:nvPr/>
        </p:nvSpPr>
        <p:spPr>
          <a:xfrm>
            <a:off x="6172200" y="4813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L13</a:t>
            </a:r>
          </a:p>
        </p:txBody>
      </p:sp>
      <p:sp>
        <p:nvSpPr>
          <p:cNvPr id="33" name="TextBox 32"/>
          <p:cNvSpPr txBox="1"/>
          <p:nvPr/>
        </p:nvSpPr>
        <p:spPr>
          <a:xfrm>
            <a:off x="6172200" y="5276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LLAMA-3.2-3B · OF 28</a:t>
            </a:r>
          </a:p>
        </p:txBody>
      </p:sp>
      <p:sp>
        <p:nvSpPr>
          <p:cNvPr id="34" name="TextBox 33"/>
          <p:cNvSpPr txBox="1"/>
          <p:nvPr/>
        </p:nvSpPr>
        <p:spPr>
          <a:xfrm>
            <a:off x="8851900" y="4813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L19</a:t>
            </a:r>
          </a:p>
        </p:txBody>
      </p:sp>
      <p:sp>
        <p:nvSpPr>
          <p:cNvPr id="35" name="TextBox 34"/>
          <p:cNvSpPr txBox="1"/>
          <p:nvPr/>
        </p:nvSpPr>
        <p:spPr>
          <a:xfrm>
            <a:off x="8851900" y="5276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STABLECODE-3B · OF 32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Result — why the initial keys were replaced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same measurement, with the inflated key drawn beside the role-separated one.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69</a:t>
            </a:r>
          </a:p>
        </p:txBody>
      </p:sp>
      <p:sp>
        <p:nvSpPr>
          <p:cNvPr id="8" name="Rounded Rectangle 7"/>
          <p:cNvSpPr/>
          <p:nvPr/>
        </p:nvSpPr>
        <p:spPr>
          <a:xfrm>
            <a:off x="6350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29283" y="2120900"/>
            <a:ext cx="2227634" cy="1778000"/>
          </a:xfrm>
          <a:prstGeom prst="roundRect">
            <a:avLst>
              <a:gd name="adj" fmla="val 4285"/>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4__initial_vs_split_qwen.png"/>
          <p:cNvPicPr>
            <a:picLocks noChangeAspect="1"/>
          </p:cNvPicPr>
          <p:nvPr/>
        </p:nvPicPr>
        <p:blipFill>
          <a:blip r:embed="rId2"/>
          <a:stretch>
            <a:fillRect/>
          </a:stretch>
        </p:blipFill>
        <p:spPr>
          <a:xfrm>
            <a:off x="905483" y="2197100"/>
            <a:ext cx="2075234" cy="1625600"/>
          </a:xfrm>
          <a:prstGeom prst="rect">
            <a:avLst/>
          </a:prstGeom>
        </p:spPr>
      </p:pic>
      <p:sp>
        <p:nvSpPr>
          <p:cNvPr id="12" name="Rounded Rectangle 11"/>
          <p:cNvSpPr/>
          <p:nvPr/>
        </p:nvSpPr>
        <p:spPr>
          <a:xfrm>
            <a:off x="34036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581400" y="2123185"/>
            <a:ext cx="2260600" cy="1773429"/>
          </a:xfrm>
          <a:prstGeom prst="roundRect">
            <a:avLst>
              <a:gd name="adj" fmla="val 429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4__initial_vs_split_deepseek.png"/>
          <p:cNvPicPr>
            <a:picLocks noChangeAspect="1"/>
          </p:cNvPicPr>
          <p:nvPr/>
        </p:nvPicPr>
        <p:blipFill>
          <a:blip r:embed="rId3"/>
          <a:stretch>
            <a:fillRect/>
          </a:stretch>
        </p:blipFill>
        <p:spPr>
          <a:xfrm>
            <a:off x="3657600" y="2199385"/>
            <a:ext cx="2108200" cy="1621029"/>
          </a:xfrm>
          <a:prstGeom prst="rect">
            <a:avLst/>
          </a:prstGeom>
        </p:spPr>
      </p:pic>
      <p:sp>
        <p:nvSpPr>
          <p:cNvPr id="16" name="Rounded Rectangle 15"/>
          <p:cNvSpPr/>
          <p:nvPr/>
        </p:nvSpPr>
        <p:spPr>
          <a:xfrm>
            <a:off x="61722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350000" y="2123185"/>
            <a:ext cx="2260600" cy="1773429"/>
          </a:xfrm>
          <a:prstGeom prst="roundRect">
            <a:avLst>
              <a:gd name="adj" fmla="val 429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4__initial_vs_split_llama.png"/>
          <p:cNvPicPr>
            <a:picLocks noChangeAspect="1"/>
          </p:cNvPicPr>
          <p:nvPr/>
        </p:nvPicPr>
        <p:blipFill>
          <a:blip r:embed="rId4"/>
          <a:stretch>
            <a:fillRect/>
          </a:stretch>
        </p:blipFill>
        <p:spPr>
          <a:xfrm>
            <a:off x="6426200" y="2199385"/>
            <a:ext cx="2108200" cy="1621029"/>
          </a:xfrm>
          <a:prstGeom prst="rect">
            <a:avLst/>
          </a:prstGeom>
        </p:spPr>
      </p:pic>
      <p:sp>
        <p:nvSpPr>
          <p:cNvPr id="20" name="Rounded Rectangle 19"/>
          <p:cNvSpPr/>
          <p:nvPr/>
        </p:nvSpPr>
        <p:spPr>
          <a:xfrm>
            <a:off x="89408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18600" y="2123185"/>
            <a:ext cx="2260600" cy="1773429"/>
          </a:xfrm>
          <a:prstGeom prst="roundRect">
            <a:avLst>
              <a:gd name="adj" fmla="val 4296"/>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4__initial_vs_split_stability.png"/>
          <p:cNvPicPr>
            <a:picLocks noChangeAspect="1"/>
          </p:cNvPicPr>
          <p:nvPr/>
        </p:nvPicPr>
        <p:blipFill>
          <a:blip r:embed="rId5"/>
          <a:stretch>
            <a:fillRect/>
          </a:stretch>
        </p:blipFill>
        <p:spPr>
          <a:xfrm>
            <a:off x="9194800" y="2199385"/>
            <a:ext cx="2108200" cy="1621029"/>
          </a:xfrm>
          <a:prstGeom prst="rect">
            <a:avLst/>
          </a:prstGeom>
        </p:spPr>
      </p:pic>
      <p:sp>
        <p:nvSpPr>
          <p:cNvPr id="24" name="TextBox 23"/>
          <p:cNvSpPr txBox="1"/>
          <p:nvPr/>
        </p:nvSpPr>
        <p:spPr>
          <a:xfrm>
            <a:off x="635000" y="41402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Initial required-word key (2 occurrences) against the rule-sentence word alone (1 occurrence).</a:t>
            </a:r>
          </a:p>
        </p:txBody>
      </p:sp>
      <p:sp>
        <p:nvSpPr>
          <p:cNvPr id="25" name="Rounded Rectangle 24"/>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GAP BETWEEN THE TWO CURVES IS</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It is not a finding about the model. It is the size of a measurement artefact we removed.</a:t>
            </a:r>
          </a:p>
        </p:txBody>
      </p:sp>
      <p:sp>
        <p:nvSpPr>
          <p:cNvPr id="28" name="TextBox 27"/>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distance between the two curves is entirely due to counting the candidate-list occurrence alongside the rule sentence. Any claim built on the higher curve would be measuring the prompt's construction rather than the model's behaviour.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Result — instruction against code, both estimands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ratio of instruction to code attention, plotted on a log axis with the crossover marked.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70</a:t>
            </a:r>
          </a:p>
        </p:txBody>
      </p:sp>
      <p:sp>
        <p:nvSpPr>
          <p:cNvPr id="8" name="Rounded Rectangle 7"/>
          <p:cNvSpPr/>
          <p:nvPr/>
        </p:nvSpPr>
        <p:spPr>
          <a:xfrm>
            <a:off x="6350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963424" y="2120900"/>
            <a:ext cx="1959352"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4__ratio_qwen.png"/>
          <p:cNvPicPr>
            <a:picLocks noChangeAspect="1"/>
          </p:cNvPicPr>
          <p:nvPr/>
        </p:nvPicPr>
        <p:blipFill>
          <a:blip r:embed="rId2"/>
          <a:stretch>
            <a:fillRect/>
          </a:stretch>
        </p:blipFill>
        <p:spPr>
          <a:xfrm>
            <a:off x="1039624" y="2197100"/>
            <a:ext cx="1806952" cy="1308100"/>
          </a:xfrm>
          <a:prstGeom prst="rect">
            <a:avLst/>
          </a:prstGeom>
        </p:spPr>
      </p:pic>
      <p:sp>
        <p:nvSpPr>
          <p:cNvPr id="12" name="Rounded Rectangle 11"/>
          <p:cNvSpPr/>
          <p:nvPr/>
        </p:nvSpPr>
        <p:spPr>
          <a:xfrm>
            <a:off x="34036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732024" y="2120900"/>
            <a:ext cx="1959352"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4__ratio_deepseek.png"/>
          <p:cNvPicPr>
            <a:picLocks noChangeAspect="1"/>
          </p:cNvPicPr>
          <p:nvPr/>
        </p:nvPicPr>
        <p:blipFill>
          <a:blip r:embed="rId3"/>
          <a:stretch>
            <a:fillRect/>
          </a:stretch>
        </p:blipFill>
        <p:spPr>
          <a:xfrm>
            <a:off x="3808224" y="2197100"/>
            <a:ext cx="1806952" cy="1308100"/>
          </a:xfrm>
          <a:prstGeom prst="rect">
            <a:avLst/>
          </a:prstGeom>
        </p:spPr>
      </p:pic>
      <p:sp>
        <p:nvSpPr>
          <p:cNvPr id="16" name="Rounded Rectangle 15"/>
          <p:cNvSpPr/>
          <p:nvPr/>
        </p:nvSpPr>
        <p:spPr>
          <a:xfrm>
            <a:off x="61722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500624" y="2120900"/>
            <a:ext cx="1959352"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4__ratio_llama.png"/>
          <p:cNvPicPr>
            <a:picLocks noChangeAspect="1"/>
          </p:cNvPicPr>
          <p:nvPr/>
        </p:nvPicPr>
        <p:blipFill>
          <a:blip r:embed="rId4"/>
          <a:stretch>
            <a:fillRect/>
          </a:stretch>
        </p:blipFill>
        <p:spPr>
          <a:xfrm>
            <a:off x="6576824" y="2197100"/>
            <a:ext cx="1806952" cy="1308100"/>
          </a:xfrm>
          <a:prstGeom prst="rect">
            <a:avLst/>
          </a:prstGeom>
        </p:spPr>
      </p:pic>
      <p:sp>
        <p:nvSpPr>
          <p:cNvPr id="20" name="Rounded Rectangle 19"/>
          <p:cNvSpPr/>
          <p:nvPr/>
        </p:nvSpPr>
        <p:spPr>
          <a:xfrm>
            <a:off x="89408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269224" y="2120900"/>
            <a:ext cx="1959352"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4__ratio_stability.png"/>
          <p:cNvPicPr>
            <a:picLocks noChangeAspect="1"/>
          </p:cNvPicPr>
          <p:nvPr/>
        </p:nvPicPr>
        <p:blipFill>
          <a:blip r:embed="rId5"/>
          <a:stretch>
            <a:fillRect/>
          </a:stretch>
        </p:blipFill>
        <p:spPr>
          <a:xfrm>
            <a:off x="9345424" y="2197100"/>
            <a:ext cx="1806952" cy="1308100"/>
          </a:xfrm>
          <a:prstGeom prst="rect">
            <a:avLst/>
          </a:prstGeom>
        </p:spPr>
      </p:pic>
      <p:sp>
        <p:nvSpPr>
          <p:cNvPr id="24" name="TextBox 23"/>
          <p:cNvSpPr txBox="1"/>
          <p:nvPr/>
        </p:nvSpPr>
        <p:spPr>
          <a:xfrm>
            <a:off x="635000" y="38227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Rule word divided by compliant code names. Above 1.0 the instruction leads.</a:t>
            </a:r>
          </a:p>
        </p:txBody>
      </p:sp>
      <p:sp>
        <p:nvSpPr>
          <p:cNvPr id="25" name="Rounded Rectangle 24"/>
          <p:cNvSpPr/>
          <p:nvPr/>
        </p:nvSpPr>
        <p:spPr>
          <a:xfrm>
            <a:off x="635000" y="4127500"/>
            <a:ext cx="10922000" cy="2127250"/>
          </a:xfrm>
          <a:prstGeom prst="roundRect">
            <a:avLst>
              <a:gd name="adj" fmla="val 358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305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MANY LAYERS PUT THE INSTRUCTION AHEAD</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two estimands straddle 1.0 — which is why neither is presented as the answer on its own.</a:t>
            </a:r>
          </a:p>
        </p:txBody>
      </p:sp>
      <p:sp>
        <p:nvSpPr>
          <p:cNvPr id="28" name="TextBox 27"/>
          <p:cNvSpPr txBox="1"/>
          <p:nvPr/>
        </p:nvSpPr>
        <p:spPr>
          <a:xfrm>
            <a:off x="812800" y="4559300"/>
            <a:ext cx="31699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29" name="TextBox 28"/>
          <p:cNvSpPr txBox="1"/>
          <p:nvPr/>
        </p:nvSpPr>
        <p:spPr>
          <a:xfrm>
            <a:off x="3982720" y="4559300"/>
            <a:ext cx="1479296"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LAYERS</a:t>
            </a:r>
          </a:p>
        </p:txBody>
      </p:sp>
      <p:sp>
        <p:nvSpPr>
          <p:cNvPr id="30" name="TextBox 29"/>
          <p:cNvSpPr txBox="1"/>
          <p:nvPr/>
        </p:nvSpPr>
        <p:spPr>
          <a:xfrm>
            <a:off x="5462016" y="4559300"/>
            <a:ext cx="295859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INSTRUCTION AHEAD · PER TOKEN</a:t>
            </a:r>
          </a:p>
        </p:txBody>
      </p:sp>
      <p:sp>
        <p:nvSpPr>
          <p:cNvPr id="31" name="TextBox 30"/>
          <p:cNvSpPr txBox="1"/>
          <p:nvPr/>
        </p:nvSpPr>
        <p:spPr>
          <a:xfrm>
            <a:off x="8420608" y="4559300"/>
            <a:ext cx="295859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INSTRUCTION AHEAD · SPAN SUM</a:t>
            </a:r>
          </a:p>
        </p:txBody>
      </p:sp>
      <p:sp>
        <p:nvSpPr>
          <p:cNvPr id="32" name="Rectangle 31"/>
          <p:cNvSpPr/>
          <p:nvPr/>
        </p:nvSpPr>
        <p:spPr>
          <a:xfrm>
            <a:off x="812800" y="47117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2800" y="4813300"/>
            <a:ext cx="300482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Qwen2.5-Coder-3B</a:t>
            </a:r>
          </a:p>
        </p:txBody>
      </p:sp>
      <p:sp>
        <p:nvSpPr>
          <p:cNvPr id="34" name="TextBox 33"/>
          <p:cNvSpPr txBox="1"/>
          <p:nvPr/>
        </p:nvSpPr>
        <p:spPr>
          <a:xfrm>
            <a:off x="3982720" y="4813300"/>
            <a:ext cx="1314196"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36</a:t>
            </a:r>
          </a:p>
        </p:txBody>
      </p:sp>
      <p:sp>
        <p:nvSpPr>
          <p:cNvPr id="35" name="TextBox 34"/>
          <p:cNvSpPr txBox="1"/>
          <p:nvPr/>
        </p:nvSpPr>
        <p:spPr>
          <a:xfrm>
            <a:off x="5462016" y="4813300"/>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19 layers</a:t>
            </a:r>
          </a:p>
        </p:txBody>
      </p:sp>
      <p:sp>
        <p:nvSpPr>
          <p:cNvPr id="36" name="TextBox 35"/>
          <p:cNvSpPr txBox="1"/>
          <p:nvPr/>
        </p:nvSpPr>
        <p:spPr>
          <a:xfrm>
            <a:off x="8420608" y="4813300"/>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5 layers</a:t>
            </a:r>
          </a:p>
        </p:txBody>
      </p:sp>
      <p:sp>
        <p:nvSpPr>
          <p:cNvPr id="37" name="Rectangle 36"/>
          <p:cNvSpPr/>
          <p:nvPr/>
        </p:nvSpPr>
        <p:spPr>
          <a:xfrm>
            <a:off x="812800" y="5000966"/>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2800" y="5064466"/>
            <a:ext cx="300482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DeepSeek-Coder-6.7B</a:t>
            </a:r>
          </a:p>
        </p:txBody>
      </p:sp>
      <p:sp>
        <p:nvSpPr>
          <p:cNvPr id="39" name="TextBox 38"/>
          <p:cNvSpPr txBox="1"/>
          <p:nvPr/>
        </p:nvSpPr>
        <p:spPr>
          <a:xfrm>
            <a:off x="3982720" y="5064466"/>
            <a:ext cx="1314196"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32</a:t>
            </a:r>
          </a:p>
        </p:txBody>
      </p:sp>
      <p:sp>
        <p:nvSpPr>
          <p:cNvPr id="40" name="TextBox 39"/>
          <p:cNvSpPr txBox="1"/>
          <p:nvPr/>
        </p:nvSpPr>
        <p:spPr>
          <a:xfrm>
            <a:off x="5462016" y="5064466"/>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24 layers</a:t>
            </a:r>
          </a:p>
        </p:txBody>
      </p:sp>
      <p:sp>
        <p:nvSpPr>
          <p:cNvPr id="41" name="TextBox 40"/>
          <p:cNvSpPr txBox="1"/>
          <p:nvPr/>
        </p:nvSpPr>
        <p:spPr>
          <a:xfrm>
            <a:off x="8420608" y="5064466"/>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6 layers</a:t>
            </a:r>
          </a:p>
        </p:txBody>
      </p:sp>
      <p:sp>
        <p:nvSpPr>
          <p:cNvPr id="42" name="Rectangle 41"/>
          <p:cNvSpPr/>
          <p:nvPr/>
        </p:nvSpPr>
        <p:spPr>
          <a:xfrm>
            <a:off x="812800" y="525213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2800" y="5315633"/>
            <a:ext cx="300482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Llama-3.2-3B</a:t>
            </a:r>
          </a:p>
        </p:txBody>
      </p:sp>
      <p:sp>
        <p:nvSpPr>
          <p:cNvPr id="44" name="TextBox 43"/>
          <p:cNvSpPr txBox="1"/>
          <p:nvPr/>
        </p:nvSpPr>
        <p:spPr>
          <a:xfrm>
            <a:off x="3982720" y="5315633"/>
            <a:ext cx="1314196"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28</a:t>
            </a:r>
          </a:p>
        </p:txBody>
      </p:sp>
      <p:sp>
        <p:nvSpPr>
          <p:cNvPr id="45" name="TextBox 44"/>
          <p:cNvSpPr txBox="1"/>
          <p:nvPr/>
        </p:nvSpPr>
        <p:spPr>
          <a:xfrm>
            <a:off x="5462016" y="5315633"/>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11 layers</a:t>
            </a:r>
          </a:p>
        </p:txBody>
      </p:sp>
      <p:sp>
        <p:nvSpPr>
          <p:cNvPr id="46" name="TextBox 45"/>
          <p:cNvSpPr txBox="1"/>
          <p:nvPr/>
        </p:nvSpPr>
        <p:spPr>
          <a:xfrm>
            <a:off x="8420608" y="5315633"/>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 layers</a:t>
            </a:r>
          </a:p>
        </p:txBody>
      </p:sp>
      <p:sp>
        <p:nvSpPr>
          <p:cNvPr id="47" name="Rectangle 46"/>
          <p:cNvSpPr/>
          <p:nvPr/>
        </p:nvSpPr>
        <p:spPr>
          <a:xfrm>
            <a:off x="812800" y="5503299"/>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2800" y="5566799"/>
            <a:ext cx="3004820"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StableCode-3B</a:t>
            </a:r>
          </a:p>
        </p:txBody>
      </p:sp>
      <p:sp>
        <p:nvSpPr>
          <p:cNvPr id="49" name="TextBox 48"/>
          <p:cNvSpPr txBox="1"/>
          <p:nvPr/>
        </p:nvSpPr>
        <p:spPr>
          <a:xfrm>
            <a:off x="3982720" y="5566799"/>
            <a:ext cx="1314196"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32</a:t>
            </a:r>
          </a:p>
        </p:txBody>
      </p:sp>
      <p:sp>
        <p:nvSpPr>
          <p:cNvPr id="50" name="TextBox 49"/>
          <p:cNvSpPr txBox="1"/>
          <p:nvPr/>
        </p:nvSpPr>
        <p:spPr>
          <a:xfrm>
            <a:off x="5462016" y="5566799"/>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21 layers</a:t>
            </a:r>
          </a:p>
        </p:txBody>
      </p:sp>
      <p:sp>
        <p:nvSpPr>
          <p:cNvPr id="51" name="TextBox 50"/>
          <p:cNvSpPr txBox="1"/>
          <p:nvPr/>
        </p:nvSpPr>
        <p:spPr>
          <a:xfrm>
            <a:off x="8420608" y="5566799"/>
            <a:ext cx="279349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1 layers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Result — observation peaks against causal peaks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Where the instruction is most attended, set beside where the code signal was shown to act.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71</a:t>
            </a:r>
          </a:p>
        </p:txBody>
      </p:sp>
      <p:sp>
        <p:nvSpPr>
          <p:cNvPr id="8" name="Rounded Rectangle 7"/>
          <p:cNvSpPr/>
          <p:nvPr/>
        </p:nvSpPr>
        <p:spPr>
          <a:xfrm>
            <a:off x="6350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812800" y="2205099"/>
            <a:ext cx="2260600" cy="1609602"/>
          </a:xfrm>
          <a:prstGeom prst="roundRect">
            <a:avLst>
              <a:gd name="adj" fmla="val 4734"/>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4__layer_alignment_qwen.png"/>
          <p:cNvPicPr>
            <a:picLocks noChangeAspect="1"/>
          </p:cNvPicPr>
          <p:nvPr/>
        </p:nvPicPr>
        <p:blipFill>
          <a:blip r:embed="rId2"/>
          <a:stretch>
            <a:fillRect/>
          </a:stretch>
        </p:blipFill>
        <p:spPr>
          <a:xfrm>
            <a:off x="889000" y="2281299"/>
            <a:ext cx="2108200" cy="1457202"/>
          </a:xfrm>
          <a:prstGeom prst="rect">
            <a:avLst/>
          </a:prstGeom>
        </p:spPr>
      </p:pic>
      <p:sp>
        <p:nvSpPr>
          <p:cNvPr id="12" name="Rounded Rectangle 11"/>
          <p:cNvSpPr/>
          <p:nvPr/>
        </p:nvSpPr>
        <p:spPr>
          <a:xfrm>
            <a:off x="34036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581400" y="2205099"/>
            <a:ext cx="2260600" cy="1609602"/>
          </a:xfrm>
          <a:prstGeom prst="roundRect">
            <a:avLst>
              <a:gd name="adj" fmla="val 4734"/>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4__layer_alignment_deepseek.png"/>
          <p:cNvPicPr>
            <a:picLocks noChangeAspect="1"/>
          </p:cNvPicPr>
          <p:nvPr/>
        </p:nvPicPr>
        <p:blipFill>
          <a:blip r:embed="rId3"/>
          <a:stretch>
            <a:fillRect/>
          </a:stretch>
        </p:blipFill>
        <p:spPr>
          <a:xfrm>
            <a:off x="3657600" y="2281299"/>
            <a:ext cx="2108200" cy="1457202"/>
          </a:xfrm>
          <a:prstGeom prst="rect">
            <a:avLst/>
          </a:prstGeom>
        </p:spPr>
      </p:pic>
      <p:sp>
        <p:nvSpPr>
          <p:cNvPr id="16" name="Rounded Rectangle 15"/>
          <p:cNvSpPr/>
          <p:nvPr/>
        </p:nvSpPr>
        <p:spPr>
          <a:xfrm>
            <a:off x="61722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350000" y="2205099"/>
            <a:ext cx="2260600" cy="1609602"/>
          </a:xfrm>
          <a:prstGeom prst="roundRect">
            <a:avLst>
              <a:gd name="adj" fmla="val 4734"/>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4__layer_alignment_llama.png"/>
          <p:cNvPicPr>
            <a:picLocks noChangeAspect="1"/>
          </p:cNvPicPr>
          <p:nvPr/>
        </p:nvPicPr>
        <p:blipFill>
          <a:blip r:embed="rId4"/>
          <a:stretch>
            <a:fillRect/>
          </a:stretch>
        </p:blipFill>
        <p:spPr>
          <a:xfrm>
            <a:off x="6426200" y="2281299"/>
            <a:ext cx="2108200" cy="1457202"/>
          </a:xfrm>
          <a:prstGeom prst="rect">
            <a:avLst/>
          </a:prstGeom>
        </p:spPr>
      </p:pic>
      <p:sp>
        <p:nvSpPr>
          <p:cNvPr id="20" name="Rounded Rectangle 19"/>
          <p:cNvSpPr/>
          <p:nvPr/>
        </p:nvSpPr>
        <p:spPr>
          <a:xfrm>
            <a:off x="8940800" y="1752600"/>
            <a:ext cx="2616200" cy="2324100"/>
          </a:xfrm>
          <a:prstGeom prst="roundRect">
            <a:avLst>
              <a:gd name="adj" fmla="val 327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118600" y="2205099"/>
            <a:ext cx="2260600" cy="1609602"/>
          </a:xfrm>
          <a:prstGeom prst="roundRect">
            <a:avLst>
              <a:gd name="adj" fmla="val 4734"/>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4__layer_alignment_stability.png"/>
          <p:cNvPicPr>
            <a:picLocks noChangeAspect="1"/>
          </p:cNvPicPr>
          <p:nvPr/>
        </p:nvPicPr>
        <p:blipFill>
          <a:blip r:embed="rId5"/>
          <a:stretch>
            <a:fillRect/>
          </a:stretch>
        </p:blipFill>
        <p:spPr>
          <a:xfrm>
            <a:off x="9194800" y="2281299"/>
            <a:ext cx="2108200" cy="1457202"/>
          </a:xfrm>
          <a:prstGeom prst="rect">
            <a:avLst/>
          </a:prstGeom>
        </p:spPr>
      </p:pic>
      <p:sp>
        <p:nvSpPr>
          <p:cNvPr id="24" name="TextBox 23"/>
          <p:cNvSpPr txBox="1"/>
          <p:nvPr/>
        </p:nvSpPr>
        <p:spPr>
          <a:xfrm>
            <a:off x="635000" y="41402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Observation peak (this step) and causal peak (step 3) on one axis.</a:t>
            </a:r>
          </a:p>
        </p:txBody>
      </p:sp>
      <p:sp>
        <p:nvSpPr>
          <p:cNvPr id="25" name="Rounded Rectangle 24"/>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ALIGNMENT WOULD AND WOULD NOT SHOW</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Alignment is suggestive, not causal. The instruction's own causal test is step 5, which is not in this deck yet.</a:t>
            </a:r>
          </a:p>
        </p:txBody>
      </p:sp>
      <p:sp>
        <p:nvSpPr>
          <p:cNvPr id="28" name="TextBox 27"/>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the two peaks coincided, that would be consistent with a single late-layer mechanism handling both signals. It would not establish it: only an intervention on the instruction can do that, and that is precisely the step still waiting on its control sweep.</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Determinism, and what is not settled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overlap with step 2 gives a free reproducibility check; the rest of the limits carry forward.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72</a:t>
            </a:r>
          </a:p>
        </p:txBody>
      </p:sp>
      <p:sp>
        <p:nvSpPr>
          <p:cNvPr id="8" name="Rounded Rectangle 7"/>
          <p:cNvSpPr/>
          <p:nvPr/>
        </p:nvSpPr>
        <p:spPr>
          <a:xfrm>
            <a:off x="635000" y="1752600"/>
            <a:ext cx="5715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35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OVERLAP CHECK</a:t>
            </a:r>
          </a:p>
        </p:txBody>
      </p:sp>
      <p:sp>
        <p:nvSpPr>
          <p:cNvPr id="10" name="TextBox 9"/>
          <p:cNvSpPr txBox="1"/>
          <p:nvPr/>
        </p:nvSpPr>
        <p:spPr>
          <a:xfrm>
            <a:off x="812800" y="3906615"/>
            <a:ext cx="5359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Step 2's 168 conditions are a subset of step 4's.</a:t>
            </a:r>
          </a:p>
        </p:txBody>
      </p:sp>
      <p:sp>
        <p:nvSpPr>
          <p:cNvPr id="11" name="TextBox 10"/>
          <p:cNvSpPr txBox="1"/>
          <p:nvPr/>
        </p:nvSpPr>
        <p:spPr>
          <a:xfrm>
            <a:off x="812800" y="2120900"/>
            <a:ext cx="2308225" cy="2667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Overlapping conditions</a:t>
            </a:r>
          </a:p>
        </p:txBody>
      </p:sp>
      <p:sp>
        <p:nvSpPr>
          <p:cNvPr id="12" name="TextBox 11"/>
          <p:cNvSpPr txBox="1"/>
          <p:nvPr/>
        </p:nvSpPr>
        <p:spPr>
          <a:xfrm>
            <a:off x="3121025" y="2120900"/>
            <a:ext cx="3051175" cy="2667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168</a:t>
            </a:r>
          </a:p>
        </p:txBody>
      </p:sp>
      <p:sp>
        <p:nvSpPr>
          <p:cNvPr id="13" name="TextBox 12"/>
          <p:cNvSpPr txBox="1"/>
          <p:nvPr/>
        </p:nvSpPr>
        <p:spPr>
          <a:xfrm>
            <a:off x="812800" y="2387600"/>
            <a:ext cx="2308225" cy="2667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Values compared across all layers</a:t>
            </a:r>
          </a:p>
        </p:txBody>
      </p:sp>
      <p:sp>
        <p:nvSpPr>
          <p:cNvPr id="14" name="TextBox 13"/>
          <p:cNvSpPr txBox="1"/>
          <p:nvPr/>
        </p:nvSpPr>
        <p:spPr>
          <a:xfrm>
            <a:off x="3121025" y="2387600"/>
            <a:ext cx="3051175" cy="2667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80,640</a:t>
            </a:r>
          </a:p>
        </p:txBody>
      </p:sp>
      <p:sp>
        <p:nvSpPr>
          <p:cNvPr id="15" name="TextBox 14"/>
          <p:cNvSpPr txBox="1"/>
          <p:nvPr/>
        </p:nvSpPr>
        <p:spPr>
          <a:xfrm>
            <a:off x="812800" y="2654300"/>
            <a:ext cx="2308225" cy="2667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Mismatches</a:t>
            </a:r>
          </a:p>
        </p:txBody>
      </p:sp>
      <p:sp>
        <p:nvSpPr>
          <p:cNvPr id="16" name="TextBox 15"/>
          <p:cNvSpPr txBox="1"/>
          <p:nvPr/>
        </p:nvSpPr>
        <p:spPr>
          <a:xfrm>
            <a:off x="3121025" y="2654300"/>
            <a:ext cx="3051175" cy="2667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0</a:t>
            </a:r>
          </a:p>
        </p:txBody>
      </p:sp>
      <p:sp>
        <p:nvSpPr>
          <p:cNvPr id="17" name="TextBox 16"/>
          <p:cNvSpPr txBox="1"/>
          <p:nvPr/>
        </p:nvSpPr>
        <p:spPr>
          <a:xfrm>
            <a:off x="812800" y="2921000"/>
            <a:ext cx="2308225" cy="2667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Maximum absolute difference</a:t>
            </a:r>
          </a:p>
        </p:txBody>
      </p:sp>
      <p:sp>
        <p:nvSpPr>
          <p:cNvPr id="18" name="TextBox 17"/>
          <p:cNvSpPr txBox="1"/>
          <p:nvPr/>
        </p:nvSpPr>
        <p:spPr>
          <a:xfrm>
            <a:off x="3121025" y="2921000"/>
            <a:ext cx="3051175" cy="2667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0.000e+00</a:t>
            </a:r>
          </a:p>
        </p:txBody>
      </p:sp>
      <p:sp>
        <p:nvSpPr>
          <p:cNvPr id="19" name="Rounded Rectangle 18"/>
          <p:cNvSpPr/>
          <p:nvPr/>
        </p:nvSpPr>
        <p:spPr>
          <a:xfrm>
            <a:off x="6502400" y="1752600"/>
            <a:ext cx="50546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80200" y="1930400"/>
            <a:ext cx="469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LIMITS</a:t>
            </a:r>
          </a:p>
        </p:txBody>
      </p:sp>
      <p:sp>
        <p:nvSpPr>
          <p:cNvPr id="21" name="TextBox 20"/>
          <p:cNvSpPr txBox="1"/>
          <p:nvPr/>
        </p:nvSpPr>
        <p:spPr>
          <a:xfrm>
            <a:off x="6680200" y="2120900"/>
            <a:ext cx="4699000" cy="1231900"/>
          </a:xfrm>
          <a:prstGeom prst="rect">
            <a:avLst/>
          </a:prstGeom>
          <a:noFill/>
        </p:spPr>
        <p:txBody>
          <a:bodyPr wrap="square" lIns="0" rIns="0" tIns="0" bIns="0">
            <a:spAutoFit/>
          </a:bodyPr>
          <a:lstStyle/>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Not causal:</a:t>
            </a:r>
            <a:r>
              <a:rPr sz="1050" b="0">
                <a:solidFill>
                  <a:srgbClr val="B9B9B9"/>
                </a:solidFill>
                <a:latin typeface="Inter"/>
                <a:cs typeface="Inter"/>
                <a:ea typeface="Inter"/>
              </a:rPr>
              <a:t> attention is observed; the instruction's causal test is step 5</a:t>
            </a:r>
          </a:p>
          <a:p>
            <a:pPr marL="797433" indent="-79743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Estimand-dependent:</a:t>
            </a:r>
            <a:r>
              <a:rPr sz="1050" b="0">
                <a:solidFill>
                  <a:srgbClr val="B9B9B9"/>
                </a:solidFill>
                <a:latin typeface="Inter"/>
                <a:cs typeface="Inter"/>
                <a:ea typeface="Inter"/>
              </a:rPr>
              <a:t> the instruction-versus-code comparison changes with the summary used</a:t>
            </a:r>
          </a:p>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Head-averaged:</a:t>
            </a:r>
            <a:r>
              <a:rPr sz="1050" b="0">
                <a:solidFill>
                  <a:srgbClr val="B9B9B9"/>
                </a:solidFill>
                <a:latin typeface="Inter"/>
                <a:cs typeface="Inter"/>
                <a:ea typeface="Inter"/>
              </a:rPr>
              <a:t> as in step 2, claims are at the layer level</a:t>
            </a:r>
          </a:p>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One phrasing:</a:t>
            </a:r>
            <a:r>
              <a:rPr sz="1050" b="0">
                <a:solidFill>
                  <a:srgbClr val="B9B9B9"/>
                </a:solidFill>
                <a:latin typeface="Inter"/>
                <a:cs typeface="Inter"/>
                <a:ea typeface="Inter"/>
              </a:rPr>
              <a:t> positive form, weak strength — other phrasings are untested</a:t>
            </a:r>
          </a:p>
        </p:txBody>
      </p:sp>
      <p:sp>
        <p:nvSpPr>
          <p:cNvPr id="22" name="Rounded Rectangle 21"/>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STEP 4 DOES LICENSE</a:t>
            </a:r>
          </a:p>
        </p:txBody>
      </p:sp>
      <p:sp>
        <p:nvSpPr>
          <p:cNvPr id="24" name="TextBox 2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Enough to rule out the strongest form of the attention-deficit account, and not more.</a:t>
            </a:r>
          </a:p>
        </p:txBody>
      </p:sp>
      <p:sp>
        <p:nvSpPr>
          <p:cNvPr id="25" name="TextBox 24"/>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instruction is not being ignored: per token it is among the most attended material in the prompt across most layers, in both directions. Whether that attention is what drives behaviour is a separate question this step deliberately does not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4 · Reading the result file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Eight span keys, three of which are role-separated and two of which are kept only for continuity.</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73</a:t>
            </a:r>
          </a:p>
        </p:txBody>
      </p:sp>
      <p:sp>
        <p:nvSpPr>
          <p:cNvPr id="8" name="Rounded Rectangle 7"/>
          <p:cNvSpPr/>
          <p:nvPr/>
        </p:nvSpPr>
        <p:spPr>
          <a:xfrm>
            <a:off x="635000" y="1752600"/>
            <a:ext cx="7493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RESULTS/STEP4_INSTR-OBSERVE/&lt;SLUG&gt;.JSON</a:t>
            </a:r>
          </a:p>
        </p:txBody>
      </p:sp>
      <p:sp>
        <p:nvSpPr>
          <p:cNvPr id="10" name="Rounded Rectangle 9"/>
          <p:cNvSpPr/>
          <p:nvPr/>
        </p:nvSpPr>
        <p:spPr>
          <a:xfrm>
            <a:off x="812800" y="2120900"/>
            <a:ext cx="7137400" cy="2438400"/>
          </a:xfrm>
          <a:prstGeom prst="roundRect">
            <a:avLst>
              <a:gd name="adj" fmla="val 1562"/>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"per_layer": { "27": {</a:t>
            </a:r>
          </a:p>
        </p:txBody>
      </p:sp>
      <p:sp>
        <p:nvSpPr>
          <p:cNvPr id="12" name="TextBox 11"/>
          <p:cNvSpPr txBox="1"/>
          <p:nvPr/>
        </p:nvSpPr>
        <p:spPr>
          <a:xfrm>
            <a:off x="927100" y="2375535"/>
            <a:ext cx="6908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"instr_rule_word__attention_weight":  0.0121,   # interpret this one</a:t>
            </a:r>
          </a:p>
        </p:txBody>
      </p:sp>
      <p:sp>
        <p:nvSpPr>
          <p:cNvPr id="13" name="TextBox 12"/>
          <p:cNvSpPr txBox="1"/>
          <p:nvPr/>
        </p:nvSpPr>
        <p:spPr>
          <a:xfrm>
            <a:off x="927100" y="254127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"instr_cand_camel__attention_weight": 0.0043,   # symmetric control</a:t>
            </a:r>
          </a:p>
        </p:txBody>
      </p:sp>
      <p:sp>
        <p:nvSpPr>
          <p:cNvPr id="14" name="TextBox 13"/>
          <p:cNvSpPr txBox="1"/>
          <p:nvPr/>
        </p:nvSpPr>
        <p:spPr>
          <a:xfrm>
            <a:off x="927100" y="270700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"instr_cand_snake__attention_weight": 0.0041,   # symmetric control</a:t>
            </a:r>
          </a:p>
        </p:txBody>
      </p:sp>
      <p:sp>
        <p:nvSpPr>
          <p:cNvPr id="15" name="TextBox 14"/>
          <p:cNvSpPr txBox="1"/>
          <p:nvPr/>
        </p:nvSpPr>
        <p:spPr>
          <a:xfrm>
            <a:off x="927100" y="287274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"instr_target_word__attention_weight":0.0164,   # initial key, inflated</a:t>
            </a:r>
          </a:p>
        </p:txBody>
      </p:sp>
      <p:sp>
        <p:nvSpPr>
          <p:cNvPr id="16" name="TextBox 15"/>
          <p:cNvSpPr txBox="1"/>
          <p:nvPr/>
        </p:nvSpPr>
        <p:spPr>
          <a:xfrm>
            <a:off x="927100" y="303847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"instr_viol_word__attention_weight":  0.0041,   # initial key</a:t>
            </a:r>
          </a:p>
        </p:txBody>
      </p:sp>
      <p:sp>
        <p:nvSpPr>
          <p:cNvPr id="17" name="TextBox 16"/>
          <p:cNvSpPr txBox="1"/>
          <p:nvPr/>
        </p:nvSpPr>
        <p:spPr>
          <a:xfrm>
            <a:off x="927100" y="320421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"instruction__attention_weight":      0.0312,</a:t>
            </a:r>
          </a:p>
        </p:txBody>
      </p:sp>
      <p:sp>
        <p:nvSpPr>
          <p:cNvPr id="18" name="TextBox 17"/>
          <p:cNvSpPr txBox="1"/>
          <p:nvPr/>
        </p:nvSpPr>
        <p:spPr>
          <a:xfrm>
            <a:off x="927100" y="336994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"code_camel__attention_weight":       0.0184,</a:t>
            </a:r>
          </a:p>
        </p:txBody>
      </p:sp>
      <p:sp>
        <p:nvSpPr>
          <p:cNvPr id="19" name="TextBox 18"/>
          <p:cNvSpPr txBox="1"/>
          <p:nvPr/>
        </p:nvSpPr>
        <p:spPr>
          <a:xfrm>
            <a:off x="927100" y="353568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"code_snake__attention_weight":       0.0231 } },</a:t>
            </a:r>
          </a:p>
        </p:txBody>
      </p:sp>
      <p:sp>
        <p:nvSpPr>
          <p:cNvPr id="20" name="TextBox 19"/>
          <p:cNvSpPr txBox="1"/>
          <p:nvPr/>
        </p:nvSpPr>
        <p:spPr>
          <a:xfrm>
            <a:off x="927100" y="3701415"/>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"extra": { "span_token_counts": {…, "instr_rule_word": 2,</a:t>
            </a:r>
          </a:p>
        </p:txBody>
      </p:sp>
      <p:sp>
        <p:nvSpPr>
          <p:cNvPr id="21" name="TextBox 20"/>
          <p:cNvSpPr txBox="1"/>
          <p:nvPr/>
        </p:nvSpPr>
        <p:spPr>
          <a:xfrm>
            <a:off x="927100" y="3867150"/>
            <a:ext cx="6908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"instr_cand_camel": 2, "instr_cand_snake": 2}, … }</a:t>
            </a:r>
          </a:p>
        </p:txBody>
      </p:sp>
      <p:sp>
        <p:nvSpPr>
          <p:cNvPr id="22" name="Rounded Rectangle 21"/>
          <p:cNvSpPr/>
          <p:nvPr/>
        </p:nvSpPr>
        <p:spPr>
          <a:xfrm>
            <a:off x="8280400" y="1752600"/>
            <a:ext cx="3276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READING ORDER</a:t>
            </a:r>
          </a:p>
        </p:txBody>
      </p:sp>
      <p:sp>
        <p:nvSpPr>
          <p:cNvPr id="24" name="TextBox 23"/>
          <p:cNvSpPr txBox="1"/>
          <p:nvPr/>
        </p:nvSpPr>
        <p:spPr>
          <a:xfrm>
            <a:off x="8458200" y="2120900"/>
            <a:ext cx="2921000" cy="939800"/>
          </a:xfrm>
          <a:prstGeom prst="rect">
            <a:avLst/>
          </a:prstGeom>
          <a:noFill/>
        </p:spPr>
        <p:txBody>
          <a:bodyPr wrap="square" lIns="0" rIns="0" tIns="0" bIns="0">
            <a:spAutoFit/>
          </a:bodyPr>
          <a:lstStyle/>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First:</a:t>
            </a:r>
            <a:r>
              <a:rPr sz="1050" b="0">
                <a:solidFill>
                  <a:srgbClr val="B9B9B9"/>
                </a:solidFill>
                <a:latin typeface="Inter"/>
                <a:cs typeface="Inter"/>
                <a:ea typeface="Inter"/>
              </a:rPr>
              <a:t> span_token_counts — if two spans differ in token count, do not compare their sums</a:t>
            </a:r>
          </a:p>
          <a:p>
            <a:pPr marL="277368" indent="-27736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Use:</a:t>
            </a:r>
            <a:r>
              <a:rPr sz="1050" b="0">
                <a:solidFill>
                  <a:srgbClr val="B9B9B9"/>
                </a:solidFill>
                <a:latin typeface="Inter"/>
                <a:cs typeface="Inter"/>
                <a:ea typeface="Inter"/>
              </a:rPr>
              <a:t> instr_rule_word; instr_target_word counts two occurrences and is inflated by construction</a:t>
            </a:r>
          </a:p>
          <a:p>
            <a:pPr marL="416052" indent="-41605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Careful:</a:t>
            </a:r>
            <a:r>
              <a:rPr sz="1050" b="0">
                <a:solidFill>
                  <a:srgbClr val="B9B9B9"/>
                </a:solidFill>
                <a:latin typeface="Inter"/>
                <a:cs typeface="Inter"/>
                <a:ea typeface="Inter"/>
              </a:rPr>
              <a:t> the candidate-list keys are role-symmetric, but token counts match only on Qwen and Llama, so read them per token</a:t>
            </a:r>
          </a:p>
        </p:txBody>
      </p:sp>
      <p:sp>
        <p:nvSpPr>
          <p:cNvPr id="25" name="Rounded Rectangle 24"/>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AGGREGATION</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same script as step 2, pointed at this step's folder — one estimand comparison, one code path.</a:t>
            </a:r>
          </a:p>
        </p:txBody>
      </p:sp>
      <p:sp>
        <p:nvSpPr>
          <p:cNvPr id="28" name="Rounded Rectangle 27"/>
          <p:cNvSpPr/>
          <p:nvPr/>
        </p:nvSpPr>
        <p:spPr>
          <a:xfrm>
            <a:off x="812800" y="5257800"/>
            <a:ext cx="10566400" cy="534765"/>
          </a:xfrm>
          <a:prstGeom prst="roundRect">
            <a:avLst>
              <a:gd name="adj" fmla="val 712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7100" y="5346700"/>
            <a:ext cx="10337800" cy="184150"/>
          </a:xfrm>
          <a:prstGeom prst="rect">
            <a:avLst/>
          </a:prstGeom>
          <a:noFill/>
        </p:spPr>
        <p:txBody>
          <a:bodyPr wrap="square" lIns="0" rIns="0" tIns="0" bIns="0" anchor="t">
            <a:spAutoFit/>
          </a:bodyPr>
          <a:lstStyle/>
          <a:p>
            <a:pPr algn="l"/>
            <a:r>
              <a:rPr sz="1000" b="0">
                <a:solidFill>
                  <a:srgbClr val="B9B9B9"/>
                </a:solidFill>
                <a:latin typeface="IBM Plex Mono"/>
                <a:cs typeface="IBM Plex Mono"/>
                <a:ea typeface="IBM Plex Mono"/>
              </a:rPr>
              <a:t>python scripts/observe_per_token.py results/step4_instr-observe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Diagnostic · Is the instrument fair to both roads?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If mean-pool substitution damages Keys more than Values, the central result could be an artefact of the method.</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74</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PREMISE BEING CHECKED</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This is a check on the instrument, run on the same conditions as the experiment it checks.</a:t>
            </a:r>
          </a:p>
        </p:txBody>
      </p:sp>
      <p:pic>
        <p:nvPicPr>
          <p:cNvPr id="11" name="Picture 10" descr="d_design.png"/>
          <p:cNvPicPr>
            <a:picLocks noChangeAspect="1"/>
          </p:cNvPicPr>
          <p:nvPr/>
        </p:nvPicPr>
        <p:blipFill>
          <a:blip r:embed="rId2"/>
          <a:stretch>
            <a:fillRect/>
          </a:stretch>
        </p:blipFill>
        <p:spPr>
          <a:xfrm>
            <a:off x="812800" y="2120900"/>
            <a:ext cx="4274814" cy="1709515"/>
          </a:xfrm>
          <a:prstGeom prst="rect">
            <a:avLst/>
          </a:prstGeom>
        </p:spPr>
      </p:pic>
      <p:sp>
        <p:nvSpPr>
          <p:cNvPr id="12" name="Rounded Rectangle 11"/>
          <p:cNvSpPr/>
          <p:nvPr/>
        </p:nvSpPr>
        <p:spPr>
          <a:xfrm>
            <a:off x="635000" y="4445000"/>
            <a:ext cx="10922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IS NOT OPTIONAL</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null result on the Key road is only informative if the Key road was given a fair chance.</a:t>
            </a:r>
          </a:p>
        </p:txBody>
      </p:sp>
      <p:sp>
        <p:nvSpPr>
          <p:cNvPr id="15" name="TextBox 14"/>
          <p:cNvSpPr txBox="1"/>
          <p:nvPr/>
        </p:nvSpPr>
        <p:spPr>
          <a:xfrm>
            <a:off x="812800" y="4813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whole argument turns on Value moving behaviour while Key does not. If the substitution systematically destroyed Keys, that asymmetry would be manufactured by us rather than found in the model.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Diagnostic · What is measured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Three quantities, no scoring. The run is cheap because nothing is generated and nothing is compared to a baseline.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75</a:t>
            </a:r>
          </a:p>
        </p:txBody>
      </p:sp>
      <p:sp>
        <p:nvSpPr>
          <p:cNvPr id="8" name="Rounded Rectangle 7"/>
          <p:cNvSpPr/>
          <p:nvPr/>
        </p:nvSpPr>
        <p:spPr>
          <a:xfrm>
            <a:off x="635000" y="1752600"/>
            <a:ext cx="6985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629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KV_DIAGNOSE MODE</a:t>
            </a:r>
          </a:p>
        </p:txBody>
      </p:sp>
      <p:sp>
        <p:nvSpPr>
          <p:cNvPr id="10" name="Rounded Rectangle 9"/>
          <p:cNvSpPr/>
          <p:nvPr/>
        </p:nvSpPr>
        <p:spPr>
          <a:xfrm>
            <a:off x="812800" y="2120900"/>
            <a:ext cx="6629400" cy="2120900"/>
          </a:xfrm>
          <a:prstGeom prst="roundRect">
            <a:avLst>
              <a:gd name="adj" fmla="val 1796"/>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400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no score is computed — this mode only inspects the substitution</a:t>
            </a:r>
          </a:p>
        </p:txBody>
      </p:sp>
      <p:sp>
        <p:nvSpPr>
          <p:cNvPr id="12" name="TextBox 11"/>
          <p:cNvSpPr txBox="1"/>
          <p:nvPr/>
        </p:nvSpPr>
        <p:spPr>
          <a:xfrm>
            <a:off x="927100" y="2375535"/>
            <a:ext cx="6400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k_new = k[:, :, donor_pos, :].mean(dim=2)</a:t>
            </a:r>
          </a:p>
        </p:txBody>
      </p:sp>
      <p:sp>
        <p:nvSpPr>
          <p:cNvPr id="13" name="TextBox 12"/>
          <p:cNvSpPr txBox="1"/>
          <p:nvPr/>
        </p:nvSpPr>
        <p:spPr>
          <a:xfrm>
            <a:off x="927100" y="2541270"/>
            <a:ext cx="6400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v_new = v[:, :, donor_pos, :].mean(dim=2)</a:t>
            </a:r>
          </a:p>
        </p:txBody>
      </p:sp>
      <p:sp>
        <p:nvSpPr>
          <p:cNvPr id="14" name="TextBox 13"/>
          <p:cNvSpPr txBox="1"/>
          <p:nvPr/>
        </p:nvSpPr>
        <p:spPr>
          <a:xfrm>
            <a:off x="927100" y="2707005"/>
            <a:ext cx="6400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5" name="TextBox 14"/>
          <p:cNvSpPr txBox="1"/>
          <p:nvPr/>
        </p:nvSpPr>
        <p:spPr>
          <a:xfrm>
            <a:off x="927100" y="2872740"/>
            <a:ext cx="6400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key_shrink   = k_new.norm() / k[:, :, target_pos, :].norm()</a:t>
            </a:r>
          </a:p>
        </p:txBody>
      </p:sp>
      <p:sp>
        <p:nvSpPr>
          <p:cNvPr id="16" name="TextBox 15"/>
          <p:cNvSpPr txBox="1"/>
          <p:nvPr/>
        </p:nvSpPr>
        <p:spPr>
          <a:xfrm>
            <a:off x="927100" y="3038475"/>
            <a:ext cx="6400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value_shrink = v_new.norm() / v[:, :, target_pos, :].norm()</a:t>
            </a:r>
          </a:p>
        </p:txBody>
      </p:sp>
      <p:sp>
        <p:nvSpPr>
          <p:cNvPr id="17" name="TextBox 16"/>
          <p:cNvSpPr txBox="1"/>
          <p:nvPr/>
        </p:nvSpPr>
        <p:spPr>
          <a:xfrm>
            <a:off x="927100" y="3204210"/>
            <a:ext cx="6400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key_minus_value = key_shrink - value_shrink</a:t>
            </a:r>
          </a:p>
        </p:txBody>
      </p:sp>
      <p:sp>
        <p:nvSpPr>
          <p:cNvPr id="18" name="TextBox 17"/>
          <p:cNvSpPr txBox="1"/>
          <p:nvPr/>
        </p:nvSpPr>
        <p:spPr>
          <a:xfrm>
            <a:off x="927100" y="3369945"/>
            <a:ext cx="6400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9" name="TextBox 18"/>
          <p:cNvSpPr txBox="1"/>
          <p:nvPr/>
        </p:nvSpPr>
        <p:spPr>
          <a:xfrm>
            <a:off x="927100" y="3535680"/>
            <a:ext cx="6400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position_offsets = [abs(d - t) for d, t in zip(donor_pos, target_pos)]</a:t>
            </a:r>
          </a:p>
        </p:txBody>
      </p:sp>
      <p:sp>
        <p:nvSpPr>
          <p:cNvPr id="20" name="Rounded Rectangle 19"/>
          <p:cNvSpPr/>
          <p:nvPr/>
        </p:nvSpPr>
        <p:spPr>
          <a:xfrm>
            <a:off x="7772400" y="1752600"/>
            <a:ext cx="37846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950200" y="1930400"/>
            <a:ext cx="3429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15 — THE SHRINK RATIOS</a:t>
            </a:r>
          </a:p>
        </p:txBody>
      </p:sp>
      <p:sp>
        <p:nvSpPr>
          <p:cNvPr id="22" name="TextBox 21"/>
          <p:cNvSpPr txBox="1"/>
          <p:nvPr/>
        </p:nvSpPr>
        <p:spPr>
          <a:xfrm>
            <a:off x="7950200" y="4033615"/>
            <a:ext cx="3429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ratio near 1 means the averaged vector kept its length.</a:t>
            </a:r>
          </a:p>
        </p:txBody>
      </p:sp>
      <p:pic>
        <p:nvPicPr>
          <p:cNvPr id="23" name="Picture 22" descr="eq_shrink.png"/>
          <p:cNvPicPr>
            <a:picLocks noChangeAspect="1"/>
          </p:cNvPicPr>
          <p:nvPr/>
        </p:nvPicPr>
        <p:blipFill>
          <a:blip r:embed="rId2"/>
          <a:stretch>
            <a:fillRect/>
          </a:stretch>
        </p:blipFill>
        <p:spPr>
          <a:xfrm>
            <a:off x="7950200" y="2184400"/>
            <a:ext cx="2903301" cy="482600"/>
          </a:xfrm>
          <a:prstGeom prst="rect">
            <a:avLst/>
          </a:prstGeom>
        </p:spPr>
      </p:pic>
      <p:sp>
        <p:nvSpPr>
          <p:cNvPr id="24" name="TextBox 23"/>
          <p:cNvSpPr txBox="1"/>
          <p:nvPr/>
        </p:nvSpPr>
        <p:spPr>
          <a:xfrm>
            <a:off x="7950200" y="2819400"/>
            <a:ext cx="3429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the Key ratio were far below the Value ratio, the Key intervention would be a weaker manipulation and its null result uninformative.</a:t>
            </a:r>
          </a:p>
        </p:txBody>
      </p:sp>
      <p:sp>
        <p:nvSpPr>
          <p:cNvPr id="25" name="Rounded Rectangle 24"/>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72 CONDITIONS, SIX BLOCKS, FOUR MODELS</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Deliberately small: this is a property of the substitution, not of the dataset.</a:t>
            </a:r>
          </a:p>
        </p:txBody>
      </p:sp>
      <p:sp>
        <p:nvSpPr>
          <p:cNvPr id="28" name="TextBox 27"/>
          <p:cNvSpPr txBox="1"/>
          <p:nvPr/>
        </p:nvSpPr>
        <p:spPr>
          <a:xfrm>
            <a:off x="812800" y="4940300"/>
            <a:ext cx="10566400" cy="256287"/>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Because no score is computed, the run is a fraction of the cost of a causal sweep, which is why it covers six blocks rather than forty-two.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Diagnostic · Result — Keys shrink less, not more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direction of the asymmetry is the opposite of the one that would undermine the central claim.</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76</a:t>
            </a:r>
          </a:p>
        </p:txBody>
      </p:sp>
      <p:sp>
        <p:nvSpPr>
          <p:cNvPr id="8" name="Rounded Rectangle 7"/>
          <p:cNvSpPr/>
          <p:nvPr/>
        </p:nvSpPr>
        <p:spPr>
          <a:xfrm>
            <a:off x="635000" y="1752600"/>
            <a:ext cx="6858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NORM RETAINED AFTER SUBSTITUTION, BY LAYER</a:t>
            </a:r>
          </a:p>
        </p:txBody>
      </p:sp>
      <p:sp>
        <p:nvSpPr>
          <p:cNvPr id="10" name="TextBox 9"/>
          <p:cNvSpPr txBox="1"/>
          <p:nvPr/>
        </p:nvSpPr>
        <p:spPr>
          <a:xfrm>
            <a:off x="812800" y="4097115"/>
            <a:ext cx="650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Key above Value in every model at every layer.</a:t>
            </a:r>
          </a:p>
        </p:txBody>
      </p:sp>
      <p:sp>
        <p:nvSpPr>
          <p:cNvPr id="11" name="Rounded Rectangle 10"/>
          <p:cNvSpPr/>
          <p:nvPr/>
        </p:nvSpPr>
        <p:spPr>
          <a:xfrm>
            <a:off x="1914174" y="2120900"/>
            <a:ext cx="4299651" cy="1900015"/>
          </a:xfrm>
          <a:prstGeom prst="roundRect">
            <a:avLst>
              <a:gd name="adj" fmla="val 401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iag__kv_phase_shrink.png"/>
          <p:cNvPicPr>
            <a:picLocks noChangeAspect="1"/>
          </p:cNvPicPr>
          <p:nvPr/>
        </p:nvPicPr>
        <p:blipFill>
          <a:blip r:embed="rId2"/>
          <a:stretch>
            <a:fillRect/>
          </a:stretch>
        </p:blipFill>
        <p:spPr>
          <a:xfrm>
            <a:off x="1990374" y="2197100"/>
            <a:ext cx="4147251" cy="1747615"/>
          </a:xfrm>
          <a:prstGeom prst="rect">
            <a:avLst/>
          </a:prstGeom>
        </p:spPr>
      </p:pic>
      <p:sp>
        <p:nvSpPr>
          <p:cNvPr id="13" name="Rounded Rectangle 12"/>
          <p:cNvSpPr/>
          <p:nvPr/>
        </p:nvSpPr>
        <p:spPr>
          <a:xfrm>
            <a:off x="7645400" y="1752600"/>
            <a:ext cx="3911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23200" y="19304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AVERAGED OVER LAYERS, BLOCKS AND MODELS</a:t>
            </a:r>
          </a:p>
        </p:txBody>
      </p:sp>
      <p:sp>
        <p:nvSpPr>
          <p:cNvPr id="15" name="TextBox 14"/>
          <p:cNvSpPr txBox="1"/>
          <p:nvPr/>
        </p:nvSpPr>
        <p:spPr>
          <a:xfrm>
            <a:off x="7823200" y="2184400"/>
            <a:ext cx="120904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16" name="TextBox 15"/>
          <p:cNvSpPr txBox="1"/>
          <p:nvPr/>
        </p:nvSpPr>
        <p:spPr>
          <a:xfrm>
            <a:off x="9032240" y="2184400"/>
            <a:ext cx="7823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KEY RETAINED</a:t>
            </a:r>
          </a:p>
        </p:txBody>
      </p:sp>
      <p:sp>
        <p:nvSpPr>
          <p:cNvPr id="17" name="TextBox 16"/>
          <p:cNvSpPr txBox="1"/>
          <p:nvPr/>
        </p:nvSpPr>
        <p:spPr>
          <a:xfrm>
            <a:off x="9814560" y="2184400"/>
            <a:ext cx="7823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VALUE RETAINED</a:t>
            </a:r>
          </a:p>
        </p:txBody>
      </p:sp>
      <p:sp>
        <p:nvSpPr>
          <p:cNvPr id="18" name="TextBox 17"/>
          <p:cNvSpPr txBox="1"/>
          <p:nvPr/>
        </p:nvSpPr>
        <p:spPr>
          <a:xfrm>
            <a:off x="10596880" y="2184400"/>
            <a:ext cx="7823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KEY − VALUE</a:t>
            </a:r>
          </a:p>
        </p:txBody>
      </p:sp>
      <p:sp>
        <p:nvSpPr>
          <p:cNvPr id="19" name="Rectangle 18"/>
          <p:cNvSpPr/>
          <p:nvPr/>
        </p:nvSpPr>
        <p:spPr>
          <a:xfrm>
            <a:off x="7823200" y="2336800"/>
            <a:ext cx="3556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23200" y="2438400"/>
            <a:ext cx="104394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Qwen2.5-Coder-3B</a:t>
            </a:r>
          </a:p>
        </p:txBody>
      </p:sp>
      <p:sp>
        <p:nvSpPr>
          <p:cNvPr id="21" name="TextBox 20"/>
          <p:cNvSpPr txBox="1"/>
          <p:nvPr/>
        </p:nvSpPr>
        <p:spPr>
          <a:xfrm>
            <a:off x="9032240" y="2438400"/>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0.958</a:t>
            </a:r>
          </a:p>
        </p:txBody>
      </p:sp>
      <p:sp>
        <p:nvSpPr>
          <p:cNvPr id="22" name="TextBox 21"/>
          <p:cNvSpPr txBox="1"/>
          <p:nvPr/>
        </p:nvSpPr>
        <p:spPr>
          <a:xfrm>
            <a:off x="9814560" y="2438400"/>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0.866</a:t>
            </a:r>
          </a:p>
        </p:txBody>
      </p:sp>
      <p:sp>
        <p:nvSpPr>
          <p:cNvPr id="23" name="TextBox 22"/>
          <p:cNvSpPr txBox="1"/>
          <p:nvPr/>
        </p:nvSpPr>
        <p:spPr>
          <a:xfrm>
            <a:off x="10596880" y="2438400"/>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+0.092</a:t>
            </a:r>
          </a:p>
        </p:txBody>
      </p:sp>
      <p:sp>
        <p:nvSpPr>
          <p:cNvPr id="24" name="Rectangle 23"/>
          <p:cNvSpPr/>
          <p:nvPr/>
        </p:nvSpPr>
        <p:spPr>
          <a:xfrm>
            <a:off x="7823200" y="2847975"/>
            <a:ext cx="3556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3200" y="2911475"/>
            <a:ext cx="104394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DeepSeek-Coder-6.7B</a:t>
            </a:r>
          </a:p>
        </p:txBody>
      </p:sp>
      <p:sp>
        <p:nvSpPr>
          <p:cNvPr id="26" name="TextBox 25"/>
          <p:cNvSpPr txBox="1"/>
          <p:nvPr/>
        </p:nvSpPr>
        <p:spPr>
          <a:xfrm>
            <a:off x="9032240" y="2911475"/>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0.948</a:t>
            </a:r>
          </a:p>
        </p:txBody>
      </p:sp>
      <p:sp>
        <p:nvSpPr>
          <p:cNvPr id="27" name="TextBox 26"/>
          <p:cNvSpPr txBox="1"/>
          <p:nvPr/>
        </p:nvSpPr>
        <p:spPr>
          <a:xfrm>
            <a:off x="9814560" y="2911475"/>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0.787</a:t>
            </a:r>
          </a:p>
        </p:txBody>
      </p:sp>
      <p:sp>
        <p:nvSpPr>
          <p:cNvPr id="28" name="TextBox 27"/>
          <p:cNvSpPr txBox="1"/>
          <p:nvPr/>
        </p:nvSpPr>
        <p:spPr>
          <a:xfrm>
            <a:off x="10596880" y="2911475"/>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+0.162</a:t>
            </a:r>
          </a:p>
        </p:txBody>
      </p:sp>
      <p:sp>
        <p:nvSpPr>
          <p:cNvPr id="29" name="Rectangle 28"/>
          <p:cNvSpPr/>
          <p:nvPr/>
        </p:nvSpPr>
        <p:spPr>
          <a:xfrm>
            <a:off x="7823200" y="3321050"/>
            <a:ext cx="3556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3200" y="3384550"/>
            <a:ext cx="104394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Llama-3.2-3B</a:t>
            </a:r>
          </a:p>
        </p:txBody>
      </p:sp>
      <p:sp>
        <p:nvSpPr>
          <p:cNvPr id="31" name="TextBox 30"/>
          <p:cNvSpPr txBox="1"/>
          <p:nvPr/>
        </p:nvSpPr>
        <p:spPr>
          <a:xfrm>
            <a:off x="9032240" y="3384550"/>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0.954</a:t>
            </a:r>
          </a:p>
        </p:txBody>
      </p:sp>
      <p:sp>
        <p:nvSpPr>
          <p:cNvPr id="32" name="TextBox 31"/>
          <p:cNvSpPr txBox="1"/>
          <p:nvPr/>
        </p:nvSpPr>
        <p:spPr>
          <a:xfrm>
            <a:off x="9814560" y="3384550"/>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0.853</a:t>
            </a:r>
          </a:p>
        </p:txBody>
      </p:sp>
      <p:sp>
        <p:nvSpPr>
          <p:cNvPr id="33" name="TextBox 32"/>
          <p:cNvSpPr txBox="1"/>
          <p:nvPr/>
        </p:nvSpPr>
        <p:spPr>
          <a:xfrm>
            <a:off x="10596880" y="3384550"/>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+0.102</a:t>
            </a:r>
          </a:p>
        </p:txBody>
      </p:sp>
      <p:sp>
        <p:nvSpPr>
          <p:cNvPr id="34" name="Rectangle 33"/>
          <p:cNvSpPr/>
          <p:nvPr/>
        </p:nvSpPr>
        <p:spPr>
          <a:xfrm>
            <a:off x="7823200" y="3794125"/>
            <a:ext cx="3556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3200" y="3857625"/>
            <a:ext cx="104394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StableCode-3B</a:t>
            </a:r>
          </a:p>
        </p:txBody>
      </p:sp>
      <p:sp>
        <p:nvSpPr>
          <p:cNvPr id="36" name="TextBox 35"/>
          <p:cNvSpPr txBox="1"/>
          <p:nvPr/>
        </p:nvSpPr>
        <p:spPr>
          <a:xfrm>
            <a:off x="9032240" y="3857625"/>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0.950</a:t>
            </a:r>
          </a:p>
        </p:txBody>
      </p:sp>
      <p:sp>
        <p:nvSpPr>
          <p:cNvPr id="37" name="TextBox 36"/>
          <p:cNvSpPr txBox="1"/>
          <p:nvPr/>
        </p:nvSpPr>
        <p:spPr>
          <a:xfrm>
            <a:off x="9814560" y="3857625"/>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0.814</a:t>
            </a:r>
          </a:p>
        </p:txBody>
      </p:sp>
      <p:sp>
        <p:nvSpPr>
          <p:cNvPr id="38" name="TextBox 37"/>
          <p:cNvSpPr txBox="1"/>
          <p:nvPr/>
        </p:nvSpPr>
        <p:spPr>
          <a:xfrm>
            <a:off x="10596880" y="3857625"/>
            <a:ext cx="61722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+0.136</a:t>
            </a:r>
          </a:p>
        </p:txBody>
      </p:sp>
      <p:sp>
        <p:nvSpPr>
          <p:cNvPr id="39" name="Rounded Rectangle 38"/>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THIS REJECTS</a:t>
            </a:r>
          </a:p>
        </p:txBody>
      </p:sp>
      <p:sp>
        <p:nvSpPr>
          <p:cNvPr id="41" name="TextBox 40"/>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One hypothesis, cleanly. Not the whole family of instrument objections.</a:t>
            </a:r>
          </a:p>
        </p:txBody>
      </p:sp>
      <p:sp>
        <p:nvSpPr>
          <p:cNvPr id="42" name="TextBox 41"/>
          <p:cNvSpPr txBox="1"/>
          <p:nvPr/>
        </p:nvSpPr>
        <p:spPr>
          <a:xfrm>
            <a:off x="812800" y="5003800"/>
            <a:ext cx="10566400" cy="256287"/>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norm-collapse account of the Key null is rejected: Keys retain more of their length than Values do, so the Key manipulation is not the weaker one by this measure.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Diagnostic · What remains unproven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Norm is not phase. The measurement rules out one mechanism and is silent about another.</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77</a:t>
            </a:r>
          </a:p>
        </p:txBody>
      </p:sp>
      <p:sp>
        <p:nvSpPr>
          <p:cNvPr id="8" name="Rounded Rectangle 7"/>
          <p:cNvSpPr/>
          <p:nvPr/>
        </p:nvSpPr>
        <p:spPr>
          <a:xfrm>
            <a:off x="635000" y="1752600"/>
            <a:ext cx="60960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740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GAP WE DO NOT CLOSE</a:t>
            </a:r>
          </a:p>
        </p:txBody>
      </p:sp>
      <p:sp>
        <p:nvSpPr>
          <p:cNvPr id="10" name="TextBox 9"/>
          <p:cNvSpPr txBox="1"/>
          <p:nvPr/>
        </p:nvSpPr>
        <p:spPr>
          <a:xfrm>
            <a:off x="812800" y="2120900"/>
            <a:ext cx="57404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Rotary embeddings encode position as a rotation. A substituted key can retain its full length and still point in a direction that belongs to a different position. This diagnostic measures length, not angle, so a phase-mismatch account of the Key null survives it.</a:t>
            </a:r>
          </a:p>
        </p:txBody>
      </p:sp>
      <p:sp>
        <p:nvSpPr>
          <p:cNvPr id="11" name="Rounded Rectangle 10"/>
          <p:cNvSpPr/>
          <p:nvPr/>
        </p:nvSpPr>
        <p:spPr>
          <a:xfrm>
            <a:off x="6883400" y="1752600"/>
            <a:ext cx="4673600" cy="2667000"/>
          </a:xfrm>
          <a:prstGeom prst="roundRect">
            <a:avLst>
              <a:gd name="adj" fmla="val 28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61200" y="1930400"/>
            <a:ext cx="4318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ONE PIECE OF POSITIONAL EVIDENCE WE DO HAVE</a:t>
            </a:r>
          </a:p>
        </p:txBody>
      </p:sp>
      <p:sp>
        <p:nvSpPr>
          <p:cNvPr id="13" name="TextBox 12"/>
          <p:cNvSpPr txBox="1"/>
          <p:nvPr/>
        </p:nvSpPr>
        <p:spPr>
          <a:xfrm>
            <a:off x="7061200" y="3850831"/>
            <a:ext cx="4318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Where the donor and target positions coincide, a phase mismatch cannot arise.</a:t>
            </a:r>
          </a:p>
        </p:txBody>
      </p:sp>
      <p:sp>
        <p:nvSpPr>
          <p:cNvPr id="14" name="TextBox 13"/>
          <p:cNvSpPr txBox="1"/>
          <p:nvPr/>
        </p:nvSpPr>
        <p:spPr>
          <a:xfrm>
            <a:off x="7061200" y="2184400"/>
            <a:ext cx="241808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15" name="TextBox 14"/>
          <p:cNvSpPr txBox="1"/>
          <p:nvPr/>
        </p:nvSpPr>
        <p:spPr>
          <a:xfrm>
            <a:off x="9479280" y="2184400"/>
            <a:ext cx="18999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MEAN POSITION OFFSET</a:t>
            </a:r>
          </a:p>
        </p:txBody>
      </p:sp>
      <p:sp>
        <p:nvSpPr>
          <p:cNvPr id="16" name="Rectangle 15"/>
          <p:cNvSpPr/>
          <p:nvPr/>
        </p:nvSpPr>
        <p:spPr>
          <a:xfrm>
            <a:off x="7061200" y="2336800"/>
            <a:ext cx="4318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61200" y="2438400"/>
            <a:ext cx="2252980" cy="3404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Qwen2.5-Coder-3B</a:t>
            </a:r>
          </a:p>
        </p:txBody>
      </p:sp>
      <p:sp>
        <p:nvSpPr>
          <p:cNvPr id="18" name="TextBox 17"/>
          <p:cNvSpPr txBox="1"/>
          <p:nvPr/>
        </p:nvSpPr>
        <p:spPr>
          <a:xfrm>
            <a:off x="9479280" y="2438400"/>
            <a:ext cx="1734820" cy="3404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0.00</a:t>
            </a:r>
          </a:p>
        </p:txBody>
      </p:sp>
      <p:sp>
        <p:nvSpPr>
          <p:cNvPr id="19" name="Rectangle 18"/>
          <p:cNvSpPr/>
          <p:nvPr/>
        </p:nvSpPr>
        <p:spPr>
          <a:xfrm>
            <a:off x="7061200" y="2715308"/>
            <a:ext cx="4318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61200" y="2778808"/>
            <a:ext cx="2252980" cy="3404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DeepSeek-Coder-6.7B</a:t>
            </a:r>
          </a:p>
        </p:txBody>
      </p:sp>
      <p:sp>
        <p:nvSpPr>
          <p:cNvPr id="21" name="TextBox 20"/>
          <p:cNvSpPr txBox="1"/>
          <p:nvPr/>
        </p:nvSpPr>
        <p:spPr>
          <a:xfrm>
            <a:off x="9479280" y="2778808"/>
            <a:ext cx="1734820" cy="3404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1.38</a:t>
            </a:r>
          </a:p>
        </p:txBody>
      </p:sp>
      <p:sp>
        <p:nvSpPr>
          <p:cNvPr id="22" name="Rectangle 21"/>
          <p:cNvSpPr/>
          <p:nvPr/>
        </p:nvSpPr>
        <p:spPr>
          <a:xfrm>
            <a:off x="7061200" y="3055715"/>
            <a:ext cx="4318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61200" y="3119215"/>
            <a:ext cx="2252980" cy="3404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Llama-3.2-3B</a:t>
            </a:r>
          </a:p>
        </p:txBody>
      </p:sp>
      <p:sp>
        <p:nvSpPr>
          <p:cNvPr id="24" name="TextBox 23"/>
          <p:cNvSpPr txBox="1"/>
          <p:nvPr/>
        </p:nvSpPr>
        <p:spPr>
          <a:xfrm>
            <a:off x="9479280" y="3119215"/>
            <a:ext cx="1734820" cy="3404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0.00</a:t>
            </a:r>
          </a:p>
        </p:txBody>
      </p:sp>
      <p:sp>
        <p:nvSpPr>
          <p:cNvPr id="25" name="Rectangle 24"/>
          <p:cNvSpPr/>
          <p:nvPr/>
        </p:nvSpPr>
        <p:spPr>
          <a:xfrm>
            <a:off x="7061200" y="3396123"/>
            <a:ext cx="4318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61200" y="3459623"/>
            <a:ext cx="2252980" cy="34040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StableCode-3B</a:t>
            </a:r>
          </a:p>
        </p:txBody>
      </p:sp>
      <p:sp>
        <p:nvSpPr>
          <p:cNvPr id="27" name="TextBox 26"/>
          <p:cNvSpPr txBox="1"/>
          <p:nvPr/>
        </p:nvSpPr>
        <p:spPr>
          <a:xfrm>
            <a:off x="9479280" y="3459623"/>
            <a:ext cx="1734820" cy="34040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1.33</a:t>
            </a:r>
          </a:p>
        </p:txBody>
      </p:sp>
      <p:sp>
        <p:nvSpPr>
          <p:cNvPr id="28" name="Rounded Rectangle 27"/>
          <p:cNvSpPr/>
          <p:nvPr/>
        </p:nvSpPr>
        <p:spPr>
          <a:xfrm>
            <a:off x="635000" y="4572000"/>
            <a:ext cx="10922000" cy="1682750"/>
          </a:xfrm>
          <a:prstGeom prst="roundRect">
            <a:avLst>
              <a:gd name="adj" fmla="val 452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2800" y="4749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THIS IS CARRIED INTO THE CLAIMS</a:t>
            </a:r>
          </a:p>
        </p:txBody>
      </p:sp>
      <p:sp>
        <p:nvSpPr>
          <p:cNvPr id="30" name="TextBox 2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qualifier travels with the Key result wherever it appears, including in the paper.</a:t>
            </a:r>
          </a:p>
        </p:txBody>
      </p:sp>
      <p:sp>
        <p:nvSpPr>
          <p:cNvPr id="31" name="TextBox 30"/>
          <p:cNvSpPr txBox="1"/>
          <p:nvPr/>
        </p:nvSpPr>
        <p:spPr>
          <a:xfrm>
            <a:off x="812800" y="4940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On two models the donor and target sit at the same positions on average, so no rotation mismatch is introduced there and the Key null still holds. On the other two an offset exists and the phase account cannot be excluded. We state the Key result with that qualifier rather than without 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Diagnostic · Reading the result file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No scores, no rates — two shrink ratios, two cosines, and the positional evidence.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78</a:t>
            </a:r>
          </a:p>
        </p:txBody>
      </p:sp>
      <p:sp>
        <p:nvSpPr>
          <p:cNvPr id="8" name="Rounded Rectangle 7"/>
          <p:cNvSpPr/>
          <p:nvPr/>
        </p:nvSpPr>
        <p:spPr>
          <a:xfrm>
            <a:off x="635000" y="1752600"/>
            <a:ext cx="72390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883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RESULTS/DIAG_KV-PHASE/&lt;SLUG&gt;.JSON</a:t>
            </a:r>
          </a:p>
        </p:txBody>
      </p:sp>
      <p:sp>
        <p:nvSpPr>
          <p:cNvPr id="10" name="Rounded Rectangle 9"/>
          <p:cNvSpPr/>
          <p:nvPr/>
        </p:nvSpPr>
        <p:spPr>
          <a:xfrm>
            <a:off x="812800" y="2120900"/>
            <a:ext cx="6883400" cy="2374900"/>
          </a:xfrm>
          <a:prstGeom prst="roundRect">
            <a:avLst>
              <a:gd name="adj" fmla="val 160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"per_layer": { "17": {</a:t>
            </a:r>
          </a:p>
        </p:txBody>
      </p:sp>
      <p:sp>
        <p:nvSpPr>
          <p:cNvPr id="12" name="TextBox 11"/>
          <p:cNvSpPr txBox="1"/>
          <p:nvPr/>
        </p:nvSpPr>
        <p:spPr>
          <a:xfrm>
            <a:off x="927100" y="237553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"key_shrink":         0.9512,   # 1.0 = no length lost</a:t>
            </a:r>
          </a:p>
        </p:txBody>
      </p:sp>
      <p:sp>
        <p:nvSpPr>
          <p:cNvPr id="13" name="TextBox 12"/>
          <p:cNvSpPr txBox="1"/>
          <p:nvPr/>
        </p:nvSpPr>
        <p:spPr>
          <a:xfrm>
            <a:off x="927100" y="254127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"value_shrink":       0.8417,   # the no-rotation baseline</a:t>
            </a:r>
          </a:p>
        </p:txBody>
      </p:sp>
      <p:sp>
        <p:nvSpPr>
          <p:cNvPr id="14" name="TextBox 13"/>
          <p:cNvSpPr txBox="1"/>
          <p:nvPr/>
        </p:nvSpPr>
        <p:spPr>
          <a:xfrm>
            <a:off x="927100" y="2707005"/>
            <a:ext cx="6654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"key_minus_value":    0.1095,   # positive = Key lost LESS</a:t>
            </a:r>
          </a:p>
        </p:txBody>
      </p:sp>
      <p:sp>
        <p:nvSpPr>
          <p:cNvPr id="15" name="TextBox 14"/>
          <p:cNvSpPr txBox="1"/>
          <p:nvPr/>
        </p:nvSpPr>
        <p:spPr>
          <a:xfrm>
            <a:off x="927100" y="287274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"key_piece_cosine":   0.83,     # how aligned the donor pieces were</a:t>
            </a:r>
          </a:p>
        </p:txBody>
      </p:sp>
      <p:sp>
        <p:nvSpPr>
          <p:cNvPr id="16" name="TextBox 15"/>
          <p:cNvSpPr txBox="1"/>
          <p:nvPr/>
        </p:nvSpPr>
        <p:spPr>
          <a:xfrm>
            <a:off x="927100" y="303847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"value_piece_cosine": 0.61 } },</a:t>
            </a:r>
          </a:p>
        </p:txBody>
      </p:sp>
      <p:sp>
        <p:nvSpPr>
          <p:cNvPr id="17" name="TextBox 16"/>
          <p:cNvSpPr txBox="1"/>
          <p:nvPr/>
        </p:nvSpPr>
        <p:spPr>
          <a:xfrm>
            <a:off x="927100" y="320421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"extra": {</a:t>
            </a:r>
          </a:p>
        </p:txBody>
      </p:sp>
      <p:sp>
        <p:nvSpPr>
          <p:cNvPr id="18" name="TextBox 17"/>
          <p:cNvSpPr txBox="1"/>
          <p:nvPr/>
        </p:nvSpPr>
        <p:spPr>
          <a:xfrm>
            <a:off x="927100" y="336994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"mode": "kv_diagnose", "donor": "compliant",</a:t>
            </a:r>
          </a:p>
        </p:txBody>
      </p:sp>
      <p:sp>
        <p:nvSpPr>
          <p:cNvPr id="19" name="TextBox 18"/>
          <p:cNvSpPr txBox="1"/>
          <p:nvPr/>
        </p:nvSpPr>
        <p:spPr>
          <a:xfrm>
            <a:off x="927100" y="3535680"/>
            <a:ext cx="6654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"position_offset_abs_mean": 8.4,   # the only phase proxy we have</a:t>
            </a:r>
          </a:p>
        </p:txBody>
      </p:sp>
      <p:sp>
        <p:nvSpPr>
          <p:cNvPr id="20" name="TextBox 19"/>
          <p:cNvSpPr txBox="1"/>
          <p:nvPr/>
        </p:nvSpPr>
        <p:spPr>
          <a:xfrm>
            <a:off x="927100" y="370141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"donor_piece_counts": [2, 2, 3, …],</a:t>
            </a:r>
          </a:p>
        </p:txBody>
      </p:sp>
      <p:sp>
        <p:nvSpPr>
          <p:cNvPr id="21" name="TextBox 20"/>
          <p:cNvSpPr txBox="1"/>
          <p:nvPr/>
        </p:nvSpPr>
        <p:spPr>
          <a:xfrm>
            <a:off x="927100" y="386715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"target_piece_counts": [3, 3, 2, …],</a:t>
            </a:r>
          </a:p>
        </p:txBody>
      </p:sp>
      <p:sp>
        <p:nvSpPr>
          <p:cNvPr id="22" name="TextBox 21"/>
          <p:cNvSpPr txBox="1"/>
          <p:nvPr/>
        </p:nvSpPr>
        <p:spPr>
          <a:xfrm>
            <a:off x="927100" y="403288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"n_substituted_tokens": 31 }</a:t>
            </a:r>
          </a:p>
        </p:txBody>
      </p:sp>
      <p:sp>
        <p:nvSpPr>
          <p:cNvPr id="23" name="Rounded Rectangle 22"/>
          <p:cNvSpPr/>
          <p:nvPr/>
        </p:nvSpPr>
        <p:spPr>
          <a:xfrm>
            <a:off x="8026400" y="1752600"/>
            <a:ext cx="35306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04200" y="1930400"/>
            <a:ext cx="3175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HOW TO READ IT</a:t>
            </a:r>
          </a:p>
        </p:txBody>
      </p:sp>
      <p:sp>
        <p:nvSpPr>
          <p:cNvPr id="25" name="TextBox 24"/>
          <p:cNvSpPr txBox="1"/>
          <p:nvPr/>
        </p:nvSpPr>
        <p:spPr>
          <a:xfrm>
            <a:off x="8204200" y="2120900"/>
            <a:ext cx="3175000" cy="939800"/>
          </a:xfrm>
          <a:prstGeom prst="rect">
            <a:avLst/>
          </a:prstGeom>
          <a:noFill/>
        </p:spPr>
        <p:txBody>
          <a:bodyPr wrap="square" lIns="0" rIns="0" tIns="0" bIns="0">
            <a:spAutoFit/>
          </a:bodyPr>
          <a:lstStyle/>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Headline:</a:t>
            </a:r>
            <a:r>
              <a:rPr sz="1050" b="0">
                <a:solidFill>
                  <a:srgbClr val="B9B9B9"/>
                </a:solidFill>
                <a:latin typeface="Inter"/>
                <a:cs typeface="Inter"/>
                <a:ea typeface="Inter"/>
              </a:rPr>
              <a:t> key_minus_value — positive means the Key kept more of its length, which rejects the norm-collapse account</a:t>
            </a:r>
          </a:p>
          <a:p>
            <a:pPr marL="554736" indent="-554736">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Never alone:</a:t>
            </a:r>
            <a:r>
              <a:rPr sz="1050" b="0">
                <a:solidFill>
                  <a:srgbClr val="B9B9B9"/>
                </a:solidFill>
                <a:latin typeface="Inter"/>
                <a:cs typeface="Inter"/>
                <a:ea typeface="Inter"/>
              </a:rPr>
              <a:t> position_offset_abs_mean must be read beside it; a key can keep its length and still carry the wrong rotation</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No score:</a:t>
            </a:r>
            <a:r>
              <a:rPr sz="1050" b="0">
                <a:solidFill>
                  <a:srgbClr val="B9B9B9"/>
                </a:solidFill>
                <a:latin typeface="Inter"/>
                <a:cs typeface="Inter"/>
                <a:ea typeface="Inter"/>
              </a:rPr>
              <a:t> this mode computes no transfer rate, which is why the run is cheap</a:t>
            </a:r>
          </a:p>
        </p:txBody>
      </p:sp>
      <p:sp>
        <p:nvSpPr>
          <p:cNvPr id="26" name="Rounded Rectangle 25"/>
          <p:cNvSpPr/>
          <p:nvPr/>
        </p:nvSpPr>
        <p:spPr>
          <a:xfrm>
            <a:off x="635000" y="4826000"/>
            <a:ext cx="10922000" cy="1428750"/>
          </a:xfrm>
          <a:prstGeom prst="roundRect">
            <a:avLst>
              <a:gd name="adj" fmla="val 5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2800" y="5003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AGGREGATION</a:t>
            </a:r>
          </a:p>
        </p:txBody>
      </p:sp>
      <p:sp>
        <p:nvSpPr>
          <p:cNvPr id="28" name="TextBox 2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Averages the shrink ratios over layers and blocks, and reports the offset alongside.</a:t>
            </a:r>
          </a:p>
        </p:txBody>
      </p:sp>
      <p:sp>
        <p:nvSpPr>
          <p:cNvPr id="29" name="Rounded Rectangle 28"/>
          <p:cNvSpPr/>
          <p:nvPr/>
        </p:nvSpPr>
        <p:spPr>
          <a:xfrm>
            <a:off x="812800" y="5194300"/>
            <a:ext cx="10566400" cy="598265"/>
          </a:xfrm>
          <a:prstGeom prst="roundRect">
            <a:avLst>
              <a:gd name="adj" fmla="val 6368"/>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7100" y="5283200"/>
            <a:ext cx="10337800" cy="184150"/>
          </a:xfrm>
          <a:prstGeom prst="rect">
            <a:avLst/>
          </a:prstGeom>
          <a:noFill/>
        </p:spPr>
        <p:txBody>
          <a:bodyPr wrap="square" lIns="0" rIns="0" tIns="0" bIns="0" anchor="t">
            <a:spAutoFit/>
          </a:bodyPr>
          <a:lstStyle/>
          <a:p>
            <a:pPr algn="l"/>
            <a:r>
              <a:rPr sz="1000" b="0">
                <a:solidFill>
                  <a:srgbClr val="B9B9B9"/>
                </a:solidFill>
                <a:latin typeface="IBM Plex Mono"/>
                <a:cs typeface="IBM Plex Mono"/>
                <a:ea typeface="IBM Plex Mono"/>
              </a:rPr>
              <a:t>python scripts/diag_kv_phase_summary.py results/diag_kv-phase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The prescription, tested rather than proposed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RQ1–RQ3 say the handle is content at a late layer. If that reading is right, pushing content should work and raising attention should not.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79</a:t>
            </a:r>
          </a:p>
        </p:txBody>
      </p:sp>
      <p:sp>
        <p:nvSpPr>
          <p:cNvPr id="8" name="Rounded Rectangle 7"/>
          <p:cNvSpPr/>
          <p:nvPr/>
        </p:nvSpPr>
        <p:spPr>
          <a:xfrm>
            <a:off x="635000" y="1752600"/>
            <a:ext cx="109220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TWO PRESCRIPTIONS, OPPOSITE PREDICTIONS</a:t>
            </a:r>
          </a:p>
        </p:txBody>
      </p:sp>
      <p:sp>
        <p:nvSpPr>
          <p:cNvPr id="10" name="TextBox 9"/>
          <p:cNvSpPr txBox="1"/>
          <p:nvPr/>
        </p:nvSpPr>
        <p:spPr>
          <a:xfrm>
            <a:off x="812800" y="4160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Both are measured on the same conditions, the same seed and the same four models.</a:t>
            </a:r>
          </a:p>
        </p:txBody>
      </p:sp>
      <p:pic>
        <p:nvPicPr>
          <p:cNvPr id="11" name="Picture 10" descr="s6_two.png"/>
          <p:cNvPicPr>
            <a:picLocks noChangeAspect="1"/>
          </p:cNvPicPr>
          <p:nvPr/>
        </p:nvPicPr>
        <p:blipFill>
          <a:blip r:embed="rId2"/>
          <a:stretch>
            <a:fillRect/>
          </a:stretch>
        </p:blipFill>
        <p:spPr>
          <a:xfrm>
            <a:off x="812800" y="2120900"/>
            <a:ext cx="4674288" cy="1963515"/>
          </a:xfrm>
          <a:prstGeom prst="rect">
            <a:avLst/>
          </a:prstGeom>
        </p:spPr>
      </p:pic>
      <p:sp>
        <p:nvSpPr>
          <p:cNvPr id="12" name="Rounded Rectangle 11"/>
          <p:cNvSpPr/>
          <p:nvPr/>
        </p:nvSpPr>
        <p:spPr>
          <a:xfrm>
            <a:off x="635000" y="4699000"/>
            <a:ext cx="10922000" cy="1555750"/>
          </a:xfrm>
          <a:prstGeom prst="roundRect">
            <a:avLst>
              <a:gd name="adj" fmla="val 48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876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WOULD HAVE FALSIFIED THE DIAGNOSIS</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prediction was recorded before the sweep and is stored in the result files.</a:t>
            </a:r>
          </a:p>
        </p:txBody>
      </p:sp>
      <p:sp>
        <p:nvSpPr>
          <p:cNvPr id="15" name="TextBox 14"/>
          <p:cNvSpPr txBox="1"/>
          <p:nvPr/>
        </p:nvSpPr>
        <p:spPr>
          <a:xfrm>
            <a:off x="812800" y="5067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attention reweighting had restored compliance, the conclusion of steps 2 and 3 would be wrong regardless of how clean those measurements were. Step 6 is the place where the diagnosis is exposed to that risk rather than protected from it.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The two interventions, in code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One adds a direction to the residual stream; the other rescales attention onto a span.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80</a:t>
            </a:r>
          </a:p>
        </p:txBody>
      </p:sp>
      <p:sp>
        <p:nvSpPr>
          <p:cNvPr id="8" name="Rounded Rectangle 7"/>
          <p:cNvSpPr/>
          <p:nvPr/>
        </p:nvSpPr>
        <p:spPr>
          <a:xfrm>
            <a:off x="635000" y="1752600"/>
            <a:ext cx="72390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883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RESIDUAL-STREAM STEERING</a:t>
            </a:r>
          </a:p>
        </p:txBody>
      </p:sp>
      <p:sp>
        <p:nvSpPr>
          <p:cNvPr id="10" name="Rounded Rectangle 9"/>
          <p:cNvSpPr/>
          <p:nvPr/>
        </p:nvSpPr>
        <p:spPr>
          <a:xfrm>
            <a:off x="812800" y="2120900"/>
            <a:ext cx="6883400" cy="2374900"/>
          </a:xfrm>
          <a:prstGeom prst="roundRect">
            <a:avLst>
              <a:gd name="adj" fmla="val 160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6654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direction built from contrasting contexts, not hand-specified</a:t>
            </a:r>
          </a:p>
        </p:txBody>
      </p:sp>
      <p:sp>
        <p:nvSpPr>
          <p:cNvPr id="12" name="TextBox 11"/>
          <p:cNvSpPr txBox="1"/>
          <p:nvPr/>
        </p:nvSpPr>
        <p:spPr>
          <a:xfrm>
            <a:off x="927100" y="237553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d = mean(h_camel_contexts) - mean(h_snake_contexts)      # at steer_layer</a:t>
            </a:r>
          </a:p>
        </p:txBody>
      </p:sp>
      <p:sp>
        <p:nvSpPr>
          <p:cNvPr id="13" name="TextBox 12"/>
          <p:cNvSpPr txBox="1"/>
          <p:nvPr/>
        </p:nvSpPr>
        <p:spPr>
          <a:xfrm>
            <a:off x="927100" y="254127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4" name="TextBox 13"/>
          <p:cNvSpPr txBox="1"/>
          <p:nvPr/>
        </p:nvSpPr>
        <p:spPr>
          <a:xfrm>
            <a:off x="927100" y="270700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def hook(module, args, output):</a:t>
            </a:r>
          </a:p>
        </p:txBody>
      </p:sp>
      <p:sp>
        <p:nvSpPr>
          <p:cNvPr id="15" name="TextBox 14"/>
          <p:cNvSpPr txBox="1"/>
          <p:nvPr/>
        </p:nvSpPr>
        <p:spPr>
          <a:xfrm>
            <a:off x="927100" y="2872740"/>
            <a:ext cx="6654800" cy="165735"/>
          </a:xfrm>
          <a:prstGeom prst="rect">
            <a:avLst/>
          </a:prstGeom>
          <a:noFill/>
        </p:spPr>
        <p:txBody>
          <a:bodyPr wrap="square" lIns="0" rIns="0" tIns="0" bIns="0" anchor="t">
            <a:spAutoFit/>
          </a:bodyPr>
          <a:lstStyle/>
          <a:p>
            <a:pPr algn="l"/>
            <a:r>
              <a:rPr sz="900" b="0">
                <a:solidFill>
                  <a:srgbClr val="D97757"/>
                </a:solidFill>
                <a:latin typeface="IBM Plex Mono"/>
                <a:cs typeface="IBM Plex Mono"/>
                <a:ea typeface="IBM Plex Mono"/>
              </a:rPr>
              <a:t>    return output[0] + alpha * d, *output[1:]           # block output</a:t>
            </a:r>
          </a:p>
        </p:txBody>
      </p:sp>
      <p:sp>
        <p:nvSpPr>
          <p:cNvPr id="16" name="TextBox 15"/>
          <p:cNvSpPr txBox="1"/>
          <p:nvPr/>
        </p:nvSpPr>
        <p:spPr>
          <a:xfrm>
            <a:off x="927100" y="303847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7" name="TextBox 16"/>
          <p:cNvSpPr txBox="1"/>
          <p:nvPr/>
        </p:nvSpPr>
        <p:spPr>
          <a:xfrm>
            <a:off x="927100" y="3204210"/>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model.model.layers[layer].register_forward_hook(hook)</a:t>
            </a:r>
          </a:p>
        </p:txBody>
      </p:sp>
      <p:sp>
        <p:nvSpPr>
          <p:cNvPr id="18" name="TextBox 17"/>
          <p:cNvSpPr txBox="1"/>
          <p:nvPr/>
        </p:nvSpPr>
        <p:spPr>
          <a:xfrm>
            <a:off x="927100" y="3369945"/>
            <a:ext cx="6654800" cy="165735"/>
          </a:xfrm>
          <a:prstGeom prst="rect">
            <a:avLst/>
          </a:prstGeom>
          <a:noFill/>
        </p:spPr>
        <p:txBody>
          <a:bodyPr wrap="square" lIns="0" rIns="0" tIns="0" bIns="0" anchor="t">
            <a:spAutoFit/>
          </a:bodyPr>
          <a:lstStyle/>
          <a:p>
            <a:pPr algn="l"/>
            <a:r>
              <a:rPr sz="900" b="0">
                <a:solidFill>
                  <a:srgbClr val="B9B9B9"/>
                </a:solidFill>
                <a:latin typeface="IBM Plex Mono"/>
                <a:cs typeface="IBM Plex Mono"/>
                <a:ea typeface="IBM Plex Mono"/>
              </a:rPr>
              <a:t/>
            </a:r>
          </a:p>
        </p:txBody>
      </p:sp>
      <p:sp>
        <p:nvSpPr>
          <p:cNvPr id="19" name="TextBox 18"/>
          <p:cNvSpPr txBox="1"/>
          <p:nvPr/>
        </p:nvSpPr>
        <p:spPr>
          <a:xfrm>
            <a:off x="927100" y="3535680"/>
            <a:ext cx="6654800" cy="165735"/>
          </a:xfrm>
          <a:prstGeom prst="rect">
            <a:avLst/>
          </a:prstGeom>
          <a:noFill/>
        </p:spPr>
        <p:txBody>
          <a:bodyPr wrap="square" lIns="0" rIns="0" tIns="0" bIns="0" anchor="t">
            <a:spAutoFit/>
          </a:bodyPr>
          <a:lstStyle/>
          <a:p>
            <a:pPr algn="l"/>
            <a:r>
              <a:rPr sz="900" b="0">
                <a:solidFill>
                  <a:srgbClr val="797979"/>
                </a:solidFill>
                <a:latin typeface="IBM Plex Mono"/>
                <a:cs typeface="IBM Plex Mono"/>
                <a:ea typeface="IBM Plex Mono"/>
              </a:rPr>
              <a:t># alpha is swept over a fixed grid: 0.5, 1, 2, 4</a:t>
            </a:r>
          </a:p>
        </p:txBody>
      </p:sp>
      <p:sp>
        <p:nvSpPr>
          <p:cNvPr id="20" name="Rounded Rectangle 19"/>
          <p:cNvSpPr/>
          <p:nvPr/>
        </p:nvSpPr>
        <p:spPr>
          <a:xfrm>
            <a:off x="8026400" y="1752600"/>
            <a:ext cx="3530600" cy="2921000"/>
          </a:xfrm>
          <a:prstGeom prst="roundRect">
            <a:avLst>
              <a:gd name="adj" fmla="val 2608"/>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04200" y="1930400"/>
            <a:ext cx="3175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SPOTLIGHT-STYLE ATTENTION REWEIGHTING</a:t>
            </a:r>
          </a:p>
        </p:txBody>
      </p:sp>
      <p:sp>
        <p:nvSpPr>
          <p:cNvPr id="22" name="Rounded Rectangle 21"/>
          <p:cNvSpPr/>
          <p:nvPr/>
        </p:nvSpPr>
        <p:spPr>
          <a:xfrm>
            <a:off x="8204200" y="2120900"/>
            <a:ext cx="3175000" cy="2374900"/>
          </a:xfrm>
          <a:prstGeom prst="roundRect">
            <a:avLst>
              <a:gd name="adj" fmla="val 1604"/>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18500" y="2209800"/>
            <a:ext cx="2946400" cy="101282"/>
          </a:xfrm>
          <a:prstGeom prst="rect">
            <a:avLst/>
          </a:prstGeom>
          <a:noFill/>
        </p:spPr>
        <p:txBody>
          <a:bodyPr wrap="square" lIns="0" rIns="0" tIns="0" bIns="0" anchor="t">
            <a:spAutoFit/>
          </a:bodyPr>
          <a:lstStyle/>
          <a:p>
            <a:pPr algn="l"/>
            <a:r>
              <a:rPr sz="550" b="0">
                <a:solidFill>
                  <a:srgbClr val="797979"/>
                </a:solidFill>
                <a:latin typeface="IBM Plex Mono"/>
                <a:cs typeface="IBM Plex Mono"/>
                <a:ea typeface="IBM Plex Mono"/>
              </a:rPr>
              <a:t># raise the span mass toward a target, with the undershoot form</a:t>
            </a:r>
          </a:p>
        </p:txBody>
      </p:sp>
      <p:sp>
        <p:nvSpPr>
          <p:cNvPr id="24" name="TextBox 23"/>
          <p:cNvSpPr txBox="1"/>
          <p:nvPr/>
        </p:nvSpPr>
        <p:spPr>
          <a:xfrm>
            <a:off x="8318500" y="2311082"/>
            <a:ext cx="2946400" cy="101282"/>
          </a:xfrm>
          <a:prstGeom prst="rect">
            <a:avLst/>
          </a:prstGeom>
          <a:noFill/>
        </p:spPr>
        <p:txBody>
          <a:bodyPr wrap="square" lIns="0" rIns="0" tIns="0" bIns="0" anchor="t">
            <a:spAutoFit/>
          </a:bodyPr>
          <a:lstStyle/>
          <a:p>
            <a:pPr algn="l"/>
            <a:r>
              <a:rPr sz="550" b="0">
                <a:solidFill>
                  <a:srgbClr val="B9B9B9"/>
                </a:solidFill>
                <a:latin typeface="IBM Plex Mono"/>
                <a:cs typeface="IBM Plex Mono"/>
                <a:ea typeface="IBM Plex Mono"/>
              </a:rPr>
              <a:t>psi_after = psi_target / (1 + psi_target - psi_before)</a:t>
            </a:r>
          </a:p>
        </p:txBody>
      </p:sp>
      <p:sp>
        <p:nvSpPr>
          <p:cNvPr id="25" name="TextBox 24"/>
          <p:cNvSpPr txBox="1"/>
          <p:nvPr/>
        </p:nvSpPr>
        <p:spPr>
          <a:xfrm>
            <a:off x="8318500" y="2412365"/>
            <a:ext cx="2946400" cy="101282"/>
          </a:xfrm>
          <a:prstGeom prst="rect">
            <a:avLst/>
          </a:prstGeom>
          <a:noFill/>
        </p:spPr>
        <p:txBody>
          <a:bodyPr wrap="square" lIns="0" rIns="0" tIns="0" bIns="0" anchor="t">
            <a:spAutoFit/>
          </a:bodyPr>
          <a:lstStyle/>
          <a:p>
            <a:pPr algn="l"/>
            <a:r>
              <a:rPr sz="550" b="0">
                <a:solidFill>
                  <a:srgbClr val="B9B9B9"/>
                </a:solidFill>
                <a:latin typeface="IBM Plex Mono"/>
                <a:cs typeface="IBM Plex Mono"/>
                <a:ea typeface="IBM Plex Mono"/>
              </a:rPr>
              <a:t/>
            </a:r>
          </a:p>
        </p:txBody>
      </p:sp>
      <p:sp>
        <p:nvSpPr>
          <p:cNvPr id="26" name="TextBox 25"/>
          <p:cNvSpPr txBox="1"/>
          <p:nvPr/>
        </p:nvSpPr>
        <p:spPr>
          <a:xfrm>
            <a:off x="8318500" y="2513648"/>
            <a:ext cx="2946400" cy="101282"/>
          </a:xfrm>
          <a:prstGeom prst="rect">
            <a:avLst/>
          </a:prstGeom>
          <a:noFill/>
        </p:spPr>
        <p:txBody>
          <a:bodyPr wrap="square" lIns="0" rIns="0" tIns="0" bIns="0" anchor="t">
            <a:spAutoFit/>
          </a:bodyPr>
          <a:lstStyle/>
          <a:p>
            <a:pPr algn="l"/>
            <a:r>
              <a:rPr sz="550" b="0">
                <a:solidFill>
                  <a:srgbClr val="B9B9B9"/>
                </a:solidFill>
                <a:latin typeface="IBM Plex Mono"/>
                <a:cs typeface="IBM Plex Mono"/>
                <a:ea typeface="IBM Plex Mono"/>
              </a:rPr>
              <a:t>w[:, :, :, span] *= psi_after / psi_before</a:t>
            </a:r>
          </a:p>
        </p:txBody>
      </p:sp>
      <p:sp>
        <p:nvSpPr>
          <p:cNvPr id="27" name="TextBox 26"/>
          <p:cNvSpPr txBox="1"/>
          <p:nvPr/>
        </p:nvSpPr>
        <p:spPr>
          <a:xfrm>
            <a:off x="8318500" y="2614930"/>
            <a:ext cx="2946400" cy="101282"/>
          </a:xfrm>
          <a:prstGeom prst="rect">
            <a:avLst/>
          </a:prstGeom>
          <a:noFill/>
        </p:spPr>
        <p:txBody>
          <a:bodyPr wrap="square" lIns="0" rIns="0" tIns="0" bIns="0" anchor="t">
            <a:spAutoFit/>
          </a:bodyPr>
          <a:lstStyle/>
          <a:p>
            <a:pPr algn="l"/>
            <a:r>
              <a:rPr sz="550" b="0">
                <a:solidFill>
                  <a:srgbClr val="B9B9B9"/>
                </a:solidFill>
                <a:latin typeface="IBM Plex Mono"/>
                <a:cs typeface="IBM Plex Mono"/>
                <a:ea typeface="IBM Plex Mono"/>
              </a:rPr>
              <a:t>w = w / w.sum(dim=-1, keepdim=True)          # renormalise the row</a:t>
            </a:r>
          </a:p>
        </p:txBody>
      </p:sp>
      <p:sp>
        <p:nvSpPr>
          <p:cNvPr id="28" name="TextBox 27"/>
          <p:cNvSpPr txBox="1"/>
          <p:nvPr/>
        </p:nvSpPr>
        <p:spPr>
          <a:xfrm>
            <a:off x="8318500" y="2716212"/>
            <a:ext cx="2946400" cy="101282"/>
          </a:xfrm>
          <a:prstGeom prst="rect">
            <a:avLst/>
          </a:prstGeom>
          <a:noFill/>
        </p:spPr>
        <p:txBody>
          <a:bodyPr wrap="square" lIns="0" rIns="0" tIns="0" bIns="0" anchor="t">
            <a:spAutoFit/>
          </a:bodyPr>
          <a:lstStyle/>
          <a:p>
            <a:pPr algn="l"/>
            <a:r>
              <a:rPr sz="550" b="0">
                <a:solidFill>
                  <a:srgbClr val="B9B9B9"/>
                </a:solidFill>
                <a:latin typeface="IBM Plex Mono"/>
                <a:cs typeface="IBM Plex Mono"/>
                <a:ea typeface="IBM Plex Mono"/>
              </a:rPr>
              <a:t/>
            </a:r>
          </a:p>
        </p:txBody>
      </p:sp>
      <p:sp>
        <p:nvSpPr>
          <p:cNvPr id="29" name="TextBox 28"/>
          <p:cNvSpPr txBox="1"/>
          <p:nvPr/>
        </p:nvSpPr>
        <p:spPr>
          <a:xfrm>
            <a:off x="8318500" y="2817495"/>
            <a:ext cx="2946400" cy="101282"/>
          </a:xfrm>
          <a:prstGeom prst="rect">
            <a:avLst/>
          </a:prstGeom>
          <a:noFill/>
        </p:spPr>
        <p:txBody>
          <a:bodyPr wrap="square" lIns="0" rIns="0" tIns="0" bIns="0" anchor="t">
            <a:spAutoFit/>
          </a:bodyPr>
          <a:lstStyle/>
          <a:p>
            <a:pPr algn="l"/>
            <a:r>
              <a:rPr sz="550" b="0">
                <a:solidFill>
                  <a:srgbClr val="D97757"/>
                </a:solidFill>
                <a:latin typeface="IBM Plex Mono"/>
                <a:cs typeface="IBM Plex Mono"/>
                <a:ea typeface="IBM Plex Mono"/>
              </a:rPr>
              <a:t>record["attn_span_before"], record["attn_span_after"] = …</a:t>
            </a:r>
          </a:p>
        </p:txBody>
      </p:sp>
      <p:sp>
        <p:nvSpPr>
          <p:cNvPr id="30" name="TextBox 29"/>
          <p:cNvSpPr txBox="1"/>
          <p:nvPr/>
        </p:nvSpPr>
        <p:spPr>
          <a:xfrm>
            <a:off x="8318500" y="2918778"/>
            <a:ext cx="2946400" cy="101282"/>
          </a:xfrm>
          <a:prstGeom prst="rect">
            <a:avLst/>
          </a:prstGeom>
          <a:noFill/>
        </p:spPr>
        <p:txBody>
          <a:bodyPr wrap="square" lIns="0" rIns="0" tIns="0" bIns="0" anchor="t">
            <a:spAutoFit/>
          </a:bodyPr>
          <a:lstStyle/>
          <a:p>
            <a:pPr algn="l"/>
            <a:r>
              <a:rPr sz="550" b="0">
                <a:solidFill>
                  <a:srgbClr val="D97757"/>
                </a:solidFill>
                <a:latin typeface="IBM Plex Mono"/>
                <a:cs typeface="IBM Plex Mono"/>
                <a:ea typeface="IBM Plex Mono"/>
              </a:rPr>
              <a:t>record["attn_calls"] = n                    # 0 would have raised</a:t>
            </a:r>
          </a:p>
        </p:txBody>
      </p:sp>
      <p:sp>
        <p:nvSpPr>
          <p:cNvPr id="31" name="Rounded Rectangle 30"/>
          <p:cNvSpPr/>
          <p:nvPr/>
        </p:nvSpPr>
        <p:spPr>
          <a:xfrm>
            <a:off x="635000" y="4826000"/>
            <a:ext cx="10922000" cy="1428750"/>
          </a:xfrm>
          <a:prstGeom prst="roundRect">
            <a:avLst>
              <a:gd name="adj" fmla="val 5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2800" y="5003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EQ. 16 — THE UNDERSHOOT FORM</a:t>
            </a:r>
          </a:p>
        </p:txBody>
      </p:sp>
      <p:sp>
        <p:nvSpPr>
          <p:cNvPr id="33" name="TextBox 32"/>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Stored before-and-after span masses confirm the reweighting actually took effect in every run.</a:t>
            </a:r>
          </a:p>
        </p:txBody>
      </p:sp>
      <p:pic>
        <p:nvPicPr>
          <p:cNvPr id="34" name="Picture 33" descr="eq_spotlight.png"/>
          <p:cNvPicPr>
            <a:picLocks noChangeAspect="1"/>
          </p:cNvPicPr>
          <p:nvPr/>
        </p:nvPicPr>
        <p:blipFill>
          <a:blip r:embed="rId2"/>
          <a:stretch>
            <a:fillRect/>
          </a:stretch>
        </p:blipFill>
        <p:spPr>
          <a:xfrm>
            <a:off x="812800" y="5207000"/>
            <a:ext cx="1971719" cy="381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Result — strength sweep</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Recovery against steering strength, with the attention-reweighting result on the same axis.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81</a:t>
            </a:r>
          </a:p>
        </p:txBody>
      </p:sp>
      <p:sp>
        <p:nvSpPr>
          <p:cNvPr id="8" name="Rounded Rectangle 7"/>
          <p:cNvSpPr/>
          <p:nvPr/>
        </p:nvSpPr>
        <p:spPr>
          <a:xfrm>
            <a:off x="6350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QWEN2.5-CODER-3B</a:t>
            </a:r>
          </a:p>
        </p:txBody>
      </p:sp>
      <p:sp>
        <p:nvSpPr>
          <p:cNvPr id="10" name="Rounded Rectangle 9"/>
          <p:cNvSpPr/>
          <p:nvPr/>
        </p:nvSpPr>
        <p:spPr>
          <a:xfrm>
            <a:off x="921088" y="2120900"/>
            <a:ext cx="2044025"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tep6__strength_qwen.png"/>
          <p:cNvPicPr>
            <a:picLocks noChangeAspect="1"/>
          </p:cNvPicPr>
          <p:nvPr/>
        </p:nvPicPr>
        <p:blipFill>
          <a:blip r:embed="rId2"/>
          <a:stretch>
            <a:fillRect/>
          </a:stretch>
        </p:blipFill>
        <p:spPr>
          <a:xfrm>
            <a:off x="997288" y="2197100"/>
            <a:ext cx="1891625" cy="1308100"/>
          </a:xfrm>
          <a:prstGeom prst="rect">
            <a:avLst/>
          </a:prstGeom>
        </p:spPr>
      </p:pic>
      <p:sp>
        <p:nvSpPr>
          <p:cNvPr id="12" name="Rounded Rectangle 11"/>
          <p:cNvSpPr/>
          <p:nvPr/>
        </p:nvSpPr>
        <p:spPr>
          <a:xfrm>
            <a:off x="34036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814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DEEPSEEK-CODER-6.7B</a:t>
            </a:r>
          </a:p>
        </p:txBody>
      </p:sp>
      <p:sp>
        <p:nvSpPr>
          <p:cNvPr id="14" name="Rounded Rectangle 13"/>
          <p:cNvSpPr/>
          <p:nvPr/>
        </p:nvSpPr>
        <p:spPr>
          <a:xfrm>
            <a:off x="3689688" y="2120900"/>
            <a:ext cx="2044025"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tep6__strength_deepseek.png"/>
          <p:cNvPicPr>
            <a:picLocks noChangeAspect="1"/>
          </p:cNvPicPr>
          <p:nvPr/>
        </p:nvPicPr>
        <p:blipFill>
          <a:blip r:embed="rId3"/>
          <a:stretch>
            <a:fillRect/>
          </a:stretch>
        </p:blipFill>
        <p:spPr>
          <a:xfrm>
            <a:off x="3765888" y="2197100"/>
            <a:ext cx="1891625" cy="1308100"/>
          </a:xfrm>
          <a:prstGeom prst="rect">
            <a:avLst/>
          </a:prstGeom>
        </p:spPr>
      </p:pic>
      <p:sp>
        <p:nvSpPr>
          <p:cNvPr id="16" name="Rounded Rectangle 15"/>
          <p:cNvSpPr/>
          <p:nvPr/>
        </p:nvSpPr>
        <p:spPr>
          <a:xfrm>
            <a:off x="61722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00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LLAMA-3.2-3B</a:t>
            </a:r>
          </a:p>
        </p:txBody>
      </p:sp>
      <p:sp>
        <p:nvSpPr>
          <p:cNvPr id="18" name="Rounded Rectangle 17"/>
          <p:cNvSpPr/>
          <p:nvPr/>
        </p:nvSpPr>
        <p:spPr>
          <a:xfrm>
            <a:off x="6458288" y="2120900"/>
            <a:ext cx="2044025"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ep6__strength_llama.png"/>
          <p:cNvPicPr>
            <a:picLocks noChangeAspect="1"/>
          </p:cNvPicPr>
          <p:nvPr/>
        </p:nvPicPr>
        <p:blipFill>
          <a:blip r:embed="rId4"/>
          <a:stretch>
            <a:fillRect/>
          </a:stretch>
        </p:blipFill>
        <p:spPr>
          <a:xfrm>
            <a:off x="6534488" y="2197100"/>
            <a:ext cx="1891625" cy="1308100"/>
          </a:xfrm>
          <a:prstGeom prst="rect">
            <a:avLst/>
          </a:prstGeom>
        </p:spPr>
      </p:pic>
      <p:sp>
        <p:nvSpPr>
          <p:cNvPr id="20" name="Rounded Rectangle 19"/>
          <p:cNvSpPr/>
          <p:nvPr/>
        </p:nvSpPr>
        <p:spPr>
          <a:xfrm>
            <a:off x="8940800" y="1752600"/>
            <a:ext cx="2616200" cy="2006600"/>
          </a:xfrm>
          <a:prstGeom prst="roundRect">
            <a:avLst>
              <a:gd name="adj" fmla="val 37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18600" y="1930400"/>
            <a:ext cx="22606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STABLECODE-3B</a:t>
            </a:r>
          </a:p>
        </p:txBody>
      </p:sp>
      <p:sp>
        <p:nvSpPr>
          <p:cNvPr id="22" name="Rounded Rectangle 21"/>
          <p:cNvSpPr/>
          <p:nvPr/>
        </p:nvSpPr>
        <p:spPr>
          <a:xfrm>
            <a:off x="9226888" y="2120900"/>
            <a:ext cx="2044025" cy="1460500"/>
          </a:xfrm>
          <a:prstGeom prst="roundRect">
            <a:avLst>
              <a:gd name="adj" fmla="val 5217"/>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ep6__strength_stability.png"/>
          <p:cNvPicPr>
            <a:picLocks noChangeAspect="1"/>
          </p:cNvPicPr>
          <p:nvPr/>
        </p:nvPicPr>
        <p:blipFill>
          <a:blip r:embed="rId5"/>
          <a:stretch>
            <a:fillRect/>
          </a:stretch>
        </p:blipFill>
        <p:spPr>
          <a:xfrm>
            <a:off x="9303088" y="2197100"/>
            <a:ext cx="1891625" cy="1308100"/>
          </a:xfrm>
          <a:prstGeom prst="rect">
            <a:avLst/>
          </a:prstGeom>
        </p:spPr>
      </p:pic>
      <p:sp>
        <p:nvSpPr>
          <p:cNvPr id="24" name="TextBox 23"/>
          <p:cNvSpPr txBox="1"/>
          <p:nvPr/>
        </p:nvSpPr>
        <p:spPr>
          <a:xfrm>
            <a:off x="635000" y="3822700"/>
            <a:ext cx="10922000" cy="152400"/>
          </a:xfrm>
          <a:prstGeom prst="rect">
            <a:avLst/>
          </a:prstGeom>
          <a:noFill/>
        </p:spPr>
        <p:txBody>
          <a:bodyPr wrap="square" lIns="0" rIns="0" tIns="0" bIns="0" anchor="t">
            <a:spAutoFit/>
          </a:bodyPr>
          <a:lstStyle/>
          <a:p>
            <a:pPr algn="l"/>
            <a:r>
              <a:rPr sz="950" b="0">
                <a:solidFill>
                  <a:srgbClr val="797979"/>
                </a:solidFill>
                <a:latin typeface="Inter"/>
                <a:cs typeface="Inter"/>
                <a:ea typeface="Inter"/>
              </a:rPr>
              <a:t>Transfer rate against intervention strength. Undecidable conditions excluded.</a:t>
            </a:r>
          </a:p>
        </p:txBody>
      </p:sp>
      <p:sp>
        <p:nvSpPr>
          <p:cNvPr id="25" name="Rounded Rectangle 24"/>
          <p:cNvSpPr/>
          <p:nvPr/>
        </p:nvSpPr>
        <p:spPr>
          <a:xfrm>
            <a:off x="635000" y="4127500"/>
            <a:ext cx="10922000" cy="2127250"/>
          </a:xfrm>
          <a:prstGeom prst="roundRect">
            <a:avLst>
              <a:gd name="adj" fmla="val 358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2800" y="4305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BEST RESULT EACH METHOD REACHED, PER MODEL</a:t>
            </a:r>
          </a:p>
        </p:txBody>
      </p:sp>
      <p:sp>
        <p:nvSpPr>
          <p:cNvPr id="27" name="TextBox 26"/>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Value steering exceeds 1.0 on three models, meaning it pushed preference past the fully compliant context.</a:t>
            </a:r>
          </a:p>
        </p:txBody>
      </p:sp>
      <p:sp>
        <p:nvSpPr>
          <p:cNvPr id="28" name="TextBox 27"/>
          <p:cNvSpPr txBox="1"/>
          <p:nvPr/>
        </p:nvSpPr>
        <p:spPr>
          <a:xfrm>
            <a:off x="812800" y="4559300"/>
            <a:ext cx="295859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29" name="TextBox 28"/>
          <p:cNvSpPr txBox="1"/>
          <p:nvPr/>
        </p:nvSpPr>
        <p:spPr>
          <a:xfrm>
            <a:off x="3771392" y="4559300"/>
            <a:ext cx="190195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STEERING · BEST Α</a:t>
            </a:r>
          </a:p>
        </p:txBody>
      </p:sp>
      <p:sp>
        <p:nvSpPr>
          <p:cNvPr id="30" name="TextBox 29"/>
          <p:cNvSpPr txBox="1"/>
          <p:nvPr/>
        </p:nvSpPr>
        <p:spPr>
          <a:xfrm>
            <a:off x="5673344" y="4559300"/>
            <a:ext cx="190195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STEERING · RECOVERY</a:t>
            </a:r>
          </a:p>
        </p:txBody>
      </p:sp>
      <p:sp>
        <p:nvSpPr>
          <p:cNvPr id="31" name="TextBox 30"/>
          <p:cNvSpPr txBox="1"/>
          <p:nvPr/>
        </p:nvSpPr>
        <p:spPr>
          <a:xfrm>
            <a:off x="7575296" y="4559300"/>
            <a:ext cx="190195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SPOTLIGHT · BEST Ψ</a:t>
            </a:r>
          </a:p>
        </p:txBody>
      </p:sp>
      <p:sp>
        <p:nvSpPr>
          <p:cNvPr id="32" name="TextBox 31"/>
          <p:cNvSpPr txBox="1"/>
          <p:nvPr/>
        </p:nvSpPr>
        <p:spPr>
          <a:xfrm>
            <a:off x="9477248" y="4559300"/>
            <a:ext cx="190195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SPOTLIGHT · RECOVERY</a:t>
            </a:r>
          </a:p>
        </p:txBody>
      </p:sp>
      <p:sp>
        <p:nvSpPr>
          <p:cNvPr id="33" name="Rectangle 32"/>
          <p:cNvSpPr/>
          <p:nvPr/>
        </p:nvSpPr>
        <p:spPr>
          <a:xfrm>
            <a:off x="812800" y="47117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2800" y="4813300"/>
            <a:ext cx="2793492"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Qwen2.5-Coder-3B</a:t>
            </a:r>
          </a:p>
        </p:txBody>
      </p:sp>
      <p:sp>
        <p:nvSpPr>
          <p:cNvPr id="35" name="TextBox 34"/>
          <p:cNvSpPr txBox="1"/>
          <p:nvPr/>
        </p:nvSpPr>
        <p:spPr>
          <a:xfrm>
            <a:off x="3771392" y="4813300"/>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α = 4</a:t>
            </a:r>
          </a:p>
        </p:txBody>
      </p:sp>
      <p:sp>
        <p:nvSpPr>
          <p:cNvPr id="36" name="TextBox 35"/>
          <p:cNvSpPr txBox="1"/>
          <p:nvPr/>
        </p:nvSpPr>
        <p:spPr>
          <a:xfrm>
            <a:off x="5673344" y="4813300"/>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1.73</a:t>
            </a:r>
          </a:p>
        </p:txBody>
      </p:sp>
      <p:sp>
        <p:nvSpPr>
          <p:cNvPr id="37" name="TextBox 36"/>
          <p:cNvSpPr txBox="1"/>
          <p:nvPr/>
        </p:nvSpPr>
        <p:spPr>
          <a:xfrm>
            <a:off x="7575296" y="4813300"/>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ψ = 0.3</a:t>
            </a:r>
          </a:p>
        </p:txBody>
      </p:sp>
      <p:sp>
        <p:nvSpPr>
          <p:cNvPr id="38" name="TextBox 37"/>
          <p:cNvSpPr txBox="1"/>
          <p:nvPr/>
        </p:nvSpPr>
        <p:spPr>
          <a:xfrm>
            <a:off x="9477248" y="4813300"/>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0.03</a:t>
            </a:r>
          </a:p>
        </p:txBody>
      </p:sp>
      <p:sp>
        <p:nvSpPr>
          <p:cNvPr id="39" name="Rectangle 38"/>
          <p:cNvSpPr/>
          <p:nvPr/>
        </p:nvSpPr>
        <p:spPr>
          <a:xfrm>
            <a:off x="812800" y="5000966"/>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800" y="5064466"/>
            <a:ext cx="2793492"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DeepSeek-Coder-6.7B</a:t>
            </a:r>
          </a:p>
        </p:txBody>
      </p:sp>
      <p:sp>
        <p:nvSpPr>
          <p:cNvPr id="41" name="TextBox 40"/>
          <p:cNvSpPr txBox="1"/>
          <p:nvPr/>
        </p:nvSpPr>
        <p:spPr>
          <a:xfrm>
            <a:off x="3771392" y="5064466"/>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α = 4</a:t>
            </a:r>
          </a:p>
        </p:txBody>
      </p:sp>
      <p:sp>
        <p:nvSpPr>
          <p:cNvPr id="42" name="TextBox 41"/>
          <p:cNvSpPr txBox="1"/>
          <p:nvPr/>
        </p:nvSpPr>
        <p:spPr>
          <a:xfrm>
            <a:off x="5673344" y="5064466"/>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3.49</a:t>
            </a:r>
          </a:p>
        </p:txBody>
      </p:sp>
      <p:sp>
        <p:nvSpPr>
          <p:cNvPr id="43" name="TextBox 42"/>
          <p:cNvSpPr txBox="1"/>
          <p:nvPr/>
        </p:nvSpPr>
        <p:spPr>
          <a:xfrm>
            <a:off x="7575296" y="5064466"/>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ψ = 0.3</a:t>
            </a:r>
          </a:p>
        </p:txBody>
      </p:sp>
      <p:sp>
        <p:nvSpPr>
          <p:cNvPr id="44" name="TextBox 43"/>
          <p:cNvSpPr txBox="1"/>
          <p:nvPr/>
        </p:nvSpPr>
        <p:spPr>
          <a:xfrm>
            <a:off x="9477248" y="5064466"/>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-0.11</a:t>
            </a:r>
          </a:p>
        </p:txBody>
      </p:sp>
      <p:sp>
        <p:nvSpPr>
          <p:cNvPr id="45" name="Rectangle 44"/>
          <p:cNvSpPr/>
          <p:nvPr/>
        </p:nvSpPr>
        <p:spPr>
          <a:xfrm>
            <a:off x="812800" y="525213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2800" y="5315633"/>
            <a:ext cx="2793492"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Llama-3.2-3B</a:t>
            </a:r>
          </a:p>
        </p:txBody>
      </p:sp>
      <p:sp>
        <p:nvSpPr>
          <p:cNvPr id="47" name="TextBox 46"/>
          <p:cNvSpPr txBox="1"/>
          <p:nvPr/>
        </p:nvSpPr>
        <p:spPr>
          <a:xfrm>
            <a:off x="3771392" y="5315633"/>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α = 2</a:t>
            </a:r>
          </a:p>
        </p:txBody>
      </p:sp>
      <p:sp>
        <p:nvSpPr>
          <p:cNvPr id="48" name="TextBox 47"/>
          <p:cNvSpPr txBox="1"/>
          <p:nvPr/>
        </p:nvSpPr>
        <p:spPr>
          <a:xfrm>
            <a:off x="5673344" y="5315633"/>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1.36</a:t>
            </a:r>
          </a:p>
        </p:txBody>
      </p:sp>
      <p:sp>
        <p:nvSpPr>
          <p:cNvPr id="49" name="TextBox 48"/>
          <p:cNvSpPr txBox="1"/>
          <p:nvPr/>
        </p:nvSpPr>
        <p:spPr>
          <a:xfrm>
            <a:off x="7575296" y="5315633"/>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ψ = 0.3</a:t>
            </a:r>
          </a:p>
        </p:txBody>
      </p:sp>
      <p:sp>
        <p:nvSpPr>
          <p:cNvPr id="50" name="TextBox 49"/>
          <p:cNvSpPr txBox="1"/>
          <p:nvPr/>
        </p:nvSpPr>
        <p:spPr>
          <a:xfrm>
            <a:off x="9477248" y="5315633"/>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0.49</a:t>
            </a:r>
          </a:p>
        </p:txBody>
      </p:sp>
      <p:sp>
        <p:nvSpPr>
          <p:cNvPr id="51" name="Rectangle 50"/>
          <p:cNvSpPr/>
          <p:nvPr/>
        </p:nvSpPr>
        <p:spPr>
          <a:xfrm>
            <a:off x="812800" y="5503299"/>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2800" y="5566799"/>
            <a:ext cx="2793492" cy="251166"/>
          </a:xfrm>
          <a:prstGeom prst="rect">
            <a:avLst/>
          </a:prstGeom>
          <a:noFill/>
        </p:spPr>
        <p:txBody>
          <a:bodyPr wrap="square" lIns="0" rIns="0" tIns="0" bIns="0" anchor="t">
            <a:spAutoFit/>
          </a:bodyPr>
          <a:lstStyle/>
          <a:p>
            <a:pPr algn="l">
              <a:lnSpc>
                <a:spcPct val="130000"/>
              </a:lnSpc>
            </a:pPr>
            <a:r>
              <a:rPr sz="950" b="0">
                <a:solidFill>
                  <a:srgbClr val="FFFFFF"/>
                </a:solidFill>
                <a:latin typeface="Inter"/>
                <a:cs typeface="Inter"/>
                <a:ea typeface="Inter"/>
              </a:rPr>
              <a:t>StableCode-3B</a:t>
            </a:r>
          </a:p>
        </p:txBody>
      </p:sp>
      <p:sp>
        <p:nvSpPr>
          <p:cNvPr id="53" name="TextBox 52"/>
          <p:cNvSpPr txBox="1"/>
          <p:nvPr/>
        </p:nvSpPr>
        <p:spPr>
          <a:xfrm>
            <a:off x="3771392" y="5566799"/>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α = 4</a:t>
            </a:r>
          </a:p>
        </p:txBody>
      </p:sp>
      <p:sp>
        <p:nvSpPr>
          <p:cNvPr id="54" name="TextBox 53"/>
          <p:cNvSpPr txBox="1"/>
          <p:nvPr/>
        </p:nvSpPr>
        <p:spPr>
          <a:xfrm>
            <a:off x="5673344" y="5566799"/>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3.32</a:t>
            </a:r>
          </a:p>
        </p:txBody>
      </p:sp>
      <p:sp>
        <p:nvSpPr>
          <p:cNvPr id="55" name="TextBox 54"/>
          <p:cNvSpPr txBox="1"/>
          <p:nvPr/>
        </p:nvSpPr>
        <p:spPr>
          <a:xfrm>
            <a:off x="7575296" y="5566799"/>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ψ = 0.3</a:t>
            </a:r>
          </a:p>
        </p:txBody>
      </p:sp>
      <p:sp>
        <p:nvSpPr>
          <p:cNvPr id="56" name="TextBox 55"/>
          <p:cNvSpPr txBox="1"/>
          <p:nvPr/>
        </p:nvSpPr>
        <p:spPr>
          <a:xfrm>
            <a:off x="9477248" y="5566799"/>
            <a:ext cx="1736852" cy="251166"/>
          </a:xfrm>
          <a:prstGeom prst="rect">
            <a:avLst/>
          </a:prstGeom>
          <a:noFill/>
        </p:spPr>
        <p:txBody>
          <a:bodyPr wrap="square" lIns="0" rIns="0" tIns="0" bIns="0" anchor="t">
            <a:spAutoFit/>
          </a:bodyPr>
          <a:lstStyle/>
          <a:p>
            <a:pPr algn="l">
              <a:lnSpc>
                <a:spcPct val="130000"/>
              </a:lnSpc>
            </a:pPr>
            <a:r>
              <a:rPr sz="950" b="0">
                <a:solidFill>
                  <a:srgbClr val="B9B9B9"/>
                </a:solidFill>
                <a:latin typeface="Inter"/>
                <a:cs typeface="Inter"/>
                <a:ea typeface="Inter"/>
              </a:rPr>
              <a:t>0.16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Result — the headline comparison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prescription implied by the diagnosis works. The prescription implied by the rival account does not.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82</a:t>
            </a:r>
          </a:p>
        </p:txBody>
      </p:sp>
      <p:sp>
        <p:nvSpPr>
          <p:cNvPr id="8" name="Rounded Rectangle 7"/>
          <p:cNvSpPr/>
          <p:nvPr/>
        </p:nvSpPr>
        <p:spPr>
          <a:xfrm>
            <a:off x="635000" y="1752600"/>
            <a:ext cx="72390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883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CONTENT STEERING AGAINST ATTENTION REWEIGHTING</a:t>
            </a:r>
          </a:p>
        </p:txBody>
      </p:sp>
      <p:sp>
        <p:nvSpPr>
          <p:cNvPr id="10" name="TextBox 9"/>
          <p:cNvSpPr txBox="1"/>
          <p:nvPr/>
        </p:nvSpPr>
        <p:spPr>
          <a:xfrm>
            <a:off x="812800" y="4160615"/>
            <a:ext cx="6883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Same conditions, same models, same measurement.</a:t>
            </a:r>
          </a:p>
        </p:txBody>
      </p:sp>
      <p:sp>
        <p:nvSpPr>
          <p:cNvPr id="11" name="Rounded Rectangle 10"/>
          <p:cNvSpPr/>
          <p:nvPr/>
        </p:nvSpPr>
        <p:spPr>
          <a:xfrm>
            <a:off x="2440992" y="2120900"/>
            <a:ext cx="3627016" cy="1963515"/>
          </a:xfrm>
          <a:prstGeom prst="roundRect">
            <a:avLst>
              <a:gd name="adj" fmla="val 388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6__explain_headline.png"/>
          <p:cNvPicPr>
            <a:picLocks noChangeAspect="1"/>
          </p:cNvPicPr>
          <p:nvPr/>
        </p:nvPicPr>
        <p:blipFill>
          <a:blip r:embed="rId2"/>
          <a:stretch>
            <a:fillRect/>
          </a:stretch>
        </p:blipFill>
        <p:spPr>
          <a:xfrm>
            <a:off x="2517192" y="2197100"/>
            <a:ext cx="3474616" cy="1811115"/>
          </a:xfrm>
          <a:prstGeom prst="rect">
            <a:avLst/>
          </a:prstGeom>
        </p:spPr>
      </p:pic>
      <p:sp>
        <p:nvSpPr>
          <p:cNvPr id="13" name="Rounded Rectangle 12"/>
          <p:cNvSpPr/>
          <p:nvPr/>
        </p:nvSpPr>
        <p:spPr>
          <a:xfrm>
            <a:off x="8026400" y="1752600"/>
            <a:ext cx="3530600" cy="2794000"/>
          </a:xfrm>
          <a:prstGeom prst="roundRect">
            <a:avLst>
              <a:gd name="adj" fmla="val 272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04200" y="1930400"/>
            <a:ext cx="3175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NOT A NULL OF CONVENIENCE</a:t>
            </a:r>
          </a:p>
        </p:txBody>
      </p:sp>
      <p:sp>
        <p:nvSpPr>
          <p:cNvPr id="15" name="TextBox 14"/>
          <p:cNvSpPr txBox="1"/>
          <p:nvPr/>
        </p:nvSpPr>
        <p:spPr>
          <a:xfrm>
            <a:off x="8204200" y="2120900"/>
            <a:ext cx="3175000" cy="939800"/>
          </a:xfrm>
          <a:prstGeom prst="rect">
            <a:avLst/>
          </a:prstGeom>
          <a:noFill/>
        </p:spPr>
        <p:txBody>
          <a:bodyPr wrap="square" lIns="0" rIns="0" tIns="0" bIns="0">
            <a:spAutoFit/>
          </a:bodyPr>
          <a:lstStyle/>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It fired:</a:t>
            </a:r>
            <a:r>
              <a:rPr sz="1050" b="0">
                <a:solidFill>
                  <a:srgbClr val="B9B9B9"/>
                </a:solidFill>
                <a:latin typeface="Inter"/>
                <a:cs typeface="Inter"/>
                <a:ea typeface="Inter"/>
              </a:rPr>
              <a:t> the stored before-and-after span masses show the reweighting took effect every time</a:t>
            </a:r>
          </a:p>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It was swept:</a:t>
            </a:r>
            <a:r>
              <a:rPr sz="1050" b="0">
                <a:solidFill>
                  <a:srgbClr val="B9B9B9"/>
                </a:solidFill>
                <a:latin typeface="Inter"/>
                <a:cs typeface="Inter"/>
                <a:ea typeface="Inter"/>
              </a:rPr>
              <a:t> two target levels, on the same grid decided in advance</a:t>
            </a:r>
          </a:p>
          <a:p>
            <a:pPr marL="658749" indent="-65874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It is not zero:</a:t>
            </a:r>
            <a:r>
              <a:rPr sz="1050" b="0">
                <a:solidFill>
                  <a:srgbClr val="B9B9B9"/>
                </a:solidFill>
                <a:latin typeface="Inter"/>
                <a:cs typeface="Inter"/>
                <a:ea typeface="Inter"/>
              </a:rPr>
              <a:t> Llama shows a positive but small recovery; DeepSeek is negative</a:t>
            </a:r>
          </a:p>
        </p:txBody>
      </p:sp>
      <p:sp>
        <p:nvSpPr>
          <p:cNvPr id="16" name="Rounded Rectangle 15"/>
          <p:cNvSpPr/>
          <p:nvPr/>
        </p:nvSpPr>
        <p:spPr>
          <a:xfrm>
            <a:off x="635000" y="4699000"/>
            <a:ext cx="10922000" cy="1555750"/>
          </a:xfrm>
          <a:prstGeom prst="roundRect">
            <a:avLst>
              <a:gd name="adj" fmla="val 489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4876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CLAIM THIS LICENSES, STATED AT ITS TRUE STRENGTH</a:t>
            </a:r>
          </a:p>
        </p:txBody>
      </p:sp>
      <p:sp>
        <p:nvSpPr>
          <p:cNvPr id="18" name="TextBox 1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prescription that beats the rival on this instrument, not a general method claim.</a:t>
            </a:r>
          </a:p>
        </p:txBody>
      </p:sp>
      <p:sp>
        <p:nvSpPr>
          <p:cNvPr id="19" name="TextBox 18"/>
          <p:cNvSpPr txBox="1"/>
          <p:nvPr/>
        </p:nvSpPr>
        <p:spPr>
          <a:xfrm>
            <a:off x="812800" y="50673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On these four models, on this dataset, and under this measurement, adding a contrast direction at a late layer restores notation preference while raising the instruction's attention mass does not. That is a strong result about the diagnosis and a weak one about deployment.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Result — does the score survive generation?</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A preference score that rises while the emitted names fall apart is not a remedy.</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83</a:t>
            </a:r>
          </a:p>
        </p:txBody>
      </p:sp>
      <p:sp>
        <p:nvSpPr>
          <p:cNvPr id="8" name="Rounded Rectangle 7"/>
          <p:cNvSpPr/>
          <p:nvPr/>
        </p:nvSpPr>
        <p:spPr>
          <a:xfrm>
            <a:off x="635000" y="1752600"/>
            <a:ext cx="7239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883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SCORE AGAINST ACTUAL GENERATED NAMES</a:t>
            </a:r>
          </a:p>
        </p:txBody>
      </p:sp>
      <p:sp>
        <p:nvSpPr>
          <p:cNvPr id="10" name="TextBox 9"/>
          <p:cNvSpPr txBox="1"/>
          <p:nvPr/>
        </p:nvSpPr>
        <p:spPr>
          <a:xfrm>
            <a:off x="812800" y="4097115"/>
            <a:ext cx="6883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two measurements come apart, and the gap is the point of the slide.</a:t>
            </a:r>
          </a:p>
        </p:txBody>
      </p:sp>
      <p:sp>
        <p:nvSpPr>
          <p:cNvPr id="11" name="Rounded Rectangle 10"/>
          <p:cNvSpPr/>
          <p:nvPr/>
        </p:nvSpPr>
        <p:spPr>
          <a:xfrm>
            <a:off x="1340267" y="2120900"/>
            <a:ext cx="5828466" cy="1900015"/>
          </a:xfrm>
          <a:prstGeom prst="roundRect">
            <a:avLst>
              <a:gd name="adj" fmla="val 401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6__explain_score_vs_real.png"/>
          <p:cNvPicPr>
            <a:picLocks noChangeAspect="1"/>
          </p:cNvPicPr>
          <p:nvPr/>
        </p:nvPicPr>
        <p:blipFill>
          <a:blip r:embed="rId2"/>
          <a:stretch>
            <a:fillRect/>
          </a:stretch>
        </p:blipFill>
        <p:spPr>
          <a:xfrm>
            <a:off x="1416467" y="2197100"/>
            <a:ext cx="5676066" cy="1747615"/>
          </a:xfrm>
          <a:prstGeom prst="rect">
            <a:avLst/>
          </a:prstGeom>
        </p:spPr>
      </p:pic>
      <p:sp>
        <p:nvSpPr>
          <p:cNvPr id="13" name="Rounded Rectangle 12"/>
          <p:cNvSpPr/>
          <p:nvPr/>
        </p:nvSpPr>
        <p:spPr>
          <a:xfrm>
            <a:off x="8026400" y="1752600"/>
            <a:ext cx="3530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04200" y="1930400"/>
            <a:ext cx="3175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GENERATED NAMES UNDER STEERING</a:t>
            </a:r>
          </a:p>
        </p:txBody>
      </p:sp>
      <p:sp>
        <p:nvSpPr>
          <p:cNvPr id="15" name="TextBox 14"/>
          <p:cNvSpPr txBox="1"/>
          <p:nvPr/>
        </p:nvSpPr>
        <p:spPr>
          <a:xfrm>
            <a:off x="8204200" y="2184400"/>
            <a:ext cx="14605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MODEL</a:t>
            </a:r>
          </a:p>
        </p:txBody>
      </p:sp>
      <p:sp>
        <p:nvSpPr>
          <p:cNvPr id="16" name="TextBox 15"/>
          <p:cNvSpPr txBox="1"/>
          <p:nvPr/>
        </p:nvSpPr>
        <p:spPr>
          <a:xfrm>
            <a:off x="9664700" y="2184400"/>
            <a:ext cx="85725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WELL-FORMED</a:t>
            </a:r>
          </a:p>
        </p:txBody>
      </p:sp>
      <p:sp>
        <p:nvSpPr>
          <p:cNvPr id="17" name="TextBox 16"/>
          <p:cNvSpPr txBox="1"/>
          <p:nvPr/>
        </p:nvSpPr>
        <p:spPr>
          <a:xfrm>
            <a:off x="10521950" y="2184400"/>
            <a:ext cx="85725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COMPLIANT</a:t>
            </a:r>
          </a:p>
        </p:txBody>
      </p:sp>
      <p:sp>
        <p:nvSpPr>
          <p:cNvPr id="18" name="Rectangle 17"/>
          <p:cNvSpPr/>
          <p:nvPr/>
        </p:nvSpPr>
        <p:spPr>
          <a:xfrm>
            <a:off x="8204200" y="2336800"/>
            <a:ext cx="3175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4200" y="2438400"/>
            <a:ext cx="129540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Qwen2.5-Coder-3B</a:t>
            </a:r>
          </a:p>
        </p:txBody>
      </p:sp>
      <p:sp>
        <p:nvSpPr>
          <p:cNvPr id="20" name="TextBox 19"/>
          <p:cNvSpPr txBox="1"/>
          <p:nvPr/>
        </p:nvSpPr>
        <p:spPr>
          <a:xfrm>
            <a:off x="9664700" y="2438400"/>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100%</a:t>
            </a:r>
          </a:p>
        </p:txBody>
      </p:sp>
      <p:sp>
        <p:nvSpPr>
          <p:cNvPr id="21" name="TextBox 20"/>
          <p:cNvSpPr txBox="1"/>
          <p:nvPr/>
        </p:nvSpPr>
        <p:spPr>
          <a:xfrm>
            <a:off x="10521950" y="2438400"/>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50%</a:t>
            </a:r>
          </a:p>
        </p:txBody>
      </p:sp>
      <p:sp>
        <p:nvSpPr>
          <p:cNvPr id="22" name="Rectangle 21"/>
          <p:cNvSpPr/>
          <p:nvPr/>
        </p:nvSpPr>
        <p:spPr>
          <a:xfrm>
            <a:off x="8204200" y="2847975"/>
            <a:ext cx="3175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4200" y="2911475"/>
            <a:ext cx="129540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DeepSeek-Coder-6.7B</a:t>
            </a:r>
          </a:p>
        </p:txBody>
      </p:sp>
      <p:sp>
        <p:nvSpPr>
          <p:cNvPr id="24" name="TextBox 23"/>
          <p:cNvSpPr txBox="1"/>
          <p:nvPr/>
        </p:nvSpPr>
        <p:spPr>
          <a:xfrm>
            <a:off x="9664700" y="2911475"/>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79%</a:t>
            </a:r>
          </a:p>
        </p:txBody>
      </p:sp>
      <p:sp>
        <p:nvSpPr>
          <p:cNvPr id="25" name="TextBox 24"/>
          <p:cNvSpPr txBox="1"/>
          <p:nvPr/>
        </p:nvSpPr>
        <p:spPr>
          <a:xfrm>
            <a:off x="10521950" y="2911475"/>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64%</a:t>
            </a:r>
          </a:p>
        </p:txBody>
      </p:sp>
      <p:sp>
        <p:nvSpPr>
          <p:cNvPr id="26" name="Rectangle 25"/>
          <p:cNvSpPr/>
          <p:nvPr/>
        </p:nvSpPr>
        <p:spPr>
          <a:xfrm>
            <a:off x="8204200" y="3321050"/>
            <a:ext cx="3175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4200" y="3384550"/>
            <a:ext cx="129540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Llama-3.2-3B</a:t>
            </a:r>
          </a:p>
        </p:txBody>
      </p:sp>
      <p:sp>
        <p:nvSpPr>
          <p:cNvPr id="28" name="TextBox 27"/>
          <p:cNvSpPr txBox="1"/>
          <p:nvPr/>
        </p:nvSpPr>
        <p:spPr>
          <a:xfrm>
            <a:off x="9664700" y="3384550"/>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93%</a:t>
            </a:r>
          </a:p>
        </p:txBody>
      </p:sp>
      <p:sp>
        <p:nvSpPr>
          <p:cNvPr id="29" name="TextBox 28"/>
          <p:cNvSpPr txBox="1"/>
          <p:nvPr/>
        </p:nvSpPr>
        <p:spPr>
          <a:xfrm>
            <a:off x="10521950" y="3384550"/>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75%</a:t>
            </a:r>
          </a:p>
        </p:txBody>
      </p:sp>
      <p:sp>
        <p:nvSpPr>
          <p:cNvPr id="30" name="Rectangle 29"/>
          <p:cNvSpPr/>
          <p:nvPr/>
        </p:nvSpPr>
        <p:spPr>
          <a:xfrm>
            <a:off x="8204200" y="3794125"/>
            <a:ext cx="31750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04200" y="3857625"/>
            <a:ext cx="1295400" cy="473075"/>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StableCode-3B</a:t>
            </a:r>
          </a:p>
        </p:txBody>
      </p:sp>
      <p:sp>
        <p:nvSpPr>
          <p:cNvPr id="32" name="TextBox 31"/>
          <p:cNvSpPr txBox="1"/>
          <p:nvPr/>
        </p:nvSpPr>
        <p:spPr>
          <a:xfrm>
            <a:off x="9664700" y="3857625"/>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58%</a:t>
            </a:r>
          </a:p>
        </p:txBody>
      </p:sp>
      <p:sp>
        <p:nvSpPr>
          <p:cNvPr id="33" name="TextBox 32"/>
          <p:cNvSpPr txBox="1"/>
          <p:nvPr/>
        </p:nvSpPr>
        <p:spPr>
          <a:xfrm>
            <a:off x="10521950" y="3857625"/>
            <a:ext cx="692150" cy="473075"/>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a:t>
            </a:r>
          </a:p>
        </p:txBody>
      </p:sp>
      <p:sp>
        <p:nvSpPr>
          <p:cNvPr id="34" name="Rounded Rectangle 33"/>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HONEST READING</a:t>
            </a:r>
          </a:p>
        </p:txBody>
      </p:sp>
      <p:sp>
        <p:nvSpPr>
          <p:cNvPr id="36" name="TextBox 3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Reported together, always — the score alone would overstate what steering achieves.</a:t>
            </a:r>
          </a:p>
        </p:txBody>
      </p:sp>
      <p:sp>
        <p:nvSpPr>
          <p:cNvPr id="37" name="TextBox 36"/>
          <p:cNvSpPr txBox="1"/>
          <p:nvPr/>
        </p:nvSpPr>
        <p:spPr>
          <a:xfrm>
            <a:off x="812800" y="5003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Steering moves the preference score decisively on all four models, but the generated names follow only partly, and on StableCode barely at all while name quality degrades. The mechanism claim survives; a claim that this is a deployable fix does not.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Result — name health under steering</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Whether the model still writes a usable identifier, plotted against the strength that moved the score.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84</a:t>
            </a:r>
          </a:p>
        </p:txBody>
      </p:sp>
      <p:sp>
        <p:nvSpPr>
          <p:cNvPr id="8" name="Rounded Rectangle 7"/>
          <p:cNvSpPr/>
          <p:nvPr/>
        </p:nvSpPr>
        <p:spPr>
          <a:xfrm>
            <a:off x="635000" y="1752600"/>
            <a:ext cx="7493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7137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WELL-FORMEDNESS AND COMPLIANCE AGAINST STRENGTH</a:t>
            </a:r>
          </a:p>
        </p:txBody>
      </p:sp>
      <p:sp>
        <p:nvSpPr>
          <p:cNvPr id="10" name="TextBox 9"/>
          <p:cNvSpPr txBox="1"/>
          <p:nvPr/>
        </p:nvSpPr>
        <p:spPr>
          <a:xfrm>
            <a:off x="812800" y="4097115"/>
            <a:ext cx="7137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Dashed lines mark the unsteered baseline for each model.</a:t>
            </a:r>
          </a:p>
        </p:txBody>
      </p:sp>
      <p:sp>
        <p:nvSpPr>
          <p:cNvPr id="11" name="Rounded Rectangle 10"/>
          <p:cNvSpPr/>
          <p:nvPr/>
        </p:nvSpPr>
        <p:spPr>
          <a:xfrm>
            <a:off x="3211570" y="2120900"/>
            <a:ext cx="2339859" cy="1900015"/>
          </a:xfrm>
          <a:prstGeom prst="roundRect">
            <a:avLst>
              <a:gd name="adj" fmla="val 4010"/>
            </a:avLst>
          </a:prstGeom>
          <a:solidFill>
            <a:srgbClr val="FFFFFF"/>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ep6__name_health.png"/>
          <p:cNvPicPr>
            <a:picLocks noChangeAspect="1"/>
          </p:cNvPicPr>
          <p:nvPr/>
        </p:nvPicPr>
        <p:blipFill>
          <a:blip r:embed="rId2"/>
          <a:stretch>
            <a:fillRect/>
          </a:stretch>
        </p:blipFill>
        <p:spPr>
          <a:xfrm>
            <a:off x="3287770" y="2197100"/>
            <a:ext cx="2187459" cy="1747615"/>
          </a:xfrm>
          <a:prstGeom prst="rect">
            <a:avLst/>
          </a:prstGeom>
        </p:spPr>
      </p:pic>
      <p:sp>
        <p:nvSpPr>
          <p:cNvPr id="13" name="Rounded Rectangle 12"/>
          <p:cNvSpPr/>
          <p:nvPr/>
        </p:nvSpPr>
        <p:spPr>
          <a:xfrm>
            <a:off x="8280400" y="1752600"/>
            <a:ext cx="3276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58200" y="1930400"/>
            <a:ext cx="2921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DEGRADES, AND WHERE</a:t>
            </a:r>
          </a:p>
        </p:txBody>
      </p:sp>
      <p:sp>
        <p:nvSpPr>
          <p:cNvPr id="15" name="TextBox 14"/>
          <p:cNvSpPr txBox="1"/>
          <p:nvPr/>
        </p:nvSpPr>
        <p:spPr>
          <a:xfrm>
            <a:off x="8458200" y="2120900"/>
            <a:ext cx="2921000" cy="939800"/>
          </a:xfrm>
          <a:prstGeom prst="rect">
            <a:avLst/>
          </a:prstGeom>
          <a:noFill/>
        </p:spPr>
        <p:txBody>
          <a:bodyPr wrap="square" lIns="0" rIns="0" tIns="0" bIns="0">
            <a:spAutoFit/>
          </a:bodyPr>
          <a:lstStyle/>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Baseline:</a:t>
            </a:r>
            <a:r>
              <a:rPr sz="1050" b="0">
                <a:solidFill>
                  <a:srgbClr val="B9B9B9"/>
                </a:solidFill>
                <a:latin typeface="Inter"/>
                <a:cs typeface="Inter"/>
                <a:ea typeface="Inter"/>
              </a:rPr>
              <a:t> every unsteered generation produces a well-formed name</a:t>
            </a:r>
          </a:p>
          <a:p>
            <a:pPr marL="658749" indent="-65874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Under steering:</a:t>
            </a:r>
            <a:r>
              <a:rPr sz="1050" b="0">
                <a:solidFill>
                  <a:srgbClr val="B9B9B9"/>
                </a:solidFill>
                <a:latin typeface="Inter"/>
                <a:cs typeface="Inter"/>
                <a:ea typeface="Inter"/>
              </a:rPr>
              <a:t> well-formedness falls to 58% on StableCode and 79% on DeepSeek</a:t>
            </a:r>
          </a:p>
          <a:p>
            <a:pPr marL="485394" indent="-485394">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Trade-off:</a:t>
            </a:r>
            <a:r>
              <a:rPr sz="1050" b="0">
                <a:solidFill>
                  <a:srgbClr val="B9B9B9"/>
                </a:solidFill>
                <a:latin typeface="Inter"/>
                <a:cs typeface="Inter"/>
                <a:ea typeface="Inter"/>
              </a:rPr>
              <a:t> the strengths that maximise the score are not the ones that keep names intact</a:t>
            </a:r>
          </a:p>
        </p:txBody>
      </p:sp>
      <p:sp>
        <p:nvSpPr>
          <p:cNvPr id="16" name="Rounded Rectangle 15"/>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 THIS SLIDE IS IN THE DECK AT ALL</a:t>
            </a:r>
          </a:p>
        </p:txBody>
      </p:sp>
      <p:sp>
        <p:nvSpPr>
          <p:cNvPr id="18" name="TextBox 17"/>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It is the result that most weakens our own prescription, and it comes from the same runs as the headline.</a:t>
            </a:r>
          </a:p>
        </p:txBody>
      </p:sp>
      <p:sp>
        <p:nvSpPr>
          <p:cNvPr id="19" name="TextBox 18"/>
          <p:cNvSpPr txBox="1"/>
          <p:nvPr/>
        </p:nvSpPr>
        <p:spPr>
          <a:xfrm>
            <a:off x="812800" y="5003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Leaving it out would have been easy and would have made the story cleaner. It is here because the score-only version of this result is the kind of claim this study was reorganised to stop making.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Result — the remedy is not layer-local</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direction is built at the causal peak, then added elsewhere. Location turns out not to matter.</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85</a:t>
            </a:r>
          </a:p>
        </p:txBody>
      </p:sp>
      <p:sp>
        <p:nvSpPr>
          <p:cNvPr id="8" name="Rounded Rectangle 7"/>
          <p:cNvSpPr/>
          <p:nvPr/>
        </p:nvSpPr>
        <p:spPr>
          <a:xfrm>
            <a:off x="635000" y="1752600"/>
            <a:ext cx="6350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CROSS-LAYER RUNS VARY</a:t>
            </a:r>
          </a:p>
        </p:txBody>
      </p:sp>
      <p:sp>
        <p:nvSpPr>
          <p:cNvPr id="10" name="TextBox 9"/>
          <p:cNvSpPr txBox="1"/>
          <p:nvPr/>
        </p:nvSpPr>
        <p:spPr>
          <a:xfrm>
            <a:off x="812800" y="2120900"/>
            <a:ext cx="1043880" cy="2794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Direction</a:t>
            </a:r>
          </a:p>
        </p:txBody>
      </p:sp>
      <p:sp>
        <p:nvSpPr>
          <p:cNvPr id="11" name="TextBox 10"/>
          <p:cNvSpPr txBox="1"/>
          <p:nvPr/>
        </p:nvSpPr>
        <p:spPr>
          <a:xfrm>
            <a:off x="1856680" y="2120900"/>
            <a:ext cx="4950520" cy="2794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always built at the step-3 causal peak</a:t>
            </a:r>
          </a:p>
        </p:txBody>
      </p:sp>
      <p:sp>
        <p:nvSpPr>
          <p:cNvPr id="12" name="TextBox 11"/>
          <p:cNvSpPr txBox="1"/>
          <p:nvPr/>
        </p:nvSpPr>
        <p:spPr>
          <a:xfrm>
            <a:off x="812800" y="2400300"/>
            <a:ext cx="1043880" cy="2794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Injection layer</a:t>
            </a:r>
          </a:p>
        </p:txBody>
      </p:sp>
      <p:sp>
        <p:nvSpPr>
          <p:cNvPr id="13" name="TextBox 12"/>
          <p:cNvSpPr txBox="1"/>
          <p:nvPr/>
        </p:nvSpPr>
        <p:spPr>
          <a:xfrm>
            <a:off x="1856680" y="2400300"/>
            <a:ext cx="4950520" cy="2794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swept across the stack, including early layers</a:t>
            </a:r>
          </a:p>
        </p:txBody>
      </p:sp>
      <p:sp>
        <p:nvSpPr>
          <p:cNvPr id="14" name="TextBox 13"/>
          <p:cNvSpPr txBox="1"/>
          <p:nvPr/>
        </p:nvSpPr>
        <p:spPr>
          <a:xfrm>
            <a:off x="812800" y="2679700"/>
            <a:ext cx="1043880" cy="2794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Strength</a:t>
            </a:r>
          </a:p>
        </p:txBody>
      </p:sp>
      <p:sp>
        <p:nvSpPr>
          <p:cNvPr id="15" name="TextBox 14"/>
          <p:cNvSpPr txBox="1"/>
          <p:nvPr/>
        </p:nvSpPr>
        <p:spPr>
          <a:xfrm>
            <a:off x="1856680" y="2679700"/>
            <a:ext cx="4950520" cy="2794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held at a single value so only location varies</a:t>
            </a:r>
          </a:p>
        </p:txBody>
      </p:sp>
      <p:sp>
        <p:nvSpPr>
          <p:cNvPr id="16" name="TextBox 15"/>
          <p:cNvSpPr txBox="1"/>
          <p:nvPr/>
        </p:nvSpPr>
        <p:spPr>
          <a:xfrm>
            <a:off x="812800" y="2959100"/>
            <a:ext cx="1043880" cy="2794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Conditions</a:t>
            </a:r>
          </a:p>
        </p:txBody>
      </p:sp>
      <p:sp>
        <p:nvSpPr>
          <p:cNvPr id="17" name="TextBox 16"/>
          <p:cNvSpPr txBox="1"/>
          <p:nvPr/>
        </p:nvSpPr>
        <p:spPr>
          <a:xfrm>
            <a:off x="1856680" y="2959100"/>
            <a:ext cx="4950520" cy="2794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336 runs, the same blocks as the main sweep</a:t>
            </a:r>
          </a:p>
        </p:txBody>
      </p:sp>
      <p:sp>
        <p:nvSpPr>
          <p:cNvPr id="18" name="TextBox 17"/>
          <p:cNvSpPr txBox="1"/>
          <p:nvPr/>
        </p:nvSpPr>
        <p:spPr>
          <a:xfrm>
            <a:off x="812800" y="3390900"/>
            <a:ext cx="5994400" cy="5080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Three placements are compared per model, each swept over four strengths; the best strength is reported for each.</a:t>
            </a:r>
          </a:p>
        </p:txBody>
      </p:sp>
      <p:sp>
        <p:nvSpPr>
          <p:cNvPr id="19" name="Rounded Rectangle 18"/>
          <p:cNvSpPr/>
          <p:nvPr/>
        </p:nvSpPr>
        <p:spPr>
          <a:xfrm>
            <a:off x="7137400" y="1752600"/>
            <a:ext cx="4419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0" y="19304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RECORDS STORE</a:t>
            </a:r>
          </a:p>
        </p:txBody>
      </p:sp>
      <p:sp>
        <p:nvSpPr>
          <p:cNvPr id="21" name="TextBox 20"/>
          <p:cNvSpPr txBox="1"/>
          <p:nvPr/>
        </p:nvSpPr>
        <p:spPr>
          <a:xfrm>
            <a:off x="7315200" y="3914331"/>
            <a:ext cx="4064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steer_from_layer records where the direction came from; layer records where it was applied.</a:t>
            </a:r>
          </a:p>
        </p:txBody>
      </p:sp>
      <p:sp>
        <p:nvSpPr>
          <p:cNvPr id="22" name="Rounded Rectangle 21"/>
          <p:cNvSpPr/>
          <p:nvPr/>
        </p:nvSpPr>
        <p:spPr>
          <a:xfrm>
            <a:off x="7315200" y="2120900"/>
            <a:ext cx="4064000" cy="1717231"/>
          </a:xfrm>
          <a:prstGeom prst="roundRect">
            <a:avLst>
              <a:gd name="adj" fmla="val 2218"/>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29500" y="2209800"/>
            <a:ext cx="3835400" cy="138112"/>
          </a:xfrm>
          <a:prstGeom prst="rect">
            <a:avLst/>
          </a:prstGeom>
          <a:noFill/>
        </p:spPr>
        <p:txBody>
          <a:bodyPr wrap="square" lIns="0" rIns="0" tIns="0" bIns="0" anchor="t">
            <a:spAutoFit/>
          </a:bodyPr>
          <a:lstStyle/>
          <a:p>
            <a:pPr algn="l"/>
            <a:r>
              <a:rPr sz="750" b="0">
                <a:solidFill>
                  <a:srgbClr val="B9B9B9"/>
                </a:solidFill>
                <a:latin typeface="IBM Plex Mono"/>
                <a:cs typeface="IBM Plex Mono"/>
                <a:ea typeface="IBM Plex Mono"/>
              </a:rPr>
              <a:t>"extra": {</a:t>
            </a:r>
          </a:p>
        </p:txBody>
      </p:sp>
      <p:sp>
        <p:nvSpPr>
          <p:cNvPr id="24" name="TextBox 23"/>
          <p:cNvSpPr txBox="1"/>
          <p:nvPr/>
        </p:nvSpPr>
        <p:spPr>
          <a:xfrm>
            <a:off x="7429500" y="2347912"/>
            <a:ext cx="3835400" cy="138112"/>
          </a:xfrm>
          <a:prstGeom prst="rect">
            <a:avLst/>
          </a:prstGeom>
          <a:noFill/>
        </p:spPr>
        <p:txBody>
          <a:bodyPr wrap="square" lIns="0" rIns="0" tIns="0" bIns="0" anchor="t">
            <a:spAutoFit/>
          </a:bodyPr>
          <a:lstStyle/>
          <a:p>
            <a:pPr algn="l"/>
            <a:r>
              <a:rPr sz="750" b="0">
                <a:solidFill>
                  <a:srgbClr val="B9B9B9"/>
                </a:solidFill>
                <a:latin typeface="IBM Plex Mono"/>
                <a:cs typeface="IBM Plex Mono"/>
                <a:ea typeface="IBM Plex Mono"/>
              </a:rPr>
              <a:t>  "method": "value_add", "strength": 1.0,</a:t>
            </a:r>
          </a:p>
        </p:txBody>
      </p:sp>
      <p:sp>
        <p:nvSpPr>
          <p:cNvPr id="25" name="TextBox 24"/>
          <p:cNvSpPr txBox="1"/>
          <p:nvPr/>
        </p:nvSpPr>
        <p:spPr>
          <a:xfrm>
            <a:off x="7429500" y="2486025"/>
            <a:ext cx="3835400" cy="138112"/>
          </a:xfrm>
          <a:prstGeom prst="rect">
            <a:avLst/>
          </a:prstGeom>
          <a:noFill/>
        </p:spPr>
        <p:txBody>
          <a:bodyPr wrap="square" lIns="0" rIns="0" tIns="0" bIns="0" anchor="t">
            <a:spAutoFit/>
          </a:bodyPr>
          <a:lstStyle/>
          <a:p>
            <a:pPr algn="l"/>
            <a:r>
              <a:rPr sz="750" b="0">
                <a:solidFill>
                  <a:srgbClr val="D97757"/>
                </a:solidFill>
                <a:latin typeface="IBM Plex Mono"/>
                <a:cs typeface="IBM Plex Mono"/>
                <a:ea typeface="IBM Plex Mono"/>
              </a:rPr>
              <a:t>  "steer_from_layer": 20,        # where the direction was built</a:t>
            </a:r>
          </a:p>
        </p:txBody>
      </p:sp>
      <p:sp>
        <p:nvSpPr>
          <p:cNvPr id="26" name="TextBox 25"/>
          <p:cNvSpPr txBox="1"/>
          <p:nvPr/>
        </p:nvSpPr>
        <p:spPr>
          <a:xfrm>
            <a:off x="7429500" y="2624138"/>
            <a:ext cx="3835400" cy="138112"/>
          </a:xfrm>
          <a:prstGeom prst="rect">
            <a:avLst/>
          </a:prstGeom>
          <a:noFill/>
        </p:spPr>
        <p:txBody>
          <a:bodyPr wrap="square" lIns="0" rIns="0" tIns="0" bIns="0" anchor="t">
            <a:spAutoFit/>
          </a:bodyPr>
          <a:lstStyle/>
          <a:p>
            <a:pPr algn="l"/>
            <a:r>
              <a:rPr sz="750" b="0">
                <a:solidFill>
                  <a:srgbClr val="D97757"/>
                </a:solidFill>
                <a:latin typeface="IBM Plex Mono"/>
                <a:cs typeface="IBM Plex Mono"/>
                <a:ea typeface="IBM Plex Mono"/>
              </a:rPr>
              <a:t>  "layer": 5,                    # where it was injected</a:t>
            </a:r>
          </a:p>
        </p:txBody>
      </p:sp>
      <p:sp>
        <p:nvSpPr>
          <p:cNvPr id="27" name="TextBox 26"/>
          <p:cNvSpPr txBox="1"/>
          <p:nvPr/>
        </p:nvSpPr>
        <p:spPr>
          <a:xfrm>
            <a:off x="7429500" y="2762250"/>
            <a:ext cx="3835400" cy="138112"/>
          </a:xfrm>
          <a:prstGeom prst="rect">
            <a:avLst/>
          </a:prstGeom>
          <a:noFill/>
        </p:spPr>
        <p:txBody>
          <a:bodyPr wrap="square" lIns="0" rIns="0" tIns="0" bIns="0" anchor="t">
            <a:spAutoFit/>
          </a:bodyPr>
          <a:lstStyle/>
          <a:p>
            <a:pPr algn="l"/>
            <a:r>
              <a:rPr sz="750" b="0">
                <a:solidFill>
                  <a:srgbClr val="B9B9B9"/>
                </a:solidFill>
                <a:latin typeface="IBM Plex Mono"/>
                <a:cs typeface="IBM Plex Mono"/>
                <a:ea typeface="IBM Plex Mono"/>
              </a:rPr>
              <a:t>  "steer_vector": {"n_samples": 8, "n_skipped": 0,</a:t>
            </a:r>
          </a:p>
        </p:txBody>
      </p:sp>
      <p:sp>
        <p:nvSpPr>
          <p:cNvPr id="28" name="TextBox 27"/>
          <p:cNvSpPr txBox="1"/>
          <p:nvPr/>
        </p:nvSpPr>
        <p:spPr>
          <a:xfrm>
            <a:off x="7429500" y="2900362"/>
            <a:ext cx="3835400" cy="138112"/>
          </a:xfrm>
          <a:prstGeom prst="rect">
            <a:avLst/>
          </a:prstGeom>
          <a:noFill/>
        </p:spPr>
        <p:txBody>
          <a:bodyPr wrap="square" lIns="0" rIns="0" tIns="0" bIns="0" anchor="t">
            <a:spAutoFit/>
          </a:bodyPr>
          <a:lstStyle/>
          <a:p>
            <a:pPr algn="l"/>
            <a:r>
              <a:rPr sz="750" b="0">
                <a:solidFill>
                  <a:srgbClr val="B9B9B9"/>
                </a:solidFill>
                <a:latin typeface="IBM Plex Mono"/>
                <a:cs typeface="IBM Plex Mono"/>
                <a:ea typeface="IBM Plex Mono"/>
              </a:rPr>
              <a:t>                   "vec_norm": 30.48},</a:t>
            </a:r>
          </a:p>
        </p:txBody>
      </p:sp>
      <p:sp>
        <p:nvSpPr>
          <p:cNvPr id="29" name="TextBox 28"/>
          <p:cNvSpPr txBox="1"/>
          <p:nvPr/>
        </p:nvSpPr>
        <p:spPr>
          <a:xfrm>
            <a:off x="7429500" y="3038475"/>
            <a:ext cx="3835400" cy="138112"/>
          </a:xfrm>
          <a:prstGeom prst="rect">
            <a:avLst/>
          </a:prstGeom>
          <a:noFill/>
        </p:spPr>
        <p:txBody>
          <a:bodyPr wrap="square" lIns="0" rIns="0" tIns="0" bIns="0" anchor="t">
            <a:spAutoFit/>
          </a:bodyPr>
          <a:lstStyle/>
          <a:p>
            <a:pPr algn="l"/>
            <a:r>
              <a:rPr sz="750" b="0">
                <a:solidFill>
                  <a:srgbClr val="B9B9B9"/>
                </a:solidFill>
                <a:latin typeface="IBM Plex Mono"/>
                <a:cs typeface="IBM Plex Mono"/>
                <a:ea typeface="IBM Plex Mono"/>
              </a:rPr>
              <a:t>  "recovery": 1.83,              # injecting early works too</a:t>
            </a:r>
          </a:p>
        </p:txBody>
      </p:sp>
      <p:sp>
        <p:nvSpPr>
          <p:cNvPr id="30" name="TextBox 29"/>
          <p:cNvSpPr txBox="1"/>
          <p:nvPr/>
        </p:nvSpPr>
        <p:spPr>
          <a:xfrm>
            <a:off x="7429500" y="3176588"/>
            <a:ext cx="3835400" cy="138112"/>
          </a:xfrm>
          <a:prstGeom prst="rect">
            <a:avLst/>
          </a:prstGeom>
          <a:noFill/>
        </p:spPr>
        <p:txBody>
          <a:bodyPr wrap="square" lIns="0" rIns="0" tIns="0" bIns="0" anchor="t">
            <a:spAutoFit/>
          </a:bodyPr>
          <a:lstStyle/>
          <a:p>
            <a:pPr algn="l"/>
            <a:r>
              <a:rPr sz="750" b="0">
                <a:solidFill>
                  <a:srgbClr val="B9B9B9"/>
                </a:solidFill>
                <a:latin typeface="IBM Plex Mono"/>
                <a:cs typeface="IBM Plex Mono"/>
                <a:ea typeface="IBM Plex Mono"/>
              </a:rPr>
              <a:t>  "hook_calls": 2 }</a:t>
            </a:r>
          </a:p>
        </p:txBody>
      </p:sp>
      <p:sp>
        <p:nvSpPr>
          <p:cNvPr id="31" name="Rounded Rectangle 30"/>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READING</a:t>
            </a:r>
          </a:p>
        </p:txBody>
      </p:sp>
      <p:sp>
        <p:nvSpPr>
          <p:cNvPr id="33" name="TextBox 32"/>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Best score recovery per model: peak→peak 1.39–4.30, early→early 1.35–3.62, peak→early 1.35–4.08.</a:t>
            </a:r>
          </a:p>
        </p:txBody>
      </p:sp>
      <p:sp>
        <p:nvSpPr>
          <p:cNvPr id="34" name="TextBox 33"/>
          <p:cNvSpPr txBox="1"/>
          <p:nvPr/>
        </p:nvSpPr>
        <p:spPr>
          <a:xfrm>
            <a:off x="812800" y="5003800"/>
            <a:ext cx="105664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Injecting at an early layer works about as well, and on two models slightly better. The prescription is therefore not layer-local — the residual stream carries an added direction forward, so an edit made early survives to the end. This is separate from steps 3 and 5, where the signal itself was localised; that was an observation about where information sits, not about where a remedy must be applied.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05 · EXPERIMENTS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Step 6 · Reading the result files</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Two folders, two record shapes. The score record and the generation record must be read together.</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05 · Experiments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86</a:t>
            </a:r>
          </a:p>
        </p:txBody>
      </p:sp>
      <p:sp>
        <p:nvSpPr>
          <p:cNvPr id="8" name="Rounded Rectangle 7"/>
          <p:cNvSpPr/>
          <p:nvPr/>
        </p:nvSpPr>
        <p:spPr>
          <a:xfrm>
            <a:off x="635000" y="1752600"/>
            <a:ext cx="63500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5994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SCORE RECORD</a:t>
            </a:r>
          </a:p>
        </p:txBody>
      </p:sp>
      <p:sp>
        <p:nvSpPr>
          <p:cNvPr id="10" name="Rounded Rectangle 9"/>
          <p:cNvSpPr/>
          <p:nvPr/>
        </p:nvSpPr>
        <p:spPr>
          <a:xfrm>
            <a:off x="812800" y="2120900"/>
            <a:ext cx="5994400" cy="2438400"/>
          </a:xfrm>
          <a:prstGeom prst="roundRect">
            <a:avLst>
              <a:gd name="adj" fmla="val 1562"/>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27100" y="2209800"/>
            <a:ext cx="5765800" cy="174942"/>
          </a:xfrm>
          <a:prstGeom prst="rect">
            <a:avLst/>
          </a:prstGeom>
          <a:noFill/>
        </p:spPr>
        <p:txBody>
          <a:bodyPr wrap="square" lIns="0" rIns="0" tIns="0" bIns="0" anchor="t">
            <a:spAutoFit/>
          </a:bodyPr>
          <a:lstStyle/>
          <a:p>
            <a:pPr algn="l"/>
            <a:r>
              <a:rPr sz="950" b="0">
                <a:solidFill>
                  <a:srgbClr val="797979"/>
                </a:solidFill>
                <a:latin typeface="IBM Plex Mono"/>
                <a:cs typeface="IBM Plex Mono"/>
                <a:ea typeface="IBM Plex Mono"/>
              </a:rPr>
              <a:t># results/step6_steer/&lt;slug&gt;.json</a:t>
            </a:r>
          </a:p>
        </p:txBody>
      </p:sp>
      <p:sp>
        <p:nvSpPr>
          <p:cNvPr id="12" name="TextBox 11"/>
          <p:cNvSpPr txBox="1"/>
          <p:nvPr/>
        </p:nvSpPr>
        <p:spPr>
          <a:xfrm>
            <a:off x="927100" y="2384742"/>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"extra": {</a:t>
            </a:r>
          </a:p>
        </p:txBody>
      </p:sp>
      <p:sp>
        <p:nvSpPr>
          <p:cNvPr id="13" name="TextBox 12"/>
          <p:cNvSpPr txBox="1"/>
          <p:nvPr/>
        </p:nvSpPr>
        <p:spPr>
          <a:xfrm>
            <a:off x="927100" y="2559685"/>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"mode": "steer",</a:t>
            </a:r>
          </a:p>
        </p:txBody>
      </p:sp>
      <p:sp>
        <p:nvSpPr>
          <p:cNvPr id="14" name="TextBox 13"/>
          <p:cNvSpPr txBox="1"/>
          <p:nvPr/>
        </p:nvSpPr>
        <p:spPr>
          <a:xfrm>
            <a:off x="927100" y="2734628"/>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"method": "attn_amplify",   # none | value_add | attn_amplify</a:t>
            </a:r>
          </a:p>
        </p:txBody>
      </p:sp>
      <p:sp>
        <p:nvSpPr>
          <p:cNvPr id="15" name="TextBox 14"/>
          <p:cNvSpPr txBox="1"/>
          <p:nvPr/>
        </p:nvSpPr>
        <p:spPr>
          <a:xfrm>
            <a:off x="927100" y="2909570"/>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"kind": "spotlight", "span": "rule_word",</a:t>
            </a:r>
          </a:p>
        </p:txBody>
      </p:sp>
      <p:sp>
        <p:nvSpPr>
          <p:cNvPr id="16" name="TextBox 15"/>
          <p:cNvSpPr txBox="1"/>
          <p:nvPr/>
        </p:nvSpPr>
        <p:spPr>
          <a:xfrm>
            <a:off x="927100" y="3084512"/>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"psi_target": 0.1,</a:t>
            </a:r>
          </a:p>
        </p:txBody>
      </p:sp>
      <p:sp>
        <p:nvSpPr>
          <p:cNvPr id="17" name="TextBox 16"/>
          <p:cNvSpPr txBox="1"/>
          <p:nvPr/>
        </p:nvSpPr>
        <p:spPr>
          <a:xfrm>
            <a:off x="927100" y="3259455"/>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"S_clean": 3.929, "S_base": -1.556, "S_int": -3.327,</a:t>
            </a:r>
          </a:p>
        </p:txBody>
      </p:sp>
      <p:sp>
        <p:nvSpPr>
          <p:cNvPr id="18" name="TextBox 17"/>
          <p:cNvSpPr txBox="1"/>
          <p:nvPr/>
        </p:nvSpPr>
        <p:spPr>
          <a:xfrm>
            <a:off x="927100" y="3434398"/>
            <a:ext cx="5765800" cy="174942"/>
          </a:xfrm>
          <a:prstGeom prst="rect">
            <a:avLst/>
          </a:prstGeom>
          <a:noFill/>
        </p:spPr>
        <p:txBody>
          <a:bodyPr wrap="square" lIns="0" rIns="0" tIns="0" bIns="0" anchor="t">
            <a:spAutoFit/>
          </a:bodyPr>
          <a:lstStyle/>
          <a:p>
            <a:pPr algn="l"/>
            <a:r>
              <a:rPr sz="950" b="0">
                <a:solidFill>
                  <a:srgbClr val="D97757"/>
                </a:solidFill>
                <a:latin typeface="IBM Plex Mono"/>
                <a:cs typeface="IBM Plex Mono"/>
                <a:ea typeface="IBM Plex Mono"/>
              </a:rPr>
              <a:t>  "recovery": -0.323,         # the headline number</a:t>
            </a:r>
          </a:p>
        </p:txBody>
      </p:sp>
      <p:sp>
        <p:nvSpPr>
          <p:cNvPr id="19" name="TextBox 18"/>
          <p:cNvSpPr txBox="1"/>
          <p:nvPr/>
        </p:nvSpPr>
        <p:spPr>
          <a:xfrm>
            <a:off x="927100" y="3609340"/>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"gap": 5.485, "undecidable": false,</a:t>
            </a:r>
          </a:p>
        </p:txBody>
      </p:sp>
      <p:sp>
        <p:nvSpPr>
          <p:cNvPr id="20" name="TextBox 19"/>
          <p:cNvSpPr txBox="1"/>
          <p:nvPr/>
        </p:nvSpPr>
        <p:spPr>
          <a:xfrm>
            <a:off x="927100" y="3784283"/>
            <a:ext cx="5765800" cy="174942"/>
          </a:xfrm>
          <a:prstGeom prst="rect">
            <a:avLst/>
          </a:prstGeom>
          <a:noFill/>
        </p:spPr>
        <p:txBody>
          <a:bodyPr wrap="square" lIns="0" rIns="0" tIns="0" bIns="0" anchor="t">
            <a:spAutoFit/>
          </a:bodyPr>
          <a:lstStyle/>
          <a:p>
            <a:pPr algn="l"/>
            <a:r>
              <a:rPr sz="950" b="0">
                <a:solidFill>
                  <a:srgbClr val="D97757"/>
                </a:solidFill>
                <a:latin typeface="IBM Plex Mono"/>
                <a:cs typeface="IBM Plex Mono"/>
                <a:ea typeface="IBM Plex Mono"/>
              </a:rPr>
              <a:t>  "attn_span_before": 0.00080,   # proof it fired</a:t>
            </a:r>
          </a:p>
        </p:txBody>
      </p:sp>
      <p:sp>
        <p:nvSpPr>
          <p:cNvPr id="21" name="TextBox 20"/>
          <p:cNvSpPr txBox="1"/>
          <p:nvPr/>
        </p:nvSpPr>
        <p:spPr>
          <a:xfrm>
            <a:off x="927100" y="3959225"/>
            <a:ext cx="5765800" cy="174942"/>
          </a:xfrm>
          <a:prstGeom prst="rect">
            <a:avLst/>
          </a:prstGeom>
          <a:noFill/>
        </p:spPr>
        <p:txBody>
          <a:bodyPr wrap="square" lIns="0" rIns="0" tIns="0" bIns="0" anchor="t">
            <a:spAutoFit/>
          </a:bodyPr>
          <a:lstStyle/>
          <a:p>
            <a:pPr algn="l"/>
            <a:r>
              <a:rPr sz="950" b="0">
                <a:solidFill>
                  <a:srgbClr val="D97757"/>
                </a:solidFill>
                <a:latin typeface="IBM Plex Mono"/>
                <a:cs typeface="IBM Plex Mono"/>
                <a:ea typeface="IBM Plex Mono"/>
              </a:rPr>
              <a:t>  "attn_span_after":  0.09053,</a:t>
            </a:r>
          </a:p>
        </p:txBody>
      </p:sp>
      <p:sp>
        <p:nvSpPr>
          <p:cNvPr id="22" name="TextBox 21"/>
          <p:cNvSpPr txBox="1"/>
          <p:nvPr/>
        </p:nvSpPr>
        <p:spPr>
          <a:xfrm>
            <a:off x="927100" y="4134167"/>
            <a:ext cx="57658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"attn_calls": 64, "n_span_tokens": 3 }</a:t>
            </a:r>
          </a:p>
        </p:txBody>
      </p:sp>
      <p:sp>
        <p:nvSpPr>
          <p:cNvPr id="23" name="Rounded Rectangle 22"/>
          <p:cNvSpPr/>
          <p:nvPr/>
        </p:nvSpPr>
        <p:spPr>
          <a:xfrm>
            <a:off x="7137400" y="1752600"/>
            <a:ext cx="4419600" cy="2984500"/>
          </a:xfrm>
          <a:prstGeom prst="roundRect">
            <a:avLst>
              <a:gd name="adj" fmla="val 255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0" y="1930400"/>
            <a:ext cx="4064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GENERATION RECORD</a:t>
            </a:r>
          </a:p>
        </p:txBody>
      </p:sp>
      <p:sp>
        <p:nvSpPr>
          <p:cNvPr id="25" name="Rounded Rectangle 24"/>
          <p:cNvSpPr/>
          <p:nvPr/>
        </p:nvSpPr>
        <p:spPr>
          <a:xfrm>
            <a:off x="7315200" y="2120900"/>
            <a:ext cx="4064000" cy="2438400"/>
          </a:xfrm>
          <a:prstGeom prst="roundRect">
            <a:avLst>
              <a:gd name="adj" fmla="val 1562"/>
            </a:avLst>
          </a:prstGeom>
          <a:solidFill>
            <a:srgbClr val="141414"/>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29500" y="2209800"/>
            <a:ext cx="3835400" cy="174942"/>
          </a:xfrm>
          <a:prstGeom prst="rect">
            <a:avLst/>
          </a:prstGeom>
          <a:noFill/>
        </p:spPr>
        <p:txBody>
          <a:bodyPr wrap="square" lIns="0" rIns="0" tIns="0" bIns="0" anchor="t">
            <a:spAutoFit/>
          </a:bodyPr>
          <a:lstStyle/>
          <a:p>
            <a:pPr algn="l"/>
            <a:r>
              <a:rPr sz="950" b="0">
                <a:solidFill>
                  <a:srgbClr val="797979"/>
                </a:solidFill>
                <a:latin typeface="IBM Plex Mono"/>
                <a:cs typeface="IBM Plex Mono"/>
                <a:ea typeface="IBM Plex Mono"/>
              </a:rPr>
              <a:t># results/step6_steer-generate/&lt;slug&gt;.json</a:t>
            </a:r>
          </a:p>
        </p:txBody>
      </p:sp>
      <p:sp>
        <p:nvSpPr>
          <p:cNvPr id="27" name="TextBox 26"/>
          <p:cNvSpPr txBox="1"/>
          <p:nvPr/>
        </p:nvSpPr>
        <p:spPr>
          <a:xfrm>
            <a:off x="7429500" y="2384742"/>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"metrics": {</a:t>
            </a:r>
          </a:p>
        </p:txBody>
      </p:sp>
      <p:sp>
        <p:nvSpPr>
          <p:cNvPr id="28" name="TextBox 27"/>
          <p:cNvSpPr txBox="1"/>
          <p:nvPr/>
        </p:nvSpPr>
        <p:spPr>
          <a:xfrm>
            <a:off x="7429500" y="2559685"/>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"compliance_rate": 0.0,</a:t>
            </a:r>
          </a:p>
        </p:txBody>
      </p:sp>
      <p:sp>
        <p:nvSpPr>
          <p:cNvPr id="29" name="TextBox 28"/>
          <p:cNvSpPr txBox="1"/>
          <p:nvPr/>
        </p:nvSpPr>
        <p:spPr>
          <a:xfrm>
            <a:off x="7429500" y="2734628"/>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"extra": {</a:t>
            </a:r>
          </a:p>
        </p:txBody>
      </p:sp>
      <p:sp>
        <p:nvSpPr>
          <p:cNvPr id="30" name="TextBox 29"/>
          <p:cNvSpPr txBox="1"/>
          <p:nvPr/>
        </p:nvSpPr>
        <p:spPr>
          <a:xfrm>
            <a:off x="7429500" y="2909570"/>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"mode": "steer_generate",</a:t>
            </a:r>
          </a:p>
        </p:txBody>
      </p:sp>
      <p:sp>
        <p:nvSpPr>
          <p:cNvPr id="31" name="TextBox 30"/>
          <p:cNvSpPr txBox="1"/>
          <p:nvPr/>
        </p:nvSpPr>
        <p:spPr>
          <a:xfrm>
            <a:off x="7429500" y="3084512"/>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"method": "value_add",</a:t>
            </a:r>
          </a:p>
        </p:txBody>
      </p:sp>
      <p:sp>
        <p:nvSpPr>
          <p:cNvPr id="32" name="TextBox 31"/>
          <p:cNvSpPr txBox="1"/>
          <p:nvPr/>
        </p:nvSpPr>
        <p:spPr>
          <a:xfrm>
            <a:off x="7429500" y="3259455"/>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"strength": 4, "layer": 25,</a:t>
            </a:r>
          </a:p>
        </p:txBody>
      </p:sp>
      <p:sp>
        <p:nvSpPr>
          <p:cNvPr id="33" name="TextBox 32"/>
          <p:cNvSpPr txBox="1"/>
          <p:nvPr/>
        </p:nvSpPr>
        <p:spPr>
          <a:xfrm>
            <a:off x="7429500" y="3434398"/>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"generated_text": "def RemoveDuplicates(x): …",</a:t>
            </a:r>
          </a:p>
        </p:txBody>
      </p:sp>
      <p:sp>
        <p:nvSpPr>
          <p:cNvPr id="34" name="TextBox 33"/>
          <p:cNvSpPr txBox="1"/>
          <p:nvPr/>
        </p:nvSpPr>
        <p:spPr>
          <a:xfrm>
            <a:off x="7429500" y="3609340"/>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"name": "RemoveDuplicates",</a:t>
            </a:r>
          </a:p>
        </p:txBody>
      </p:sp>
      <p:sp>
        <p:nvSpPr>
          <p:cNvPr id="35" name="TextBox 34"/>
          <p:cNvSpPr txBox="1"/>
          <p:nvPr/>
        </p:nvSpPr>
        <p:spPr>
          <a:xfrm>
            <a:off x="7429500" y="3784283"/>
            <a:ext cx="3835400" cy="174942"/>
          </a:xfrm>
          <a:prstGeom prst="rect">
            <a:avLst/>
          </a:prstGeom>
          <a:noFill/>
        </p:spPr>
        <p:txBody>
          <a:bodyPr wrap="square" lIns="0" rIns="0" tIns="0" bIns="0" anchor="t">
            <a:spAutoFit/>
          </a:bodyPr>
          <a:lstStyle/>
          <a:p>
            <a:pPr algn="l"/>
            <a:r>
              <a:rPr sz="950" b="0">
                <a:solidFill>
                  <a:srgbClr val="D97757"/>
                </a:solidFill>
                <a:latin typeface="IBM Plex Mono"/>
                <a:cs typeface="IBM Plex Mono"/>
                <a:ea typeface="IBM Plex Mono"/>
              </a:rPr>
              <a:t>    "notation": "other",     # not camel</a:t>
            </a:r>
          </a:p>
        </p:txBody>
      </p:sp>
      <p:sp>
        <p:nvSpPr>
          <p:cNvPr id="36" name="TextBox 35"/>
          <p:cNvSpPr txBox="1"/>
          <p:nvPr/>
        </p:nvSpPr>
        <p:spPr>
          <a:xfrm>
            <a:off x="7429500" y="3959225"/>
            <a:ext cx="3835400" cy="174942"/>
          </a:xfrm>
          <a:prstGeom prst="rect">
            <a:avLst/>
          </a:prstGeom>
          <a:noFill/>
        </p:spPr>
        <p:txBody>
          <a:bodyPr wrap="square" lIns="0" rIns="0" tIns="0" bIns="0" anchor="t">
            <a:spAutoFit/>
          </a:bodyPr>
          <a:lstStyle/>
          <a:p>
            <a:pPr algn="l"/>
            <a:r>
              <a:rPr sz="950" b="0">
                <a:solidFill>
                  <a:srgbClr val="D97757"/>
                </a:solidFill>
                <a:latin typeface="IBM Plex Mono"/>
                <a:cs typeface="IBM Plex Mono"/>
                <a:ea typeface="IBM Plex Mono"/>
              </a:rPr>
              <a:t>    "compliant": false,</a:t>
            </a:r>
          </a:p>
        </p:txBody>
      </p:sp>
      <p:sp>
        <p:nvSpPr>
          <p:cNvPr id="37" name="TextBox 36"/>
          <p:cNvSpPr txBox="1"/>
          <p:nvPr/>
        </p:nvSpPr>
        <p:spPr>
          <a:xfrm>
            <a:off x="7429500" y="4134167"/>
            <a:ext cx="3835400" cy="174942"/>
          </a:xfrm>
          <a:prstGeom prst="rect">
            <a:avLst/>
          </a:prstGeom>
          <a:noFill/>
        </p:spPr>
        <p:txBody>
          <a:bodyPr wrap="square" lIns="0" rIns="0" tIns="0" bIns="0" anchor="t">
            <a:spAutoFit/>
          </a:bodyPr>
          <a:lstStyle/>
          <a:p>
            <a:pPr algn="l"/>
            <a:r>
              <a:rPr sz="950" b="0">
                <a:solidFill>
                  <a:srgbClr val="B9B9B9"/>
                </a:solidFill>
                <a:latin typeface="IBM Plex Mono"/>
                <a:cs typeface="IBM Plex Mono"/>
                <a:ea typeface="IBM Plex Mono"/>
              </a:rPr>
              <a:t>    "name_ok": true, "name_length": 16 } }</a:t>
            </a:r>
          </a:p>
        </p:txBody>
      </p:sp>
      <p:sp>
        <p:nvSpPr>
          <p:cNvPr id="38" name="Rounded Rectangle 37"/>
          <p:cNvSpPr/>
          <p:nvPr/>
        </p:nvSpPr>
        <p:spPr>
          <a:xfrm>
            <a:off x="635000" y="4889500"/>
            <a:ext cx="10922000" cy="1365250"/>
          </a:xfrm>
          <a:prstGeom prst="roundRect">
            <a:avLst>
              <a:gd name="adj" fmla="val 5581"/>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12800" y="5067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RULE FOR THIS STEP</a:t>
            </a:r>
          </a:p>
        </p:txBody>
      </p:sp>
      <p:sp>
        <p:nvSpPr>
          <p:cNvPr id="40" name="TextBox 3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Reading recovery without compliant is how a score-only success story gets written.</a:t>
            </a:r>
          </a:p>
        </p:txBody>
      </p:sp>
      <p:sp>
        <p:nvSpPr>
          <p:cNvPr id="41" name="TextBox 40"/>
          <p:cNvSpPr txBox="1"/>
          <p:nvPr/>
        </p:nvSpPr>
        <p:spPr>
          <a:xfrm>
            <a:off x="812800" y="5257800"/>
            <a:ext cx="10566400" cy="256287"/>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Always read recovery and compliant together. The example above is a run where the preference score improved and the emitted name was neither notation.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answers, in the order they were asked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Three questions, three answers, and the strength each one is entitled to.</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87</a:t>
            </a:r>
          </a:p>
        </p:txBody>
      </p:sp>
      <p:sp>
        <p:nvSpPr>
          <p:cNvPr id="8" name="Rounded Rectangle 7"/>
          <p:cNvSpPr/>
          <p:nvPr/>
        </p:nvSpPr>
        <p:spPr>
          <a:xfrm>
            <a:off x="635000" y="1752600"/>
            <a:ext cx="10922000" cy="4502150"/>
          </a:xfrm>
          <a:prstGeom prst="roundRect">
            <a:avLst>
              <a:gd name="adj" fmla="val 1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STUDY ESTABLISHES</a:t>
            </a:r>
          </a:p>
        </p:txBody>
      </p:sp>
      <p:sp>
        <p:nvSpPr>
          <p:cNvPr id="10" name="TextBox 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Each row's qualifier is part of the claim, not a hedge appended to it.</a:t>
            </a:r>
          </a:p>
        </p:txBody>
      </p:sp>
      <p:sp>
        <p:nvSpPr>
          <p:cNvPr id="11" name="TextBox 10"/>
          <p:cNvSpPr txBox="1"/>
          <p:nvPr/>
        </p:nvSpPr>
        <p:spPr>
          <a:xfrm>
            <a:off x="812800" y="2184400"/>
            <a:ext cx="2535936"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QUESTION</a:t>
            </a:r>
          </a:p>
        </p:txBody>
      </p:sp>
      <p:sp>
        <p:nvSpPr>
          <p:cNvPr id="12" name="TextBox 11"/>
          <p:cNvSpPr txBox="1"/>
          <p:nvPr/>
        </p:nvSpPr>
        <p:spPr>
          <a:xfrm>
            <a:off x="3348736" y="2184400"/>
            <a:ext cx="190195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ANSWER</a:t>
            </a:r>
          </a:p>
        </p:txBody>
      </p:sp>
      <p:sp>
        <p:nvSpPr>
          <p:cNvPr id="13" name="TextBox 12"/>
          <p:cNvSpPr txBox="1"/>
          <p:nvPr/>
        </p:nvSpPr>
        <p:spPr>
          <a:xfrm>
            <a:off x="5250688" y="2184400"/>
            <a:ext cx="348691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ON WHAT EVIDENCE</a:t>
            </a:r>
          </a:p>
        </p:txBody>
      </p:sp>
      <p:sp>
        <p:nvSpPr>
          <p:cNvPr id="14" name="TextBox 13"/>
          <p:cNvSpPr txBox="1"/>
          <p:nvPr/>
        </p:nvSpPr>
        <p:spPr>
          <a:xfrm>
            <a:off x="8737600" y="2184400"/>
            <a:ext cx="264160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QUALIFIER</a:t>
            </a:r>
          </a:p>
        </p:txBody>
      </p:sp>
      <p:sp>
        <p:nvSpPr>
          <p:cNvPr id="15" name="Rectangle 14"/>
          <p:cNvSpPr/>
          <p:nvPr/>
        </p:nvSpPr>
        <p:spPr>
          <a:xfrm>
            <a:off x="812800" y="23368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800" y="2438400"/>
            <a:ext cx="2370836" cy="844891"/>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RQ1  does violating context lower compliance</a:t>
            </a:r>
          </a:p>
        </p:txBody>
      </p:sp>
      <p:sp>
        <p:nvSpPr>
          <p:cNvPr id="17" name="TextBox 16"/>
          <p:cNvSpPr txBox="1"/>
          <p:nvPr/>
        </p:nvSpPr>
        <p:spPr>
          <a:xfrm>
            <a:off x="3348736" y="2438400"/>
            <a:ext cx="173685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yes, sharply</a:t>
            </a:r>
          </a:p>
        </p:txBody>
      </p:sp>
      <p:sp>
        <p:nvSpPr>
          <p:cNvPr id="18" name="TextBox 17"/>
          <p:cNvSpPr txBox="1"/>
          <p:nvPr/>
        </p:nvSpPr>
        <p:spPr>
          <a:xfrm>
            <a:off x="5250688" y="2438400"/>
            <a:ext cx="332181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2,184 generations, both directions, 42 blocks</a:t>
            </a:r>
          </a:p>
        </p:txBody>
      </p:sp>
      <p:sp>
        <p:nvSpPr>
          <p:cNvPr id="19" name="TextBox 18"/>
          <p:cNvSpPr txBox="1"/>
          <p:nvPr/>
        </p:nvSpPr>
        <p:spPr>
          <a:xfrm>
            <a:off x="8737600" y="2438400"/>
            <a:ext cx="2476500"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two code-specialised models, Python, first function only</a:t>
            </a:r>
          </a:p>
        </p:txBody>
      </p:sp>
      <p:sp>
        <p:nvSpPr>
          <p:cNvPr id="20" name="Rectangle 19"/>
          <p:cNvSpPr/>
          <p:nvPr/>
        </p:nvSpPr>
        <p:spPr>
          <a:xfrm>
            <a:off x="812800" y="3219791"/>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800" y="3283291"/>
            <a:ext cx="2370836" cy="844891"/>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RQ2  is the code signal content or attention</a:t>
            </a:r>
          </a:p>
        </p:txBody>
      </p:sp>
      <p:sp>
        <p:nvSpPr>
          <p:cNvPr id="22" name="TextBox 21"/>
          <p:cNvSpPr txBox="1"/>
          <p:nvPr/>
        </p:nvSpPr>
        <p:spPr>
          <a:xfrm>
            <a:off x="3348736" y="3283291"/>
            <a:ext cx="173685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content — the Value road</a:t>
            </a:r>
          </a:p>
        </p:txBody>
      </p:sp>
      <p:sp>
        <p:nvSpPr>
          <p:cNvPr id="23" name="TextBox 22"/>
          <p:cNvSpPr txBox="1"/>
          <p:nvPr/>
        </p:nvSpPr>
        <p:spPr>
          <a:xfrm>
            <a:off x="5250688" y="3283291"/>
            <a:ext cx="332181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504 sweeps with paired controls; net effect 0.13–0.36 on Value, 2–11% of that on Key</a:t>
            </a:r>
          </a:p>
        </p:txBody>
      </p:sp>
      <p:sp>
        <p:nvSpPr>
          <p:cNvPr id="24" name="TextBox 23"/>
          <p:cNvSpPr txBox="1"/>
          <p:nvPr/>
        </p:nvSpPr>
        <p:spPr>
          <a:xfrm>
            <a:off x="8737600" y="3283291"/>
            <a:ext cx="2476500"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under mean-pool substitution; phase not measured</a:t>
            </a:r>
          </a:p>
        </p:txBody>
      </p:sp>
      <p:sp>
        <p:nvSpPr>
          <p:cNvPr id="25" name="Rectangle 24"/>
          <p:cNvSpPr/>
          <p:nvPr/>
        </p:nvSpPr>
        <p:spPr>
          <a:xfrm>
            <a:off x="812800" y="4064683"/>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800" y="4128183"/>
            <a:ext cx="2370836" cy="844891"/>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RQ2  where in the network</a:t>
            </a:r>
          </a:p>
        </p:txBody>
      </p:sp>
      <p:sp>
        <p:nvSpPr>
          <p:cNvPr id="27" name="TextBox 26"/>
          <p:cNvSpPr txBox="1"/>
          <p:nvPr/>
        </p:nvSpPr>
        <p:spPr>
          <a:xfrm>
            <a:off x="3348736" y="4128183"/>
            <a:ext cx="173685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 narrow band of late-middle layers</a:t>
            </a:r>
          </a:p>
        </p:txBody>
      </p:sp>
      <p:sp>
        <p:nvSpPr>
          <p:cNvPr id="28" name="TextBox 27"/>
          <p:cNvSpPr txBox="1"/>
          <p:nvPr/>
        </p:nvSpPr>
        <p:spPr>
          <a:xfrm>
            <a:off x="5250688" y="4128183"/>
            <a:ext cx="332181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layer sweeps plus split-half validation on held-out blocks</a:t>
            </a:r>
          </a:p>
        </p:txBody>
      </p:sp>
      <p:sp>
        <p:nvSpPr>
          <p:cNvPr id="29" name="TextBox 28"/>
          <p:cNvSpPr txBox="1"/>
          <p:nvPr/>
        </p:nvSpPr>
        <p:spPr>
          <a:xfrm>
            <a:off x="8737600" y="4128183"/>
            <a:ext cx="2476500"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layer level, head-averaged</a:t>
            </a:r>
          </a:p>
        </p:txBody>
      </p:sp>
      <p:sp>
        <p:nvSpPr>
          <p:cNvPr id="30" name="Rectangle 29"/>
          <p:cNvSpPr/>
          <p:nvPr/>
        </p:nvSpPr>
        <p:spPr>
          <a:xfrm>
            <a:off x="812800" y="4909574"/>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800" y="4973074"/>
            <a:ext cx="2370836" cy="844891"/>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RQ3  is the instruction read the same way</a:t>
            </a:r>
          </a:p>
        </p:txBody>
      </p:sp>
      <p:sp>
        <p:nvSpPr>
          <p:cNvPr id="32" name="TextBox 31"/>
          <p:cNvSpPr txBox="1"/>
          <p:nvPr/>
        </p:nvSpPr>
        <p:spPr>
          <a:xfrm>
            <a:off x="3348736" y="4973074"/>
            <a:ext cx="173685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it is read, and competitively per token</a:t>
            </a:r>
          </a:p>
        </p:txBody>
      </p:sp>
      <p:sp>
        <p:nvSpPr>
          <p:cNvPr id="33" name="TextBox 32"/>
          <p:cNvSpPr txBox="1"/>
          <p:nvPr/>
        </p:nvSpPr>
        <p:spPr>
          <a:xfrm>
            <a:off x="5250688" y="4973074"/>
            <a:ext cx="3321812"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336 observations, both directions, role-separated spans</a:t>
            </a:r>
          </a:p>
        </p:txBody>
      </p:sp>
      <p:sp>
        <p:nvSpPr>
          <p:cNvPr id="34" name="TextBox 33"/>
          <p:cNvSpPr txBox="1"/>
          <p:nvPr/>
        </p:nvSpPr>
        <p:spPr>
          <a:xfrm>
            <a:off x="8737600" y="4973074"/>
            <a:ext cx="2476500" cy="844891"/>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observational only — the causal half is step 5, still pending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Why raising attention does not fix it</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Three independent measurements point the same way, and the prescription test closes the argument.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88</a:t>
            </a:r>
          </a:p>
        </p:txBody>
      </p:sp>
      <p:sp>
        <p:nvSpPr>
          <p:cNvPr id="8" name="Rounded Rectangle 7"/>
          <p:cNvSpPr/>
          <p:nvPr/>
        </p:nvSpPr>
        <p:spPr>
          <a:xfrm>
            <a:off x="635000" y="1752600"/>
            <a:ext cx="10922000" cy="2286000"/>
          </a:xfrm>
          <a:prstGeom prst="roundRect">
            <a:avLst>
              <a:gd name="adj" fmla="val 3333"/>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CHAIN</a:t>
            </a:r>
          </a:p>
        </p:txBody>
      </p:sp>
      <p:sp>
        <p:nvSpPr>
          <p:cNvPr id="10" name="TextBox 9"/>
          <p:cNvSpPr txBox="1"/>
          <p:nvPr/>
        </p:nvSpPr>
        <p:spPr>
          <a:xfrm>
            <a:off x="812800" y="2120900"/>
            <a:ext cx="25273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The model already looks</a:t>
            </a:r>
          </a:p>
        </p:txBody>
      </p:sp>
      <p:sp>
        <p:nvSpPr>
          <p:cNvPr id="11" name="TextBox 10"/>
          <p:cNvSpPr txBox="1"/>
          <p:nvPr/>
        </p:nvSpPr>
        <p:spPr>
          <a:xfrm>
            <a:off x="812800" y="2336800"/>
            <a:ext cx="25273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Violating names receive more attention per token than compliant ones, in every model and at every layer band.</a:t>
            </a:r>
          </a:p>
        </p:txBody>
      </p:sp>
      <p:sp>
        <p:nvSpPr>
          <p:cNvPr id="12" name="TextBox 11"/>
          <p:cNvSpPr txBox="1"/>
          <p:nvPr/>
        </p:nvSpPr>
        <p:spPr>
          <a:xfrm>
            <a:off x="3492500" y="2120900"/>
            <a:ext cx="25273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Attention share carries little</a:t>
            </a:r>
          </a:p>
        </p:txBody>
      </p:sp>
      <p:sp>
        <p:nvSpPr>
          <p:cNvPr id="13" name="TextBox 12"/>
          <p:cNvSpPr txBox="1"/>
          <p:nvPr/>
        </p:nvSpPr>
        <p:spPr>
          <a:xfrm>
            <a:off x="3492500" y="2336800"/>
            <a:ext cx="25273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Overwriting the Key road moves behaviour by 2–11% of what the Value road moves, net of control.</a:t>
            </a:r>
          </a:p>
        </p:txBody>
      </p:sp>
      <p:sp>
        <p:nvSpPr>
          <p:cNvPr id="14" name="TextBox 13"/>
          <p:cNvSpPr txBox="1"/>
          <p:nvPr/>
        </p:nvSpPr>
        <p:spPr>
          <a:xfrm>
            <a:off x="6172200" y="2120900"/>
            <a:ext cx="25273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Content carries it</a:t>
            </a:r>
          </a:p>
        </p:txBody>
      </p:sp>
      <p:sp>
        <p:nvSpPr>
          <p:cNvPr id="15" name="TextBox 14"/>
          <p:cNvSpPr txBox="1"/>
          <p:nvPr/>
        </p:nvSpPr>
        <p:spPr>
          <a:xfrm>
            <a:off x="6172200" y="2336800"/>
            <a:ext cx="25273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Overwriting attended content at one late layer restores preference by 0.13 to 0.36, net of control.</a:t>
            </a:r>
          </a:p>
        </p:txBody>
      </p:sp>
      <p:sp>
        <p:nvSpPr>
          <p:cNvPr id="16" name="TextBox 15"/>
          <p:cNvSpPr txBox="1"/>
          <p:nvPr/>
        </p:nvSpPr>
        <p:spPr>
          <a:xfrm>
            <a:off x="8851900" y="2120900"/>
            <a:ext cx="2527300" cy="152400"/>
          </a:xfrm>
          <a:prstGeom prst="rect">
            <a:avLst/>
          </a:prstGeom>
          <a:noFill/>
        </p:spPr>
        <p:txBody>
          <a:bodyPr wrap="square" lIns="0" rIns="0" tIns="0" bIns="0" anchor="t">
            <a:spAutoFit/>
          </a:bodyPr>
          <a:lstStyle/>
          <a:p>
            <a:pPr algn="l"/>
            <a:r>
              <a:rPr sz="1300" b="0" spc="-20">
                <a:solidFill>
                  <a:srgbClr val="FFFFFF"/>
                </a:solidFill>
                <a:latin typeface="Inter"/>
                <a:cs typeface="Inter"/>
                <a:ea typeface="Inter"/>
              </a:rPr>
              <a:t>And the remedy follows</a:t>
            </a:r>
          </a:p>
        </p:txBody>
      </p:sp>
      <p:sp>
        <p:nvSpPr>
          <p:cNvPr id="17" name="TextBox 16"/>
          <p:cNvSpPr txBox="1"/>
          <p:nvPr/>
        </p:nvSpPr>
        <p:spPr>
          <a:xfrm>
            <a:off x="8851900" y="2336800"/>
            <a:ext cx="25273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Adding a contrast direction at that layer restores preference; reweighting attention onto the instruction does not.</a:t>
            </a:r>
          </a:p>
        </p:txBody>
      </p:sp>
      <p:sp>
        <p:nvSpPr>
          <p:cNvPr id="18" name="Rounded Rectangle 17"/>
          <p:cNvSpPr/>
          <p:nvPr/>
        </p:nvSpPr>
        <p:spPr>
          <a:xfrm>
            <a:off x="635000" y="4191000"/>
            <a:ext cx="68580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12800" y="43688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THIS DOES NOT SAY ABOUT PRIOR WORK</a:t>
            </a:r>
          </a:p>
        </p:txBody>
      </p:sp>
      <p:sp>
        <p:nvSpPr>
          <p:cNvPr id="20" name="TextBox 19"/>
          <p:cNvSpPr txBox="1"/>
          <p:nvPr/>
        </p:nvSpPr>
        <p:spPr>
          <a:xfrm>
            <a:off x="812800" y="5868765"/>
            <a:ext cx="650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disagreement is about the locus of the failure, not about the quality of the earlier method.</a:t>
            </a:r>
          </a:p>
        </p:txBody>
      </p:sp>
      <p:sp>
        <p:nvSpPr>
          <p:cNvPr id="21" name="TextBox 20"/>
          <p:cNvSpPr txBox="1"/>
          <p:nvPr/>
        </p:nvSpPr>
        <p:spPr>
          <a:xfrm>
            <a:off x="812800" y="4559300"/>
            <a:ext cx="65024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Attention reweighting may well help on tasks where the model genuinely under-attends. Our claim is narrower: on this failure, on these models, under this measurement, it does not, because under-attention is not what is wrong.</a:t>
            </a:r>
          </a:p>
        </p:txBody>
      </p:sp>
      <p:sp>
        <p:nvSpPr>
          <p:cNvPr id="22" name="Rounded Rectangle 21"/>
          <p:cNvSpPr/>
          <p:nvPr/>
        </p:nvSpPr>
        <p:spPr>
          <a:xfrm>
            <a:off x="7645400" y="4191000"/>
            <a:ext cx="3911600" cy="2063750"/>
          </a:xfrm>
          <a:prstGeom prst="roundRect">
            <a:avLst>
              <a:gd name="adj" fmla="val 3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23200" y="43688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ONE LINK STILL OPEN</a:t>
            </a:r>
          </a:p>
        </p:txBody>
      </p:sp>
      <p:sp>
        <p:nvSpPr>
          <p:cNvPr id="24" name="TextBox 23"/>
          <p:cNvSpPr txBox="1"/>
          <p:nvPr/>
        </p:nvSpPr>
        <p:spPr>
          <a:xfrm>
            <a:off x="7823200" y="5868765"/>
            <a:ext cx="35560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instruction's causal test is specified and half-run.</a:t>
            </a:r>
          </a:p>
        </p:txBody>
      </p:sp>
      <p:sp>
        <p:nvSpPr>
          <p:cNvPr id="25" name="TextBox 24"/>
          <p:cNvSpPr txBox="1"/>
          <p:nvPr/>
        </p:nvSpPr>
        <p:spPr>
          <a:xfrm>
            <a:off x="7823200" y="4559300"/>
            <a:ext cx="3556000" cy="910849"/>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Everything about the instruction in this deck is observational. The intervention exists but its layer-wise control does not yet, so no causal claim about the instruction is made here.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How claims are worded, and why</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study has a fixed vocabulary for claim strength. Wording drift is the failure mode the audit found most often.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89</a:t>
            </a:r>
          </a:p>
        </p:txBody>
      </p:sp>
      <p:sp>
        <p:nvSpPr>
          <p:cNvPr id="8" name="Rounded Rectangle 7"/>
          <p:cNvSpPr/>
          <p:nvPr/>
        </p:nvSpPr>
        <p:spPr>
          <a:xfrm>
            <a:off x="635000" y="1752600"/>
            <a:ext cx="10922000" cy="4502150"/>
          </a:xfrm>
          <a:prstGeom prst="roundRect">
            <a:avLst>
              <a:gd name="adj" fmla="val 1692"/>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FORBIDDEN PHRASING AND ITS REPLACEMENT</a:t>
            </a:r>
          </a:p>
        </p:txBody>
      </p:sp>
      <p:sp>
        <p:nvSpPr>
          <p:cNvPr id="10" name="TextBox 9"/>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Each row on the left is a sentence that appeared in an earlier draft of this project's documentation.</a:t>
            </a:r>
          </a:p>
        </p:txBody>
      </p:sp>
      <p:sp>
        <p:nvSpPr>
          <p:cNvPr id="11" name="TextBox 10"/>
          <p:cNvSpPr txBox="1"/>
          <p:nvPr/>
        </p:nvSpPr>
        <p:spPr>
          <a:xfrm>
            <a:off x="812800" y="2184400"/>
            <a:ext cx="3169920"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WE DO NOT WRITE</a:t>
            </a:r>
          </a:p>
        </p:txBody>
      </p:sp>
      <p:sp>
        <p:nvSpPr>
          <p:cNvPr id="12" name="TextBox 11"/>
          <p:cNvSpPr txBox="1"/>
          <p:nvPr/>
        </p:nvSpPr>
        <p:spPr>
          <a:xfrm>
            <a:off x="3982720" y="2184400"/>
            <a:ext cx="4015232"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WE WRITE INSTEAD</a:t>
            </a:r>
          </a:p>
        </p:txBody>
      </p:sp>
      <p:sp>
        <p:nvSpPr>
          <p:cNvPr id="13" name="TextBox 12"/>
          <p:cNvSpPr txBox="1"/>
          <p:nvPr/>
        </p:nvSpPr>
        <p:spPr>
          <a:xfrm>
            <a:off x="7997952" y="2184400"/>
            <a:ext cx="3381248" cy="1143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WHY</a:t>
            </a:r>
          </a:p>
        </p:txBody>
      </p:sp>
      <p:sp>
        <p:nvSpPr>
          <p:cNvPr id="14" name="Rectangle 13"/>
          <p:cNvSpPr/>
          <p:nvPr/>
        </p:nvSpPr>
        <p:spPr>
          <a:xfrm>
            <a:off x="812800" y="2336800"/>
            <a:ext cx="105664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800" y="2438400"/>
            <a:ext cx="3004820" cy="71793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“the Key path carries no information”</a:t>
            </a:r>
          </a:p>
        </p:txBody>
      </p:sp>
      <p:sp>
        <p:nvSpPr>
          <p:cNvPr id="16" name="TextBox 15"/>
          <p:cNvSpPr txBox="1"/>
          <p:nvPr/>
        </p:nvSpPr>
        <p:spPr>
          <a:xfrm>
            <a:off x="3982720" y="2438400"/>
            <a:ext cx="3850132"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Key net effect is 2–11% of the Value net effect”</a:t>
            </a:r>
          </a:p>
        </p:txBody>
      </p:sp>
      <p:sp>
        <p:nvSpPr>
          <p:cNvPr id="17" name="TextBox 16"/>
          <p:cNvSpPr txBox="1"/>
          <p:nvPr/>
        </p:nvSpPr>
        <p:spPr>
          <a:xfrm>
            <a:off x="7997952" y="2438400"/>
            <a:ext cx="3216148"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intervals do not contain zero in three of four models</a:t>
            </a:r>
          </a:p>
        </p:txBody>
      </p:sp>
      <p:sp>
        <p:nvSpPr>
          <p:cNvPr id="18" name="Rectangle 17"/>
          <p:cNvSpPr/>
          <p:nvPr/>
        </p:nvSpPr>
        <p:spPr>
          <a:xfrm>
            <a:off x="812800" y="3092834"/>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3156334"/>
            <a:ext cx="3004820" cy="71793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“av_norm is the contribution”</a:t>
            </a:r>
          </a:p>
        </p:txBody>
      </p:sp>
      <p:sp>
        <p:nvSpPr>
          <p:cNvPr id="20" name="TextBox 19"/>
          <p:cNvSpPr txBox="1"/>
          <p:nvPr/>
        </p:nvSpPr>
        <p:spPr>
          <a:xfrm>
            <a:off x="3982720" y="3156334"/>
            <a:ext cx="3850132"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“av_norm is an upper bound on the contribution”</a:t>
            </a:r>
          </a:p>
        </p:txBody>
      </p:sp>
      <p:sp>
        <p:nvSpPr>
          <p:cNvPr id="21" name="TextBox 20"/>
          <p:cNvSpPr txBox="1"/>
          <p:nvPr/>
        </p:nvSpPr>
        <p:spPr>
          <a:xfrm>
            <a:off x="7997952" y="3156334"/>
            <a:ext cx="3216148"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it ignores cancellation and precedes the output projection</a:t>
            </a:r>
          </a:p>
        </p:txBody>
      </p:sp>
      <p:sp>
        <p:nvSpPr>
          <p:cNvPr id="22" name="Rectangle 21"/>
          <p:cNvSpPr/>
          <p:nvPr/>
        </p:nvSpPr>
        <p:spPr>
          <a:xfrm>
            <a:off x="812800" y="3810769"/>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800" y="3874269"/>
            <a:ext cx="3004820" cy="507828"/>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“RoPE concerns are rejected”</a:t>
            </a:r>
          </a:p>
        </p:txBody>
      </p:sp>
      <p:sp>
        <p:nvSpPr>
          <p:cNvPr id="24" name="TextBox 23"/>
          <p:cNvSpPr txBox="1"/>
          <p:nvPr/>
        </p:nvSpPr>
        <p:spPr>
          <a:xfrm>
            <a:off x="3982720" y="3874269"/>
            <a:ext cx="3850132" cy="50782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norm-collapse hypothesis is rejected”</a:t>
            </a:r>
          </a:p>
        </p:txBody>
      </p:sp>
      <p:sp>
        <p:nvSpPr>
          <p:cNvPr id="25" name="TextBox 24"/>
          <p:cNvSpPr txBox="1"/>
          <p:nvPr/>
        </p:nvSpPr>
        <p:spPr>
          <a:xfrm>
            <a:off x="7997952" y="3874269"/>
            <a:ext cx="3216148" cy="507828"/>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phase was never measured; only length was</a:t>
            </a:r>
          </a:p>
        </p:txBody>
      </p:sp>
      <p:sp>
        <p:nvSpPr>
          <p:cNvPr id="26" name="Rectangle 25"/>
          <p:cNvSpPr/>
          <p:nvPr/>
        </p:nvSpPr>
        <p:spPr>
          <a:xfrm>
            <a:off x="812800" y="4318597"/>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800" y="4382097"/>
            <a:ext cx="3004820" cy="71793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“steering fixes the problem”</a:t>
            </a:r>
          </a:p>
        </p:txBody>
      </p:sp>
      <p:sp>
        <p:nvSpPr>
          <p:cNvPr id="28" name="TextBox 27"/>
          <p:cNvSpPr txBox="1"/>
          <p:nvPr/>
        </p:nvSpPr>
        <p:spPr>
          <a:xfrm>
            <a:off x="3982720" y="4382097"/>
            <a:ext cx="3850132"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“steering restores preference; generated names follow only partly”</a:t>
            </a:r>
          </a:p>
        </p:txBody>
      </p:sp>
      <p:sp>
        <p:nvSpPr>
          <p:cNvPr id="29" name="TextBox 28"/>
          <p:cNvSpPr txBox="1"/>
          <p:nvPr/>
        </p:nvSpPr>
        <p:spPr>
          <a:xfrm>
            <a:off x="7997952" y="4382097"/>
            <a:ext cx="3216148"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well-formedness falls to 58% on one model</a:t>
            </a:r>
          </a:p>
        </p:txBody>
      </p:sp>
      <p:sp>
        <p:nvSpPr>
          <p:cNvPr id="30" name="Rectangle 29"/>
          <p:cNvSpPr/>
          <p:nvPr/>
        </p:nvSpPr>
        <p:spPr>
          <a:xfrm>
            <a:off x="812800" y="5036531"/>
            <a:ext cx="10566400" cy="762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800" y="5100031"/>
            <a:ext cx="3004820" cy="717934"/>
          </a:xfrm>
          <a:prstGeom prst="rect">
            <a:avLst/>
          </a:prstGeom>
          <a:noFill/>
        </p:spPr>
        <p:txBody>
          <a:bodyPr wrap="square" lIns="0" rIns="0" tIns="0" bIns="0" anchor="t">
            <a:spAutoFit/>
          </a:bodyPr>
          <a:lstStyle/>
          <a:p>
            <a:pPr algn="l">
              <a:lnSpc>
                <a:spcPct val="130000"/>
              </a:lnSpc>
            </a:pPr>
            <a:r>
              <a:rPr sz="1050" b="0">
                <a:solidFill>
                  <a:srgbClr val="FFFFFF"/>
                </a:solidFill>
                <a:latin typeface="Inter"/>
                <a:cs typeface="Inter"/>
                <a:ea typeface="Inter"/>
              </a:rPr>
              <a:t>“the model ignores the instruction”</a:t>
            </a:r>
          </a:p>
        </p:txBody>
      </p:sp>
      <p:sp>
        <p:nvSpPr>
          <p:cNvPr id="32" name="TextBox 31"/>
          <p:cNvSpPr txBox="1"/>
          <p:nvPr/>
        </p:nvSpPr>
        <p:spPr>
          <a:xfrm>
            <a:off x="3982720" y="5100031"/>
            <a:ext cx="3850132"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“per token the instruction is among the most attended spans”</a:t>
            </a:r>
          </a:p>
        </p:txBody>
      </p:sp>
      <p:sp>
        <p:nvSpPr>
          <p:cNvPr id="33" name="TextBox 32"/>
          <p:cNvSpPr txBox="1"/>
          <p:nvPr/>
        </p:nvSpPr>
        <p:spPr>
          <a:xfrm>
            <a:off x="7997952" y="5100031"/>
            <a:ext cx="3216148" cy="717934"/>
          </a:xfrm>
          <a:prstGeom prst="rect">
            <a:avLst/>
          </a:prstGeom>
          <a:noFill/>
        </p:spPr>
        <p:txBody>
          <a:bodyPr wrap="square" lIns="0" rIns="0" tIns="0" bIns="0" anchor="t">
            <a:spAutoFit/>
          </a:bodyPr>
          <a:lstStyle/>
          <a:p>
            <a:pPr algn="l">
              <a:lnSpc>
                <a:spcPct val="130000"/>
              </a:lnSpc>
            </a:pPr>
            <a:r>
              <a:rPr sz="1050" b="0">
                <a:solidFill>
                  <a:srgbClr val="B9B9B9"/>
                </a:solidFill>
                <a:latin typeface="Inter"/>
                <a:cs typeface="Inter"/>
                <a:ea typeface="Inter"/>
              </a:rPr>
              <a:t>the opposite of the measurement, under either estimand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Limitations, collected</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Gathered in one place rather than distributed where they are least visible.</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90</a:t>
            </a:r>
          </a:p>
        </p:txBody>
      </p:sp>
      <p:sp>
        <p:nvSpPr>
          <p:cNvPr id="8" name="Rounded Rectangle 7"/>
          <p:cNvSpPr/>
          <p:nvPr/>
        </p:nvSpPr>
        <p:spPr>
          <a:xfrm>
            <a:off x="635000" y="1752600"/>
            <a:ext cx="3539067"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COVERAGE</a:t>
            </a:r>
          </a:p>
        </p:txBody>
      </p:sp>
      <p:sp>
        <p:nvSpPr>
          <p:cNvPr id="10" name="TextBox 9"/>
          <p:cNvSpPr txBox="1"/>
          <p:nvPr/>
        </p:nvSpPr>
        <p:spPr>
          <a:xfrm>
            <a:off x="812800" y="2120900"/>
            <a:ext cx="3183467" cy="1231900"/>
          </a:xfrm>
          <a:prstGeom prst="rect">
            <a:avLst/>
          </a:prstGeom>
          <a:noFill/>
        </p:spPr>
        <p:txBody>
          <a:bodyPr wrap="square" lIns="0" rIns="0" tIns="0" bIns="0">
            <a:spAutoFit/>
          </a:bodyPr>
          <a:lstStyle/>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Language:</a:t>
            </a:r>
            <a:r>
              <a:rPr sz="1050" b="0">
                <a:solidFill>
                  <a:srgbClr val="B9B9B9"/>
                </a:solidFill>
                <a:latin typeface="Inter"/>
                <a:cs typeface="Inter"/>
                <a:ea typeface="Inter"/>
              </a:rPr>
              <a:t> Python only; zero JavaScript conditions were ever run</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Models:</a:t>
            </a:r>
            <a:r>
              <a:rPr sz="1050" b="0">
                <a:solidFill>
                  <a:srgbClr val="B9B9B9"/>
                </a:solidFill>
                <a:latin typeface="Inter"/>
                <a:cs typeface="Inter"/>
                <a:ea typeface="Inter"/>
              </a:rPr>
              <a:t> four, three of them code-specialised and all under 7B</a:t>
            </a:r>
          </a:p>
          <a:p>
            <a:pPr marL="416052" indent="-416052">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Context:</a:t>
            </a:r>
            <a:r>
              <a:rPr sz="1050" b="0">
                <a:solidFill>
                  <a:srgbClr val="B9B9B9"/>
                </a:solidFill>
                <a:latin typeface="Inter"/>
                <a:cs typeface="Inter"/>
                <a:ea typeface="Inter"/>
              </a:rPr>
              <a:t> synthetic, one name pool, one function shape</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Prompt:</a:t>
            </a:r>
            <a:r>
              <a:rPr sz="1050" b="0">
                <a:solidFill>
                  <a:srgbClr val="B9B9B9"/>
                </a:solidFill>
                <a:latin typeface="Inter"/>
                <a:cs typeface="Inter"/>
                <a:ea typeface="Inter"/>
              </a:rPr>
              <a:t> one phrasing — positive form, weak strength</a:t>
            </a:r>
          </a:p>
        </p:txBody>
      </p:sp>
      <p:sp>
        <p:nvSpPr>
          <p:cNvPr id="11" name="Rounded Rectangle 10"/>
          <p:cNvSpPr/>
          <p:nvPr/>
        </p:nvSpPr>
        <p:spPr>
          <a:xfrm>
            <a:off x="4326467" y="1752600"/>
            <a:ext cx="3539067"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04267"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MEASUREMENT</a:t>
            </a:r>
          </a:p>
        </p:txBody>
      </p:sp>
      <p:sp>
        <p:nvSpPr>
          <p:cNvPr id="13" name="TextBox 12"/>
          <p:cNvSpPr txBox="1"/>
          <p:nvPr/>
        </p:nvSpPr>
        <p:spPr>
          <a:xfrm>
            <a:off x="4504267" y="2120900"/>
            <a:ext cx="3183467" cy="977900"/>
          </a:xfrm>
          <a:prstGeom prst="rect">
            <a:avLst/>
          </a:prstGeom>
          <a:noFill/>
        </p:spPr>
        <p:txBody>
          <a:bodyPr wrap="square" lIns="0" rIns="0" tIns="0" bIns="0">
            <a:spAutoFit/>
          </a:bodyPr>
          <a:lstStyle/>
          <a:p>
            <a:pPr marL="505206" indent="-505206">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Preference:</a:t>
            </a:r>
            <a:r>
              <a:rPr sz="1019" b="0">
                <a:solidFill>
                  <a:srgbClr val="B9B9B9"/>
                </a:solidFill>
                <a:latin typeface="Inter"/>
                <a:cs typeface="Inter"/>
                <a:ea typeface="Inter"/>
              </a:rPr>
              <a:t> teacher-forced score, not behaviour, except in steps 1 and 6</a:t>
            </a:r>
          </a:p>
          <a:p>
            <a:pPr marL="336804" indent="-336804">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Heads:</a:t>
            </a:r>
            <a:r>
              <a:rPr sz="1019" b="0">
                <a:solidFill>
                  <a:srgbClr val="B9B9B9"/>
                </a:solidFill>
                <a:latin typeface="Inter"/>
                <a:cs typeface="Inter"/>
                <a:ea typeface="Inter"/>
              </a:rPr>
              <a:t> averaged; a single specialised head would be invisible</a:t>
            </a:r>
          </a:p>
          <a:p>
            <a:pPr marL="437845" indent="-437845">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Estimand:</a:t>
            </a:r>
            <a:r>
              <a:rPr sz="1019" b="0">
                <a:solidFill>
                  <a:srgbClr val="B9B9B9"/>
                </a:solidFill>
                <a:latin typeface="Inter"/>
                <a:cs typeface="Inter"/>
                <a:ea typeface="Inter"/>
              </a:rPr>
              <a:t> per token throughout; the span-sum reading disagrees in step 4</a:t>
            </a:r>
          </a:p>
          <a:p>
            <a:pPr marL="437845" indent="-437845">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Position:</a:t>
            </a:r>
            <a:r>
              <a:rPr sz="1019" b="0">
                <a:solidFill>
                  <a:srgbClr val="B9B9B9"/>
                </a:solidFill>
                <a:latin typeface="Inter"/>
                <a:cs typeface="Inter"/>
                <a:ea typeface="Inter"/>
              </a:rPr>
              <a:t> first function only; amplification across functions untested</a:t>
            </a:r>
          </a:p>
        </p:txBody>
      </p:sp>
      <p:sp>
        <p:nvSpPr>
          <p:cNvPr id="14" name="Rounded Rectangle 13"/>
          <p:cNvSpPr/>
          <p:nvPr/>
        </p:nvSpPr>
        <p:spPr>
          <a:xfrm>
            <a:off x="8017933" y="1752600"/>
            <a:ext cx="3539067"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95733" y="1930400"/>
            <a:ext cx="3183467"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INSTRUMENT</a:t>
            </a:r>
          </a:p>
        </p:txBody>
      </p:sp>
      <p:sp>
        <p:nvSpPr>
          <p:cNvPr id="16" name="TextBox 15"/>
          <p:cNvSpPr txBox="1"/>
          <p:nvPr/>
        </p:nvSpPr>
        <p:spPr>
          <a:xfrm>
            <a:off x="8195733" y="2120900"/>
            <a:ext cx="3183467" cy="1231900"/>
          </a:xfrm>
          <a:prstGeom prst="rect">
            <a:avLst/>
          </a:prstGeom>
          <a:noFill/>
        </p:spPr>
        <p:txBody>
          <a:bodyPr wrap="square" lIns="0" rIns="0" tIns="0" bIns="0">
            <a:spAutoFit/>
          </a:bodyPr>
          <a:lstStyle/>
          <a:p>
            <a:pPr marL="589407" indent="-589407">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Substitution:</a:t>
            </a:r>
            <a:r>
              <a:rPr sz="1050" b="0">
                <a:solidFill>
                  <a:srgbClr val="B9B9B9"/>
                </a:solidFill>
                <a:latin typeface="Inter"/>
                <a:cs typeface="Inter"/>
                <a:ea typeface="Inter"/>
              </a:rPr>
              <a:t> mean-pool destroys the original as it inserts the new</a:t>
            </a:r>
          </a:p>
          <a:p>
            <a:pPr marL="346710" indent="-346710">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Phase:</a:t>
            </a:r>
            <a:r>
              <a:rPr sz="1050" b="0">
                <a:solidFill>
                  <a:srgbClr val="B9B9B9"/>
                </a:solidFill>
                <a:latin typeface="Inter"/>
                <a:cs typeface="Inter"/>
                <a:ea typeface="Inter"/>
              </a:rPr>
              <a:t> measured only through a positional-offset proxy</a:t>
            </a:r>
          </a:p>
          <a:p>
            <a:pPr marL="450723" indent="-450723">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Steering:</a:t>
            </a:r>
            <a:r>
              <a:rPr sz="1050" b="0">
                <a:solidFill>
                  <a:srgbClr val="B9B9B9"/>
                </a:solidFill>
                <a:latin typeface="Inter"/>
                <a:cs typeface="Inter"/>
                <a:ea typeface="Inter"/>
              </a:rPr>
              <a:t> residual-stream, so not confined to the Value road</a:t>
            </a:r>
          </a:p>
          <a:p>
            <a:pPr marL="381381" indent="-381381">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Step 5:</a:t>
            </a:r>
            <a:r>
              <a:rPr sz="1050" b="0">
                <a:solidFill>
                  <a:srgbClr val="B9B9B9"/>
                </a:solidFill>
                <a:latin typeface="Inter"/>
                <a:cs typeface="Inter"/>
                <a:ea typeface="Inter"/>
              </a:rPr>
              <a:t> instruction causality has no layer-wise control yet</a:t>
            </a:r>
          </a:p>
        </p:txBody>
      </p:sp>
      <p:sp>
        <p:nvSpPr>
          <p:cNvPr id="17" name="Rounded Rectangle 16"/>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NONE OF THESE IS REPAIRED BY ARGUMENT</a:t>
            </a:r>
          </a:p>
        </p:txBody>
      </p:sp>
      <p:sp>
        <p:nvSpPr>
          <p:cNvPr id="19" name="TextBox 18"/>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Where a limit is not covered by a later step, it is carried into the paper as a stated limitation.</a:t>
            </a:r>
          </a:p>
        </p:txBody>
      </p:sp>
      <p:sp>
        <p:nvSpPr>
          <p:cNvPr id="20" name="TextBox 19"/>
          <p:cNvSpPr txBox="1"/>
          <p:nvPr/>
        </p:nvSpPr>
        <p:spPr>
          <a:xfrm>
            <a:off x="812800" y="5003800"/>
            <a:ext cx="10566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The list is longer than it would be if limits were only mentioned where they were discovered. That is deliberate: a reader deciding how far to trust the headline needs them in one place.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What is next — step 5's control sweep</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The one experiment this deck is missing, why its absence is a coverage gap rather than an error, and what it costs.</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91</a:t>
            </a:r>
          </a:p>
        </p:txBody>
      </p:sp>
      <p:sp>
        <p:nvSpPr>
          <p:cNvPr id="8" name="Rounded Rectangle 7"/>
          <p:cNvSpPr/>
          <p:nvPr/>
        </p:nvSpPr>
        <p:spPr>
          <a:xfrm>
            <a:off x="635000" y="1752600"/>
            <a:ext cx="10922000" cy="2540000"/>
          </a:xfrm>
          <a:prstGeom prst="roundRect">
            <a:avLst>
              <a:gd name="adj" fmla="val 300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STATE OF STEP 5</a:t>
            </a:r>
          </a:p>
        </p:txBody>
      </p:sp>
      <p:sp>
        <p:nvSpPr>
          <p:cNvPr id="10" name="TextBox 9"/>
          <p:cNvSpPr txBox="1"/>
          <p:nvPr/>
        </p:nvSpPr>
        <p:spPr>
          <a:xfrm>
            <a:off x="812800" y="3906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treatment swept every layer; the controls ran at one layer only, so no layer-wise net curve can be drawn.</a:t>
            </a:r>
          </a:p>
        </p:txBody>
      </p:sp>
      <p:pic>
        <p:nvPicPr>
          <p:cNvPr id="11" name="Picture 10" descr="z_next.png"/>
          <p:cNvPicPr>
            <a:picLocks noChangeAspect="1"/>
          </p:cNvPicPr>
          <p:nvPr/>
        </p:nvPicPr>
        <p:blipFill>
          <a:blip r:embed="rId2"/>
          <a:stretch>
            <a:fillRect/>
          </a:stretch>
        </p:blipFill>
        <p:spPr>
          <a:xfrm>
            <a:off x="812800" y="2120900"/>
            <a:ext cx="4501796" cy="1709515"/>
          </a:xfrm>
          <a:prstGeom prst="rect">
            <a:avLst/>
          </a:prstGeom>
        </p:spPr>
      </p:pic>
      <p:sp>
        <p:nvSpPr>
          <p:cNvPr id="12" name="Rounded Rectangle 11"/>
          <p:cNvSpPr/>
          <p:nvPr/>
        </p:nvSpPr>
        <p:spPr>
          <a:xfrm>
            <a:off x="635000" y="4445000"/>
            <a:ext cx="68580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6228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THE SWEEP WOULD ADD</a:t>
            </a:r>
          </a:p>
        </p:txBody>
      </p:sp>
      <p:sp>
        <p:nvSpPr>
          <p:cNvPr id="14" name="TextBox 13"/>
          <p:cNvSpPr txBox="1"/>
          <p:nvPr/>
        </p:nvSpPr>
        <p:spPr>
          <a:xfrm>
            <a:off x="812800" y="5868765"/>
            <a:ext cx="6502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A step-5 curve directly comparable to step 3's, and a check on the peak-layer assumption.</a:t>
            </a:r>
          </a:p>
        </p:txBody>
      </p:sp>
      <p:sp>
        <p:nvSpPr>
          <p:cNvPr id="15" name="TextBox 14"/>
          <p:cNvSpPr txBox="1"/>
          <p:nvPr/>
        </p:nvSpPr>
        <p:spPr>
          <a:xfrm>
            <a:off x="812800" y="4813300"/>
            <a:ext cx="6502400" cy="474475"/>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672 runs: four models, 42 blocks, two directions, two control donors, each sweeping every layer instead of one. Roughly two GPU hours.</a:t>
            </a:r>
          </a:p>
        </p:txBody>
      </p:sp>
      <p:sp>
        <p:nvSpPr>
          <p:cNvPr id="16" name="Rounded Rectangle 15"/>
          <p:cNvSpPr/>
          <p:nvPr/>
        </p:nvSpPr>
        <p:spPr>
          <a:xfrm>
            <a:off x="7645400" y="4445000"/>
            <a:ext cx="3911600" cy="1809750"/>
          </a:xfrm>
          <a:prstGeom prst="roundRect">
            <a:avLst>
              <a:gd name="adj" fmla="val 421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23200" y="46228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WHAT IT CANNOT CHANGE</a:t>
            </a:r>
          </a:p>
        </p:txBody>
      </p:sp>
      <p:sp>
        <p:nvSpPr>
          <p:cNvPr id="18" name="TextBox 17"/>
          <p:cNvSpPr txBox="1"/>
          <p:nvPr/>
        </p:nvSpPr>
        <p:spPr>
          <a:xfrm>
            <a:off x="7823200" y="5685980"/>
            <a:ext cx="3556000" cy="390969"/>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reported step-5 numbers do not depend on the missing layers.</a:t>
            </a:r>
          </a:p>
        </p:txBody>
      </p:sp>
      <p:sp>
        <p:nvSpPr>
          <p:cNvPr id="19" name="TextBox 18"/>
          <p:cNvSpPr txBox="1"/>
          <p:nvPr/>
        </p:nvSpPr>
        <p:spPr>
          <a:xfrm>
            <a:off x="7823200" y="4813300"/>
            <a:ext cx="3556000" cy="692662"/>
          </a:xfrm>
          <a:prstGeom prst="rect">
            <a:avLst/>
          </a:prstGeom>
          <a:noFill/>
        </p:spPr>
        <p:txBody>
          <a:bodyPr wrap="square" lIns="0" rIns="0" tIns="0" bIns="0" anchor="t">
            <a:spAutoFit/>
          </a:bodyPr>
          <a:lstStyle/>
          <a:p>
            <a:pPr algn="l">
              <a:lnSpc>
                <a:spcPct val="135000"/>
              </a:lnSpc>
            </a:pPr>
            <a:r>
              <a:rPr sz="1050" b="0">
                <a:solidFill>
                  <a:srgbClr val="B9B9B9"/>
                </a:solidFill>
                <a:latin typeface="Inter"/>
                <a:cs typeface="Inter"/>
                <a:ea typeface="Inter"/>
              </a:rPr>
              <a:t>If the net peak turns out to sit elsewhere, the effect size grows rather than shrinks — the direction and sign of the result are not at stake.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The through-line, once more</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From a symptom anyone can reproduce to a handle that can be tested — and to the one link still open.</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92</a:t>
            </a:r>
          </a:p>
        </p:txBody>
      </p:sp>
      <p:sp>
        <p:nvSpPr>
          <p:cNvPr id="8" name="Rounded Rectangle 7"/>
          <p:cNvSpPr/>
          <p:nvPr/>
        </p:nvSpPr>
        <p:spPr>
          <a:xfrm>
            <a:off x="635000" y="1752600"/>
            <a:ext cx="10922000" cy="2413000"/>
          </a:xfrm>
          <a:prstGeom prst="roundRect">
            <a:avLst>
              <a:gd name="adj" fmla="val 3157"/>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FIVE FINDINGS, EACH PREDICTING THE NEXT EXPERIMENT</a:t>
            </a:r>
          </a:p>
        </p:txBody>
      </p:sp>
      <p:sp>
        <p:nvSpPr>
          <p:cNvPr id="10" name="TextBox 9"/>
          <p:cNvSpPr txBox="1"/>
          <p:nvPr/>
        </p:nvSpPr>
        <p:spPr>
          <a:xfrm>
            <a:off x="812800" y="377961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The dashed link at the right is step 5: specified, half-run, and not claimed.</a:t>
            </a:r>
          </a:p>
        </p:txBody>
      </p:sp>
      <p:pic>
        <p:nvPicPr>
          <p:cNvPr id="11" name="Picture 10" descr="z_line.png"/>
          <p:cNvPicPr>
            <a:picLocks noChangeAspect="1"/>
          </p:cNvPicPr>
          <p:nvPr/>
        </p:nvPicPr>
        <p:blipFill>
          <a:blip r:embed="rId2"/>
          <a:stretch>
            <a:fillRect/>
          </a:stretch>
        </p:blipFill>
        <p:spPr>
          <a:xfrm>
            <a:off x="812800" y="2120900"/>
            <a:ext cx="8316522" cy="1582515"/>
          </a:xfrm>
          <a:prstGeom prst="rect">
            <a:avLst/>
          </a:prstGeom>
        </p:spPr>
      </p:pic>
      <p:sp>
        <p:nvSpPr>
          <p:cNvPr id="12" name="Rounded Rectangle 11"/>
          <p:cNvSpPr/>
          <p:nvPr/>
        </p:nvSpPr>
        <p:spPr>
          <a:xfrm>
            <a:off x="635000" y="4318000"/>
            <a:ext cx="10922000" cy="1936750"/>
          </a:xfrm>
          <a:prstGeom prst="roundRect">
            <a:avLst>
              <a:gd name="adj" fmla="val 3934"/>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2800" y="44958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THE STUDY IN FOUR NUMBERS</a:t>
            </a:r>
          </a:p>
        </p:txBody>
      </p:sp>
      <p:sp>
        <p:nvSpPr>
          <p:cNvPr id="14" name="TextBox 13"/>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Every one recomputed from the stored result files for this deck, not transcribed from notes.</a:t>
            </a:r>
          </a:p>
        </p:txBody>
      </p:sp>
      <p:sp>
        <p:nvSpPr>
          <p:cNvPr id="15" name="TextBox 14"/>
          <p:cNvSpPr txBox="1"/>
          <p:nvPr/>
        </p:nvSpPr>
        <p:spPr>
          <a:xfrm>
            <a:off x="812800" y="4686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7,212</a:t>
            </a:r>
          </a:p>
        </p:txBody>
      </p:sp>
      <p:sp>
        <p:nvSpPr>
          <p:cNvPr id="16" name="TextBox 15"/>
          <p:cNvSpPr txBox="1"/>
          <p:nvPr/>
        </p:nvSpPr>
        <p:spPr>
          <a:xfrm>
            <a:off x="812800" y="5149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CONDITIONS ANALYSED</a:t>
            </a:r>
          </a:p>
        </p:txBody>
      </p:sp>
      <p:sp>
        <p:nvSpPr>
          <p:cNvPr id="17" name="TextBox 16"/>
          <p:cNvSpPr txBox="1"/>
          <p:nvPr/>
        </p:nvSpPr>
        <p:spPr>
          <a:xfrm>
            <a:off x="3492500" y="4686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0.13–0.36</a:t>
            </a:r>
          </a:p>
        </p:txBody>
      </p:sp>
      <p:sp>
        <p:nvSpPr>
          <p:cNvPr id="18" name="TextBox 17"/>
          <p:cNvSpPr txBox="1"/>
          <p:nvPr/>
        </p:nvSpPr>
        <p:spPr>
          <a:xfrm>
            <a:off x="3492500" y="5149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VALUE NET EFFECT AT PEAK</a:t>
            </a:r>
          </a:p>
        </p:txBody>
      </p:sp>
      <p:sp>
        <p:nvSpPr>
          <p:cNvPr id="19" name="TextBox 18"/>
          <p:cNvSpPr txBox="1"/>
          <p:nvPr/>
        </p:nvSpPr>
        <p:spPr>
          <a:xfrm>
            <a:off x="6172200" y="4686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2–11%</a:t>
            </a:r>
          </a:p>
        </p:txBody>
      </p:sp>
      <p:sp>
        <p:nvSpPr>
          <p:cNvPr id="20" name="TextBox 19"/>
          <p:cNvSpPr txBox="1"/>
          <p:nvPr/>
        </p:nvSpPr>
        <p:spPr>
          <a:xfrm>
            <a:off x="6172200" y="5149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KEY EFFECT, AS A SHARE OF VALUE</a:t>
            </a:r>
          </a:p>
        </p:txBody>
      </p:sp>
      <p:sp>
        <p:nvSpPr>
          <p:cNvPr id="21" name="TextBox 20"/>
          <p:cNvSpPr txBox="1"/>
          <p:nvPr/>
        </p:nvSpPr>
        <p:spPr>
          <a:xfrm>
            <a:off x="8851900" y="4686300"/>
            <a:ext cx="2527300" cy="438150"/>
          </a:xfrm>
          <a:prstGeom prst="rect">
            <a:avLst/>
          </a:prstGeom>
          <a:noFill/>
        </p:spPr>
        <p:txBody>
          <a:bodyPr wrap="square" lIns="0" rIns="0" tIns="0" bIns="0" anchor="t">
            <a:spAutoFit/>
          </a:bodyPr>
          <a:lstStyle/>
          <a:p>
            <a:pPr algn="l"/>
            <a:r>
              <a:rPr sz="3000" b="0" spc="-100">
                <a:solidFill>
                  <a:srgbClr val="FFFFFF"/>
                </a:solidFill>
                <a:latin typeface="Inter"/>
                <a:cs typeface="Inter"/>
                <a:ea typeface="Inter"/>
              </a:rPr>
              <a:t>34–49%</a:t>
            </a:r>
          </a:p>
        </p:txBody>
      </p:sp>
      <p:sp>
        <p:nvSpPr>
          <p:cNvPr id="22" name="TextBox 21"/>
          <p:cNvSpPr txBox="1"/>
          <p:nvPr/>
        </p:nvSpPr>
        <p:spPr>
          <a:xfrm>
            <a:off x="8851900" y="5149850"/>
            <a:ext cx="2527300" cy="208186"/>
          </a:xfrm>
          <a:prstGeom prst="rect">
            <a:avLst/>
          </a:prstGeom>
          <a:noFill/>
        </p:spPr>
        <p:txBody>
          <a:bodyPr wrap="square" lIns="0" rIns="0" tIns="0" bIns="0" anchor="t">
            <a:spAutoFit/>
          </a:bodyPr>
          <a:lstStyle/>
          <a:p>
            <a:pPr algn="l">
              <a:lnSpc>
                <a:spcPct val="130000"/>
              </a:lnSpc>
            </a:pPr>
            <a:r>
              <a:rPr sz="850" b="1" spc="110">
                <a:solidFill>
                  <a:srgbClr val="797979"/>
                </a:solidFill>
                <a:latin typeface="Inter"/>
                <a:cs typeface="Inter"/>
                <a:ea typeface="Inter"/>
              </a:rPr>
              <a:t>OF THE RAW EFFECT WAS BUBBLE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35000" y="393700"/>
            <a:ext cx="10922000" cy="139700"/>
          </a:xfrm>
          <a:prstGeom prst="rect">
            <a:avLst/>
          </a:prstGeom>
          <a:noFill/>
        </p:spPr>
        <p:txBody>
          <a:bodyPr wrap="square" lIns="0" rIns="0" tIns="0" bIns="0" anchor="t">
            <a:spAutoFit/>
          </a:bodyPr>
          <a:lstStyle/>
          <a:p>
            <a:pPr algn="l"/>
            <a:r>
              <a:rPr sz="900" b="0" spc="140">
                <a:solidFill>
                  <a:srgbClr val="797979"/>
                </a:solidFill>
                <a:latin typeface="Inter"/>
                <a:cs typeface="Inter"/>
                <a:ea typeface="Inter"/>
              </a:rPr>
              <a:t>06 · SYNTHESIS</a:t>
            </a:r>
          </a:p>
        </p:txBody>
      </p:sp>
      <p:sp>
        <p:nvSpPr>
          <p:cNvPr id="3" name="TextBox 2"/>
          <p:cNvSpPr txBox="1"/>
          <p:nvPr/>
        </p:nvSpPr>
        <p:spPr>
          <a:xfrm>
            <a:off x="635000" y="609600"/>
            <a:ext cx="10922000" cy="444500"/>
          </a:xfrm>
          <a:prstGeom prst="rect">
            <a:avLst/>
          </a:prstGeom>
          <a:noFill/>
        </p:spPr>
        <p:txBody>
          <a:bodyPr wrap="square" lIns="0" rIns="0" tIns="0" bIns="0" anchor="t">
            <a:spAutoFit/>
          </a:bodyPr>
          <a:lstStyle/>
          <a:p>
            <a:pPr algn="l"/>
            <a:r>
              <a:rPr sz="2700" b="0" spc="-50">
                <a:solidFill>
                  <a:srgbClr val="FFFFFF"/>
                </a:solidFill>
                <a:latin typeface="Inter"/>
                <a:cs typeface="Inter"/>
                <a:ea typeface="Inter"/>
              </a:rPr>
              <a:t>Closing</a:t>
            </a:r>
          </a:p>
        </p:txBody>
      </p:sp>
      <p:sp>
        <p:nvSpPr>
          <p:cNvPr id="4" name="TextBox 3"/>
          <p:cNvSpPr txBox="1"/>
          <p:nvPr/>
        </p:nvSpPr>
        <p:spPr>
          <a:xfrm>
            <a:off x="635000" y="1143000"/>
            <a:ext cx="10922000" cy="254000"/>
          </a:xfrm>
          <a:prstGeom prst="rect">
            <a:avLst/>
          </a:prstGeom>
          <a:noFill/>
        </p:spPr>
        <p:txBody>
          <a:bodyPr wrap="square" lIns="0" rIns="0" tIns="0" bIns="0" anchor="t">
            <a:spAutoFit/>
          </a:bodyPr>
          <a:lstStyle/>
          <a:p>
            <a:pPr algn="l"/>
            <a:r>
              <a:rPr sz="1250" b="0" spc="-20">
                <a:solidFill>
                  <a:srgbClr val="B9B9B9"/>
                </a:solidFill>
                <a:latin typeface="Inter"/>
                <a:cs typeface="Inter"/>
                <a:ea typeface="Inter"/>
              </a:rPr>
              <a:t>What to take away, and what to be sceptical about.</a:t>
            </a:r>
          </a:p>
        </p:txBody>
      </p:sp>
      <p:sp>
        <p:nvSpPr>
          <p:cNvPr id="5" name="Rectangle 4"/>
          <p:cNvSpPr/>
          <p:nvPr/>
        </p:nvSpPr>
        <p:spPr>
          <a:xfrm>
            <a:off x="635000" y="1524000"/>
            <a:ext cx="10922000" cy="7620"/>
          </a:xfrm>
          <a:prstGeom prst="rect">
            <a:avLst/>
          </a:prstGeom>
          <a:solidFill>
            <a:srgbClr val="35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 y="6540500"/>
            <a:ext cx="6553200" cy="127000"/>
          </a:xfrm>
          <a:prstGeom prst="rect">
            <a:avLst/>
          </a:prstGeom>
          <a:noFill/>
        </p:spPr>
        <p:txBody>
          <a:bodyPr wrap="square" lIns="0" rIns="0" tIns="0" bIns="0" anchor="t">
            <a:spAutoFit/>
          </a:bodyPr>
          <a:lstStyle/>
          <a:p>
            <a:pPr algn="l"/>
            <a:r>
              <a:rPr sz="850" b="0" spc="100">
                <a:solidFill>
                  <a:srgbClr val="797979"/>
                </a:solidFill>
                <a:latin typeface="Inter"/>
                <a:cs typeface="Inter"/>
                <a:ea typeface="Inter"/>
              </a:rPr>
              <a:t>Naming-convention probing  ·  06 · Synthesis</a:t>
            </a:r>
          </a:p>
        </p:txBody>
      </p:sp>
      <p:sp>
        <p:nvSpPr>
          <p:cNvPr id="7" name="TextBox 6"/>
          <p:cNvSpPr txBox="1"/>
          <p:nvPr/>
        </p:nvSpPr>
        <p:spPr>
          <a:xfrm>
            <a:off x="7188200" y="6540500"/>
            <a:ext cx="4368800" cy="127000"/>
          </a:xfrm>
          <a:prstGeom prst="rect">
            <a:avLst/>
          </a:prstGeom>
          <a:noFill/>
        </p:spPr>
        <p:txBody>
          <a:bodyPr wrap="square" lIns="0" rIns="0" tIns="0" bIns="0" anchor="t">
            <a:spAutoFit/>
          </a:bodyPr>
          <a:lstStyle/>
          <a:p>
            <a:pPr algn="r"/>
            <a:r>
              <a:rPr sz="850" b="0" spc="100">
                <a:solidFill>
                  <a:srgbClr val="797979"/>
                </a:solidFill>
                <a:latin typeface="Inter"/>
                <a:cs typeface="Inter"/>
                <a:ea typeface="Inter"/>
              </a:rPr>
              <a:t>93</a:t>
            </a:r>
          </a:p>
        </p:txBody>
      </p:sp>
      <p:sp>
        <p:nvSpPr>
          <p:cNvPr id="8" name="Rounded Rectangle 7"/>
          <p:cNvSpPr/>
          <p:nvPr/>
        </p:nvSpPr>
        <p:spPr>
          <a:xfrm>
            <a:off x="635000" y="1752600"/>
            <a:ext cx="68580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1930400"/>
            <a:ext cx="6502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TAKE AWAY</a:t>
            </a:r>
          </a:p>
        </p:txBody>
      </p:sp>
      <p:sp>
        <p:nvSpPr>
          <p:cNvPr id="10" name="TextBox 9"/>
          <p:cNvSpPr txBox="1"/>
          <p:nvPr/>
        </p:nvSpPr>
        <p:spPr>
          <a:xfrm>
            <a:off x="812800" y="2120900"/>
            <a:ext cx="6502400" cy="1231900"/>
          </a:xfrm>
          <a:prstGeom prst="rect">
            <a:avLst/>
          </a:prstGeom>
          <a:noFill/>
        </p:spPr>
        <p:txBody>
          <a:bodyPr wrap="square" lIns="0" rIns="0" tIns="0" bIns="0">
            <a:spAutoFit/>
          </a:bodyPr>
          <a:lstStyle/>
          <a:p>
            <a:pPr marL="624078" indent="-624078">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The diagnosis:</a:t>
            </a:r>
            <a:r>
              <a:rPr sz="1050" b="0">
                <a:solidFill>
                  <a:srgbClr val="B9B9B9"/>
                </a:solidFill>
                <a:latin typeface="Inter"/>
                <a:cs typeface="Inter"/>
                <a:ea typeface="Inter"/>
              </a:rPr>
              <a:t> the failure is not inattention; the model looks at the violating names more, not less</a:t>
            </a:r>
          </a:p>
          <a:p>
            <a:pPr marL="485394" indent="-485394">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The locus:</a:t>
            </a:r>
            <a:r>
              <a:rPr sz="1050" b="0">
                <a:solidFill>
                  <a:srgbClr val="B9B9B9"/>
                </a:solidFill>
                <a:latin typeface="Inter"/>
                <a:cs typeface="Inter"/>
                <a:ea typeface="Inter"/>
              </a:rPr>
              <a:t> the notation signal acts through attended content at a narrow band of late-middle layers</a:t>
            </a:r>
          </a:p>
          <a:p>
            <a:pPr marL="520065" indent="-520065">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The handle:</a:t>
            </a:r>
            <a:r>
              <a:rPr sz="1050" b="0">
                <a:solidFill>
                  <a:srgbClr val="B9B9B9"/>
                </a:solidFill>
                <a:latin typeface="Inter"/>
                <a:cs typeface="Inter"/>
                <a:ea typeface="Inter"/>
              </a:rPr>
              <a:t> pushing content at that band restores preference where raising attention does not</a:t>
            </a:r>
          </a:p>
          <a:p>
            <a:pPr marL="658749" indent="-658749">
              <a:lnSpc>
                <a:spcPct val="134000"/>
              </a:lnSpc>
              <a:spcAft>
                <a:spcPts val="594"/>
              </a:spcAft>
            </a:pPr>
            <a:r>
              <a:rPr sz="1050" b="0">
                <a:solidFill>
                  <a:srgbClr val="797979"/>
                </a:solidFill>
                <a:latin typeface="Inter"/>
                <a:cs typeface="Inter"/>
                <a:ea typeface="Inter"/>
              </a:rPr>
              <a:t>—  </a:t>
            </a:r>
            <a:r>
              <a:rPr sz="1050" b="1">
                <a:solidFill>
                  <a:srgbClr val="FFFFFF"/>
                </a:solidFill>
                <a:latin typeface="Inter"/>
                <a:cs typeface="Inter"/>
                <a:ea typeface="Inter"/>
              </a:rPr>
              <a:t>The discipline:</a:t>
            </a:r>
            <a:r>
              <a:rPr sz="1050" b="0">
                <a:solidFill>
                  <a:srgbClr val="B9B9B9"/>
                </a:solidFill>
                <a:latin typeface="Inter"/>
                <a:cs typeface="Inter"/>
                <a:ea typeface="Inter"/>
              </a:rPr>
              <a:t> every effect is reported net of a control, because overwriting alone moves the score by a third to a half</a:t>
            </a:r>
          </a:p>
        </p:txBody>
      </p:sp>
      <p:sp>
        <p:nvSpPr>
          <p:cNvPr id="11" name="Rounded Rectangle 10"/>
          <p:cNvSpPr/>
          <p:nvPr/>
        </p:nvSpPr>
        <p:spPr>
          <a:xfrm>
            <a:off x="7645400" y="1752600"/>
            <a:ext cx="3911600" cy="2730500"/>
          </a:xfrm>
          <a:prstGeom prst="roundRect">
            <a:avLst>
              <a:gd name="adj" fmla="val 2790"/>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23200" y="1930400"/>
            <a:ext cx="35560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BE SCEPTICAL ABOUT</a:t>
            </a:r>
          </a:p>
        </p:txBody>
      </p:sp>
      <p:sp>
        <p:nvSpPr>
          <p:cNvPr id="13" name="TextBox 12"/>
          <p:cNvSpPr txBox="1"/>
          <p:nvPr/>
        </p:nvSpPr>
        <p:spPr>
          <a:xfrm>
            <a:off x="7823200" y="2120900"/>
            <a:ext cx="3556000" cy="977900"/>
          </a:xfrm>
          <a:prstGeom prst="rect">
            <a:avLst/>
          </a:prstGeom>
          <a:noFill/>
        </p:spPr>
        <p:txBody>
          <a:bodyPr wrap="square" lIns="0" rIns="0" tIns="0" bIns="0">
            <a:spAutoFit/>
          </a:bodyPr>
          <a:lstStyle/>
          <a:p>
            <a:pPr marL="505206" indent="-505206">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Generality:</a:t>
            </a:r>
            <a:r>
              <a:rPr sz="1019" b="0">
                <a:solidFill>
                  <a:srgbClr val="B9B9B9"/>
                </a:solidFill>
                <a:latin typeface="Inter"/>
                <a:cs typeface="Inter"/>
                <a:ea typeface="Inter"/>
              </a:rPr>
              <a:t> four models under 7B, Python, one synthetic context, one prompt phrasing</a:t>
            </a:r>
          </a:p>
          <a:p>
            <a:pPr marL="606247" indent="-606247">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Deployability:</a:t>
            </a:r>
            <a:r>
              <a:rPr sz="1019" b="0">
                <a:solidFill>
                  <a:srgbClr val="B9B9B9"/>
                </a:solidFill>
                <a:latin typeface="Inter"/>
                <a:cs typeface="Inter"/>
                <a:ea typeface="Inter"/>
              </a:rPr>
              <a:t> steering moves the score decisively and the generated names only partly</a:t>
            </a:r>
          </a:p>
          <a:p>
            <a:pPr marL="639927" indent="-639927">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The instrument:</a:t>
            </a:r>
            <a:r>
              <a:rPr sz="1019" b="0">
                <a:solidFill>
                  <a:srgbClr val="B9B9B9"/>
                </a:solidFill>
                <a:latin typeface="Inter"/>
                <a:cs typeface="Inter"/>
                <a:ea typeface="Inter"/>
              </a:rPr>
              <a:t> mean-pool substitution is not neutral; its asymmetry is measured by norm, not by phase</a:t>
            </a:r>
          </a:p>
          <a:p>
            <a:pPr marL="673608" indent="-673608">
              <a:lnSpc>
                <a:spcPct val="134000"/>
              </a:lnSpc>
              <a:spcAft>
                <a:spcPts val="143"/>
              </a:spcAft>
            </a:pPr>
            <a:r>
              <a:rPr sz="1019" b="0">
                <a:solidFill>
                  <a:srgbClr val="797979"/>
                </a:solidFill>
                <a:latin typeface="Inter"/>
                <a:cs typeface="Inter"/>
                <a:ea typeface="Inter"/>
              </a:rPr>
              <a:t>—  </a:t>
            </a:r>
            <a:r>
              <a:rPr sz="1019" b="1">
                <a:solidFill>
                  <a:srgbClr val="FFFFFF"/>
                </a:solidFill>
                <a:latin typeface="Inter"/>
                <a:cs typeface="Inter"/>
                <a:ea typeface="Inter"/>
              </a:rPr>
              <a:t>The instruction:</a:t>
            </a:r>
            <a:r>
              <a:rPr sz="1019" b="0">
                <a:solidFill>
                  <a:srgbClr val="B9B9B9"/>
                </a:solidFill>
                <a:latin typeface="Inter"/>
                <a:cs typeface="Inter"/>
                <a:ea typeface="Inter"/>
              </a:rPr>
              <a:t> everything about it here is observational; its causal test is not yet complete</a:t>
            </a:r>
          </a:p>
        </p:txBody>
      </p:sp>
      <p:sp>
        <p:nvSpPr>
          <p:cNvPr id="14" name="Rounded Rectangle 13"/>
          <p:cNvSpPr/>
          <p:nvPr/>
        </p:nvSpPr>
        <p:spPr>
          <a:xfrm>
            <a:off x="635000" y="4635500"/>
            <a:ext cx="10922000" cy="1619250"/>
          </a:xfrm>
          <a:prstGeom prst="roundRect">
            <a:avLst>
              <a:gd name="adj" fmla="val 4705"/>
            </a:avLst>
          </a:prstGeom>
          <a:solidFill>
            <a:srgbClr val="1C1C1C"/>
          </a:solidFill>
          <a:ln w="12700">
            <a:solidFill>
              <a:srgbClr val="3535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2800" y="4813300"/>
            <a:ext cx="10566400" cy="101600"/>
          </a:xfrm>
          <a:prstGeom prst="rect">
            <a:avLst/>
          </a:prstGeom>
          <a:noFill/>
        </p:spPr>
        <p:txBody>
          <a:bodyPr wrap="square" lIns="0" rIns="0" tIns="0" bIns="0" anchor="t">
            <a:spAutoFit/>
          </a:bodyPr>
          <a:lstStyle/>
          <a:p>
            <a:pPr algn="l"/>
            <a:r>
              <a:rPr sz="850" b="1" spc="110">
                <a:solidFill>
                  <a:srgbClr val="797979"/>
                </a:solidFill>
                <a:latin typeface="Inter"/>
                <a:cs typeface="Inter"/>
                <a:ea typeface="Inter"/>
              </a:rPr>
              <a:t>WHERE THE MATERIAL LIVES</a:t>
            </a:r>
          </a:p>
        </p:txBody>
      </p:sp>
      <p:sp>
        <p:nvSpPr>
          <p:cNvPr id="16" name="TextBox 15"/>
          <p:cNvSpPr txBox="1"/>
          <p:nvPr/>
        </p:nvSpPr>
        <p:spPr>
          <a:xfrm>
            <a:off x="812800" y="5868765"/>
            <a:ext cx="10566400" cy="208185"/>
          </a:xfrm>
          <a:prstGeom prst="rect">
            <a:avLst/>
          </a:prstGeom>
          <a:noFill/>
        </p:spPr>
        <p:txBody>
          <a:bodyPr wrap="square" lIns="0" rIns="0" tIns="0" bIns="0" anchor="b">
            <a:spAutoFit/>
          </a:bodyPr>
          <a:lstStyle/>
          <a:p>
            <a:pPr algn="l">
              <a:lnSpc>
                <a:spcPct val="125000"/>
              </a:lnSpc>
            </a:pPr>
            <a:r>
              <a:rPr sz="950" b="0">
                <a:solidFill>
                  <a:srgbClr val="797979"/>
                </a:solidFill>
                <a:latin typeface="Inter"/>
                <a:cs typeface="Inter"/>
                <a:ea typeface="Inter"/>
              </a:rPr>
              <a:t>Figures and aggregates in this deck are produced by scripts that read the stored result files; none was drawn or transcribed by hand.</a:t>
            </a:r>
          </a:p>
        </p:txBody>
      </p:sp>
      <p:sp>
        <p:nvSpPr>
          <p:cNvPr id="17" name="TextBox 16"/>
          <p:cNvSpPr txBox="1"/>
          <p:nvPr/>
        </p:nvSpPr>
        <p:spPr>
          <a:xfrm>
            <a:off x="812800" y="5003800"/>
            <a:ext cx="687189"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Plan</a:t>
            </a:r>
          </a:p>
        </p:txBody>
      </p:sp>
      <p:sp>
        <p:nvSpPr>
          <p:cNvPr id="18" name="TextBox 17"/>
          <p:cNvSpPr txBox="1"/>
          <p:nvPr/>
        </p:nvSpPr>
        <p:spPr>
          <a:xfrm>
            <a:off x="1499989" y="5003800"/>
            <a:ext cx="4469011"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docs/연구계획_통일재실험.md</a:t>
            </a:r>
          </a:p>
        </p:txBody>
      </p:sp>
      <p:sp>
        <p:nvSpPr>
          <p:cNvPr id="19" name="TextBox 18"/>
          <p:cNvSpPr txBox="1"/>
          <p:nvPr/>
        </p:nvSpPr>
        <p:spPr>
          <a:xfrm>
            <a:off x="812800" y="5232400"/>
            <a:ext cx="687189"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Per step</a:t>
            </a:r>
          </a:p>
        </p:txBody>
      </p:sp>
      <p:sp>
        <p:nvSpPr>
          <p:cNvPr id="20" name="TextBox 19"/>
          <p:cNvSpPr txBox="1"/>
          <p:nvPr/>
        </p:nvSpPr>
        <p:spPr>
          <a:xfrm>
            <a:off x="1499989" y="5232400"/>
            <a:ext cx="4469011"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docs/&lt;step&gt;/{방법론, code, results}.md</a:t>
            </a:r>
          </a:p>
        </p:txBody>
      </p:sp>
      <p:sp>
        <p:nvSpPr>
          <p:cNvPr id="21" name="TextBox 20"/>
          <p:cNvSpPr txBox="1"/>
          <p:nvPr/>
        </p:nvSpPr>
        <p:spPr>
          <a:xfrm>
            <a:off x="6096000" y="5003800"/>
            <a:ext cx="622995"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Results</a:t>
            </a:r>
          </a:p>
        </p:txBody>
      </p:sp>
      <p:sp>
        <p:nvSpPr>
          <p:cNvPr id="22" name="TextBox 21"/>
          <p:cNvSpPr txBox="1"/>
          <p:nvPr/>
        </p:nvSpPr>
        <p:spPr>
          <a:xfrm>
            <a:off x="6718995" y="5003800"/>
            <a:ext cx="4660205"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results/&lt;step&gt;/&lt;slug&gt;.json — immutable</a:t>
            </a:r>
          </a:p>
        </p:txBody>
      </p:sp>
      <p:sp>
        <p:nvSpPr>
          <p:cNvPr id="23" name="TextBox 22"/>
          <p:cNvSpPr txBox="1"/>
          <p:nvPr/>
        </p:nvSpPr>
        <p:spPr>
          <a:xfrm>
            <a:off x="6096000" y="5232400"/>
            <a:ext cx="622995" cy="228600"/>
          </a:xfrm>
          <a:prstGeom prst="rect">
            <a:avLst/>
          </a:prstGeom>
          <a:noFill/>
        </p:spPr>
        <p:txBody>
          <a:bodyPr wrap="square" lIns="0" rIns="0" tIns="0" bIns="0" anchor="t">
            <a:spAutoFit/>
          </a:bodyPr>
          <a:lstStyle/>
          <a:p>
            <a:pPr algn="l"/>
            <a:r>
              <a:rPr sz="1050" b="0">
                <a:solidFill>
                  <a:srgbClr val="FFFFFF"/>
                </a:solidFill>
                <a:latin typeface="Inter"/>
                <a:cs typeface="Inter"/>
                <a:ea typeface="Inter"/>
              </a:rPr>
              <a:t>Scripts</a:t>
            </a:r>
          </a:p>
        </p:txBody>
      </p:sp>
      <p:sp>
        <p:nvSpPr>
          <p:cNvPr id="24" name="TextBox 23"/>
          <p:cNvSpPr txBox="1"/>
          <p:nvPr/>
        </p:nvSpPr>
        <p:spPr>
          <a:xfrm>
            <a:off x="6718995" y="5232400"/>
            <a:ext cx="4660205" cy="228600"/>
          </a:xfrm>
          <a:prstGeom prst="rect">
            <a:avLst/>
          </a:prstGeom>
          <a:noFill/>
        </p:spPr>
        <p:txBody>
          <a:bodyPr wrap="square" lIns="0" rIns="0" tIns="0" bIns="0" anchor="t">
            <a:spAutoFit/>
          </a:bodyPr>
          <a:lstStyle/>
          <a:p>
            <a:pPr algn="l"/>
            <a:r>
              <a:rPr sz="1050" b="0">
                <a:solidFill>
                  <a:srgbClr val="B9B9B9"/>
                </a:solidFill>
                <a:latin typeface="Inter"/>
                <a:cs typeface="Inter"/>
                <a:ea typeface="Inter"/>
              </a:rPr>
              <a:t>scripts/ — every figure and every aggregate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